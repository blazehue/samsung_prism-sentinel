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we are team Heavenly Restriction — Rajat Pandey and Aryan Singh — on Theme 02, Guided Troubleshooting. We built SGTE, the Smart Guided Troubleshooting Engine. The code is on GitHub and the API and simulator are live on Render.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Try it at samsung-prism-sentinel.onrender.com.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Theme 2 asks for an API that takes a vague complaint plus a Samsung SIIS knowledge article and returns a structured, deeplinked troubleshooting plan. Steps must come from the article, links from a masked catalogue of 578 entries, and repeats must be answered in under 300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this is manual: an agent reads the article and texts steps, around fifteen minutes a scenario. Search bots return articles, not plans, and land on parent menus. A plain LLM is fluent but invents steps and links, and is slow and costly per query. Nothing gives grounded steps, exact deeplinks, safe order and speed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follows the guide's five stages. Stage zero enriches the query. Stage one parses the article into actions, one interaction per step, copied word for word. Stage two maps each step group to the exact catalogue entry and orders actions from least to most disruptive. Gemini only refines on cache misses — topic names, descriptions, a closed-set choice between catalogue candidates — with a five-second budget and a fallback. The cache answers repeats and paraphrases in about a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simulator on the live deployment. We pick a kit case; the plan shows the goal, the actions in order, and each step group's deeplink and validation. Repeat and Paraphrase show cache hits in about a millisecond. The phone walks through the fix, opens the Settings screen and verifies it. The benchmark runs every gate from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Python 3.12 and FastAPI, validated with Pydantic against the kit's own schema. Retrieval is BM25 plus hashed embeddings in pure Python, so cold starts are instant. Gemini 3.5 Flash-Lite refines plans, with 3.1 Flash-Lite as fallback. It ships as one Docker container on Render, with 78 offline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 scenario that takes an agent around fifteen minutes is answered in about a millisecond once cached, with a one-tap deeplink and a validation check. It fits self-service, agent assist and assistant flows, at zero model cost for repeat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Innovations: a paraphrase cache that is byte-identical to a fresh answer, Gemini constrained to a closed shortlist, and an exact-label catalogue index. Results: every gate passes on the live URL, step accuracy 2.91 of 3, deeplink relevance 2 of 2 across all 572 reachable entries, all 349 steps grounded, 100% paraphrase hits. Limitations are listed honestly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we'd build an engineer's view that shows why each decision was made, connect live SIIS articles and outcome telemetry, and add multilingual queries and an on-device model. It's a good fit for a PRISM worklet because it is deterministic, auditable and cheap to 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sets us apart: a phone simulator that opens deeplinks and verifies them, the guide's own worked example reproduced with a real catalogue link, a sweep of the whole catalogue, Gemini used with strict guardrails, and metrics generated from real runs.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code on GitHub, shared with the judges; README with setup and Docker; the demo video; and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6217920" cy="274320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Theme 02 · Guided Troubleshooting</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Heavenly Restriction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[College name]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 Rajat Pandey · [email]</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 Aryan Singh · [email]</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Github link - github.com/Blazehue/Samsung_PRISM-Sentinel</a:t>
            </a:r>
            <a:r>
              <a:rPr lang="en-US" sz="1600" dirty="0" err="1">
                <a:solidFill>
                  <a:srgbClr val="63637E"/>
                </a:solidFill>
                <a:latin typeface="Calibri" pitchFamily="34" charset="0"/>
                <a:ea typeface="Calibri" pitchFamily="34" charset="-122"/>
                <a:cs typeface="Calibri" pitchFamily="34" charset="-120"/>
              </a:rPr>
              <a:t/>
            </a: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Live API &amp; simulator - samsung-prism-sentinel.onrender.com</a:t>
            </a:r>
            <a:r>
              <a:rPr lang="en-US" sz="1600" dirty="0" err="1">
                <a:solidFill>
                  <a:srgbClr val="63637E"/>
                </a:solidFill>
                <a:latin typeface="Calibri" pitchFamily="34" charset="0"/>
                <a:ea typeface="Calibri" pitchFamily="34" charset="-122"/>
                <a:cs typeface="Calibri" pitchFamily="34" charset="-120"/>
              </a:rPr>
              <a:t/>
            </a:r>
            <a:r>
              <a:rPr lang="en-US" sz="1600" dirty="0">
                <a:solidFill>
                  <a:srgbClr val="63637E"/>
                </a:solidFill>
                <a:latin typeface="Calibri" pitchFamily="34" charset="0"/>
                <a:ea typeface="Calibri" pitchFamily="34" charset="-122"/>
                <a:cs typeface="Calibri" pitchFamily="34" charset="-120"/>
              </a:rPr>
              <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 02 · Guided Troubleshooting</a:t>
            </a:r>
          </a:p>
        </p:txBody>
      </p:sp>
      <p:sp>
        <p:nvSpPr>
          <p:cNvPr id="3" name="TextBox 2"/>
          <p:cNvSpPr txBox="1"/>
          <p:nvPr/>
        </p:nvSpPr>
        <p:spPr>
          <a:xfrm>
            <a:off x="841248" y="1572768"/>
            <a:ext cx="5760720" cy="1005840"/>
          </a:xfrm>
          <a:prstGeom prst="rect">
            <a:avLst/>
          </a:prstGeom>
          <a:noFill/>
        </p:spPr>
        <p:txBody>
          <a:bodyPr wrap="square" lIns="0" rIns="0" tIns="0" bIns="0" anchor="t">
            <a:spAutoFit/>
          </a:bodyPr>
          <a:lstStyle/>
          <a:p>
            <a:pPr algn="l"/>
            <a:r>
              <a:rPr sz="1800" b="0">
                <a:solidFill>
                  <a:srgbClr val="14142B"/>
                </a:solidFill>
                <a:latin typeface="Calibri"/>
              </a:rPr>
              <a:t>Galaxy users describe problems vaguely. Support has to turn that into the right steps, in the right order, with a one-tap link to the exact Settings screen.</a:t>
            </a:r>
          </a:p>
        </p:txBody>
      </p:sp>
      <p:sp>
        <p:nvSpPr>
          <p:cNvPr id="4" name="Rounded Rectangle 3"/>
          <p:cNvSpPr/>
          <p:nvPr/>
        </p:nvSpPr>
        <p:spPr>
          <a:xfrm>
            <a:off x="841248" y="2788920"/>
            <a:ext cx="5486400" cy="457200"/>
          </a:xfrm>
          <a:prstGeom prst="roundRect">
            <a:avLst>
              <a:gd name="adj" fmla="val 50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2788920"/>
            <a:ext cx="5120640" cy="457200"/>
          </a:xfrm>
          <a:prstGeom prst="rect">
            <a:avLst/>
          </a:prstGeom>
          <a:noFill/>
        </p:spPr>
        <p:txBody>
          <a:bodyPr wrap="square" lIns="0" rIns="0" tIns="0" bIns="0" anchor="ctr">
            <a:spAutoFit/>
          </a:bodyPr>
          <a:lstStyle/>
          <a:p>
            <a:pPr algn="l"/>
            <a:r>
              <a:rPr sz="1400" b="0">
                <a:solidFill>
                  <a:srgbClr val="63637E"/>
                </a:solidFill>
                <a:latin typeface="Calibri"/>
              </a:rPr>
              <a:t>“My S22 screen goes blank when I open Gmail”</a:t>
            </a:r>
          </a:p>
        </p:txBody>
      </p:sp>
      <p:sp>
        <p:nvSpPr>
          <p:cNvPr id="6" name="Rounded Rectangle 5"/>
          <p:cNvSpPr/>
          <p:nvPr/>
        </p:nvSpPr>
        <p:spPr>
          <a:xfrm>
            <a:off x="841248" y="3355848"/>
            <a:ext cx="5486400" cy="457200"/>
          </a:xfrm>
          <a:prstGeom prst="roundRect">
            <a:avLst>
              <a:gd name="adj" fmla="val 50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3355848"/>
            <a:ext cx="5120640" cy="457200"/>
          </a:xfrm>
          <a:prstGeom prst="rect">
            <a:avLst/>
          </a:prstGeom>
          <a:noFill/>
        </p:spPr>
        <p:txBody>
          <a:bodyPr wrap="square" lIns="0" rIns="0" tIns="0" bIns="0" anchor="ctr">
            <a:spAutoFit/>
          </a:bodyPr>
          <a:lstStyle/>
          <a:p>
            <a:pPr algn="l"/>
            <a:r>
              <a:rPr sz="1400" b="0">
                <a:solidFill>
                  <a:srgbClr val="63637E"/>
                </a:solidFill>
                <a:latin typeface="Calibri"/>
              </a:rPr>
              <a:t>“Swipe gestures go the wrong way after an app install”</a:t>
            </a:r>
          </a:p>
        </p:txBody>
      </p:sp>
      <p:sp>
        <p:nvSpPr>
          <p:cNvPr id="8" name="Rounded Rectangle 7"/>
          <p:cNvSpPr/>
          <p:nvPr/>
        </p:nvSpPr>
        <p:spPr>
          <a:xfrm>
            <a:off x="841248" y="3922776"/>
            <a:ext cx="5486400" cy="457200"/>
          </a:xfrm>
          <a:prstGeom prst="roundRect">
            <a:avLst>
              <a:gd name="adj" fmla="val 50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51560" y="3922776"/>
            <a:ext cx="5120640" cy="457200"/>
          </a:xfrm>
          <a:prstGeom prst="rect">
            <a:avLst/>
          </a:prstGeom>
          <a:noFill/>
        </p:spPr>
        <p:txBody>
          <a:bodyPr wrap="square" lIns="0" rIns="0" tIns="0" bIns="0" anchor="ctr">
            <a:spAutoFit/>
          </a:bodyPr>
          <a:lstStyle/>
          <a:p>
            <a:pPr algn="l"/>
            <a:r>
              <a:rPr sz="1400" b="0">
                <a:solidFill>
                  <a:srgbClr val="63637E"/>
                </a:solidFill>
                <a:latin typeface="Calibri"/>
              </a:rPr>
              <a:t>“My Flip 7 went black and I can’t move my data”</a:t>
            </a:r>
          </a:p>
        </p:txBody>
      </p:sp>
      <p:sp>
        <p:nvSpPr>
          <p:cNvPr id="10" name="TextBox 9"/>
          <p:cNvSpPr txBox="1"/>
          <p:nvPr/>
        </p:nvSpPr>
        <p:spPr>
          <a:xfrm>
            <a:off x="841248" y="4617720"/>
            <a:ext cx="5669280" cy="1280160"/>
          </a:xfrm>
          <a:prstGeom prst="rect">
            <a:avLst/>
          </a:prstGeom>
          <a:noFill/>
        </p:spPr>
        <p:txBody>
          <a:bodyPr wrap="square" lIns="0" rIns="0" tIns="0" bIns="0" anchor="t">
            <a:spAutoFit/>
          </a:bodyPr>
          <a:lstStyle/>
          <a:p>
            <a:pPr algn="l"/>
            <a:r>
              <a:rPr sz="4000" b="1">
                <a:solidFill>
                  <a:srgbClr val="6D28D9"/>
                </a:solidFill>
                <a:latin typeface="Arial"/>
              </a:rPr>
              <a:t>~15 min</a:t>
            </a:r>
          </a:p>
          <a:p>
            <a:pPr algn="l"/>
            <a:r>
              <a:rPr sz="1400" b="0">
                <a:solidFill>
                  <a:srgbClr val="63637E"/>
                </a:solidFill>
                <a:latin typeface="Calibri"/>
              </a:rPr>
              <a:t>of manual triage per scenario, across millions of interactions (Theme 2 guide)</a:t>
            </a:r>
          </a:p>
        </p:txBody>
      </p:sp>
      <p:sp>
        <p:nvSpPr>
          <p:cNvPr id="11" name="Rounded Rectangle 10"/>
          <p:cNvSpPr/>
          <p:nvPr/>
        </p:nvSpPr>
        <p:spPr>
          <a:xfrm>
            <a:off x="6903720" y="1572768"/>
            <a:ext cx="4480560" cy="46177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78040" y="1783080"/>
            <a:ext cx="4023360" cy="365760"/>
          </a:xfrm>
          <a:prstGeom prst="rect">
            <a:avLst/>
          </a:prstGeom>
          <a:noFill/>
        </p:spPr>
        <p:txBody>
          <a:bodyPr wrap="square" lIns="0" rIns="0" tIns="0" bIns="0" anchor="t">
            <a:spAutoFit/>
          </a:bodyPr>
          <a:lstStyle/>
          <a:p>
            <a:pPr algn="l"/>
            <a:r>
              <a:rPr sz="1800" b="1">
                <a:solidFill>
                  <a:srgbClr val="14142B"/>
                </a:solidFill>
                <a:latin typeface="Arial"/>
              </a:rPr>
              <a:t>What the API must return</a:t>
            </a:r>
          </a:p>
        </p:txBody>
      </p:sp>
      <p:sp>
        <p:nvSpPr>
          <p:cNvPr id="13" name="Oval 12"/>
          <p:cNvSpPr/>
          <p:nvPr/>
        </p:nvSpPr>
        <p:spPr>
          <a:xfrm>
            <a:off x="7178040" y="2359151"/>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359151"/>
            <a:ext cx="347472" cy="347472"/>
          </a:xfrm>
          <a:prstGeom prst="rect">
            <a:avLst/>
          </a:prstGeom>
          <a:noFill/>
        </p:spPr>
        <p:txBody>
          <a:bodyPr wrap="square" lIns="0" rIns="0" tIns="0" bIns="0" anchor="ctr">
            <a:spAutoFit/>
          </a:bodyPr>
          <a:lstStyle/>
          <a:p>
            <a:pPr algn="ctr"/>
            <a:r>
              <a:rPr sz="1200" b="1">
                <a:solidFill>
                  <a:srgbClr val="FFFFFF"/>
                </a:solidFill>
                <a:latin typeface="Arial"/>
              </a:rPr>
              <a:t>1</a:t>
            </a:r>
          </a:p>
        </p:txBody>
      </p:sp>
      <p:sp>
        <p:nvSpPr>
          <p:cNvPr id="15" name="TextBox 14"/>
          <p:cNvSpPr txBox="1"/>
          <p:nvPr/>
        </p:nvSpPr>
        <p:spPr>
          <a:xfrm>
            <a:off x="7680960" y="2331720"/>
            <a:ext cx="3520440" cy="566928"/>
          </a:xfrm>
          <a:prstGeom prst="rect">
            <a:avLst/>
          </a:prstGeom>
          <a:noFill/>
        </p:spPr>
        <p:txBody>
          <a:bodyPr wrap="square" lIns="0" rIns="0" tIns="0" bIns="0" anchor="t">
            <a:spAutoFit/>
          </a:bodyPr>
          <a:lstStyle/>
          <a:p>
            <a:pPr algn="l"/>
            <a:r>
              <a:rPr sz="1400" b="1">
                <a:solidFill>
                  <a:srgbClr val="14142B"/>
                </a:solidFill>
                <a:latin typeface="Calibri"/>
              </a:rPr>
              <a:t>Schema  </a:t>
            </a:r>
            <a:r>
              <a:rPr sz="1300" b="0">
                <a:solidFill>
                  <a:srgbClr val="63637E"/>
                </a:solidFill>
                <a:latin typeface="Calibri"/>
              </a:rPr>
              <a:t>Goal → Actions → Step groups (kit's pydantic contract)</a:t>
            </a:r>
          </a:p>
        </p:txBody>
      </p:sp>
      <p:sp>
        <p:nvSpPr>
          <p:cNvPr id="16" name="Oval 15"/>
          <p:cNvSpPr/>
          <p:nvPr/>
        </p:nvSpPr>
        <p:spPr>
          <a:xfrm>
            <a:off x="7178040" y="2980944"/>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78040" y="2980944"/>
            <a:ext cx="347472" cy="347472"/>
          </a:xfrm>
          <a:prstGeom prst="rect">
            <a:avLst/>
          </a:prstGeom>
          <a:noFill/>
        </p:spPr>
        <p:txBody>
          <a:bodyPr wrap="square" lIns="0" rIns="0" tIns="0" bIns="0" anchor="ctr">
            <a:spAutoFit/>
          </a:bodyPr>
          <a:lstStyle/>
          <a:p>
            <a:pPr algn="ctr"/>
            <a:r>
              <a:rPr sz="1200" b="1">
                <a:solidFill>
                  <a:srgbClr val="FFFFFF"/>
                </a:solidFill>
                <a:latin typeface="Arial"/>
              </a:rPr>
              <a:t>2</a:t>
            </a:r>
          </a:p>
        </p:txBody>
      </p:sp>
      <p:sp>
        <p:nvSpPr>
          <p:cNvPr id="18" name="TextBox 17"/>
          <p:cNvSpPr txBox="1"/>
          <p:nvPr/>
        </p:nvSpPr>
        <p:spPr>
          <a:xfrm>
            <a:off x="7680960" y="2953512"/>
            <a:ext cx="3520440" cy="566928"/>
          </a:xfrm>
          <a:prstGeom prst="rect">
            <a:avLst/>
          </a:prstGeom>
          <a:noFill/>
        </p:spPr>
        <p:txBody>
          <a:bodyPr wrap="square" lIns="0" rIns="0" tIns="0" bIns="0" anchor="t">
            <a:spAutoFit/>
          </a:bodyPr>
          <a:lstStyle/>
          <a:p>
            <a:pPr algn="l"/>
            <a:r>
              <a:rPr sz="1400" b="1">
                <a:solidFill>
                  <a:srgbClr val="14142B"/>
                </a:solidFill>
                <a:latin typeface="Calibri"/>
              </a:rPr>
              <a:t>Grounded  </a:t>
            </a:r>
            <a:r>
              <a:rPr sz="1300" b="0">
                <a:solidFill>
                  <a:srgbClr val="63637E"/>
                </a:solidFill>
                <a:latin typeface="Calibri"/>
              </a:rPr>
              <a:t>Every step taken from the SIIS article — never invented</a:t>
            </a:r>
          </a:p>
        </p:txBody>
      </p:sp>
      <p:sp>
        <p:nvSpPr>
          <p:cNvPr id="19" name="Oval 18"/>
          <p:cNvSpPr/>
          <p:nvPr/>
        </p:nvSpPr>
        <p:spPr>
          <a:xfrm>
            <a:off x="7178040" y="3602736"/>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78040" y="3602736"/>
            <a:ext cx="347472" cy="347472"/>
          </a:xfrm>
          <a:prstGeom prst="rect">
            <a:avLst/>
          </a:prstGeom>
          <a:noFill/>
        </p:spPr>
        <p:txBody>
          <a:bodyPr wrap="square" lIns="0" rIns="0" tIns="0" bIns="0" anchor="ctr">
            <a:spAutoFit/>
          </a:bodyPr>
          <a:lstStyle/>
          <a:p>
            <a:pPr algn="ctr"/>
            <a:r>
              <a:rPr sz="1200" b="1">
                <a:solidFill>
                  <a:srgbClr val="FFFFFF"/>
                </a:solidFill>
                <a:latin typeface="Arial"/>
              </a:rPr>
              <a:t>3</a:t>
            </a:r>
          </a:p>
        </p:txBody>
      </p:sp>
      <p:sp>
        <p:nvSpPr>
          <p:cNvPr id="21" name="TextBox 20"/>
          <p:cNvSpPr txBox="1"/>
          <p:nvPr/>
        </p:nvSpPr>
        <p:spPr>
          <a:xfrm>
            <a:off x="7680960" y="3575304"/>
            <a:ext cx="3520440" cy="566928"/>
          </a:xfrm>
          <a:prstGeom prst="rect">
            <a:avLst/>
          </a:prstGeom>
          <a:noFill/>
        </p:spPr>
        <p:txBody>
          <a:bodyPr wrap="square" lIns="0" rIns="0" tIns="0" bIns="0" anchor="t">
            <a:spAutoFit/>
          </a:bodyPr>
          <a:lstStyle/>
          <a:p>
            <a:pPr algn="l"/>
            <a:r>
              <a:rPr sz="1400" b="1">
                <a:solidFill>
                  <a:srgbClr val="14142B"/>
                </a:solidFill>
                <a:latin typeface="Calibri"/>
              </a:rPr>
              <a:t>One tap  </a:t>
            </a:r>
            <a:r>
              <a:rPr sz="1300" b="0">
                <a:solidFill>
                  <a:srgbClr val="63637E"/>
                </a:solidFill>
                <a:latin typeface="Calibri"/>
              </a:rPr>
              <a:t>Exact deeplinks from the 578-entry masked catalogue</a:t>
            </a:r>
          </a:p>
        </p:txBody>
      </p:sp>
      <p:sp>
        <p:nvSpPr>
          <p:cNvPr id="22" name="Oval 21"/>
          <p:cNvSpPr/>
          <p:nvPr/>
        </p:nvSpPr>
        <p:spPr>
          <a:xfrm>
            <a:off x="7178040" y="4224528"/>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4224528"/>
            <a:ext cx="347472" cy="347472"/>
          </a:xfrm>
          <a:prstGeom prst="rect">
            <a:avLst/>
          </a:prstGeom>
          <a:noFill/>
        </p:spPr>
        <p:txBody>
          <a:bodyPr wrap="square" lIns="0" rIns="0" tIns="0" bIns="0" anchor="ctr">
            <a:spAutoFit/>
          </a:bodyPr>
          <a:lstStyle/>
          <a:p>
            <a:pPr algn="ctr"/>
            <a:r>
              <a:rPr sz="1200" b="1">
                <a:solidFill>
                  <a:srgbClr val="FFFFFF"/>
                </a:solidFill>
                <a:latin typeface="Arial"/>
              </a:rPr>
              <a:t>4</a:t>
            </a:r>
          </a:p>
        </p:txBody>
      </p:sp>
      <p:sp>
        <p:nvSpPr>
          <p:cNvPr id="24" name="TextBox 23"/>
          <p:cNvSpPr txBox="1"/>
          <p:nvPr/>
        </p:nvSpPr>
        <p:spPr>
          <a:xfrm>
            <a:off x="7680960" y="4197096"/>
            <a:ext cx="3520440" cy="566928"/>
          </a:xfrm>
          <a:prstGeom prst="rect">
            <a:avLst/>
          </a:prstGeom>
          <a:noFill/>
        </p:spPr>
        <p:txBody>
          <a:bodyPr wrap="square" lIns="0" rIns="0" tIns="0" bIns="0" anchor="t">
            <a:spAutoFit/>
          </a:bodyPr>
          <a:lstStyle/>
          <a:p>
            <a:pPr algn="l"/>
            <a:r>
              <a:rPr sz="1400" b="1">
                <a:solidFill>
                  <a:srgbClr val="14142B"/>
                </a:solidFill>
                <a:latin typeface="Calibri"/>
              </a:rPr>
              <a:t>Safe order  </a:t>
            </a:r>
            <a:r>
              <a:rPr sz="1300" b="0">
                <a:solidFill>
                  <a:srgbClr val="63637E"/>
                </a:solidFill>
                <a:latin typeface="Calibri"/>
              </a:rPr>
              <a:t>Least disruptive first, critical actions last</a:t>
            </a:r>
          </a:p>
        </p:txBody>
      </p:sp>
      <p:sp>
        <p:nvSpPr>
          <p:cNvPr id="25" name="Oval 24"/>
          <p:cNvSpPr/>
          <p:nvPr/>
        </p:nvSpPr>
        <p:spPr>
          <a:xfrm>
            <a:off x="7178040" y="4846320"/>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4846320"/>
            <a:ext cx="347472" cy="347472"/>
          </a:xfrm>
          <a:prstGeom prst="rect">
            <a:avLst/>
          </a:prstGeom>
          <a:noFill/>
        </p:spPr>
        <p:txBody>
          <a:bodyPr wrap="square" lIns="0" rIns="0" tIns="0" bIns="0" anchor="ctr">
            <a:spAutoFit/>
          </a:bodyPr>
          <a:lstStyle/>
          <a:p>
            <a:pPr algn="ctr"/>
            <a:r>
              <a:rPr sz="1200" b="1">
                <a:solidFill>
                  <a:srgbClr val="FFFFFF"/>
                </a:solidFill>
                <a:latin typeface="Arial"/>
              </a:rPr>
              <a:t>5</a:t>
            </a:r>
          </a:p>
        </p:txBody>
      </p:sp>
      <p:sp>
        <p:nvSpPr>
          <p:cNvPr id="27" name="TextBox 26"/>
          <p:cNvSpPr txBox="1"/>
          <p:nvPr/>
        </p:nvSpPr>
        <p:spPr>
          <a:xfrm>
            <a:off x="7680960" y="4818888"/>
            <a:ext cx="3520440" cy="566928"/>
          </a:xfrm>
          <a:prstGeom prst="rect">
            <a:avLst/>
          </a:prstGeom>
          <a:noFill/>
        </p:spPr>
        <p:txBody>
          <a:bodyPr wrap="square" lIns="0" rIns="0" tIns="0" bIns="0" anchor="t">
            <a:spAutoFit/>
          </a:bodyPr>
          <a:lstStyle/>
          <a:p>
            <a:pPr algn="l"/>
            <a:r>
              <a:rPr sz="1400" b="1">
                <a:solidFill>
                  <a:srgbClr val="14142B"/>
                </a:solidFill>
                <a:latin typeface="Calibri"/>
              </a:rPr>
              <a:t>Fast  </a:t>
            </a:r>
            <a:r>
              <a:rPr sz="1300" b="0">
                <a:solidFill>
                  <a:srgbClr val="63637E"/>
                </a:solidFill>
                <a:latin typeface="Calibri"/>
              </a:rPr>
              <a:t>Repeats and paraphrases ≤ 300 ms; cold ≤ 8 s</a:t>
            </a:r>
          </a:p>
        </p:txBody>
      </p:sp>
      <p:sp>
        <p:nvSpPr>
          <p:cNvPr id="28" name="Oval 27"/>
          <p:cNvSpPr/>
          <p:nvPr/>
        </p:nvSpPr>
        <p:spPr>
          <a:xfrm>
            <a:off x="7178040" y="5468112"/>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78040" y="5468112"/>
            <a:ext cx="347472" cy="347472"/>
          </a:xfrm>
          <a:prstGeom prst="rect">
            <a:avLst/>
          </a:prstGeom>
          <a:noFill/>
        </p:spPr>
        <p:txBody>
          <a:bodyPr wrap="square" lIns="0" rIns="0" tIns="0" bIns="0" anchor="ctr">
            <a:spAutoFit/>
          </a:bodyPr>
          <a:lstStyle/>
          <a:p>
            <a:pPr algn="ctr"/>
            <a:r>
              <a:rPr sz="1200" b="1">
                <a:solidFill>
                  <a:srgbClr val="FFFFFF"/>
                </a:solidFill>
                <a:latin typeface="Arial"/>
              </a:rPr>
              <a:t>6</a:t>
            </a:r>
          </a:p>
        </p:txBody>
      </p:sp>
      <p:sp>
        <p:nvSpPr>
          <p:cNvPr id="30" name="TextBox 29"/>
          <p:cNvSpPr txBox="1"/>
          <p:nvPr/>
        </p:nvSpPr>
        <p:spPr>
          <a:xfrm>
            <a:off x="7680960" y="5440680"/>
            <a:ext cx="3520440" cy="566928"/>
          </a:xfrm>
          <a:prstGeom prst="rect">
            <a:avLst/>
          </a:prstGeom>
          <a:noFill/>
        </p:spPr>
        <p:txBody>
          <a:bodyPr wrap="square" lIns="0" rIns="0" tIns="0" bIns="0" anchor="t">
            <a:spAutoFit/>
          </a:bodyPr>
          <a:lstStyle/>
          <a:p>
            <a:pPr algn="l"/>
            <a:r>
              <a:rPr sz="1400" b="1">
                <a:solidFill>
                  <a:srgbClr val="14142B"/>
                </a:solidFill>
                <a:latin typeface="Calibri"/>
              </a:rPr>
              <a:t>Variations  </a:t>
            </a:r>
            <a:r>
              <a:rPr sz="1300" b="0">
                <a:solidFill>
                  <a:srgbClr val="63637E"/>
                </a:solidFill>
                <a:latin typeface="Calibri"/>
              </a:rPr>
              <a:t>8–10 paraphrases per query, varied registers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Rounded Rectangle 2"/>
          <p:cNvSpPr/>
          <p:nvPr/>
        </p:nvSpPr>
        <p:spPr>
          <a:xfrm>
            <a:off x="841248" y="1600200"/>
            <a:ext cx="3310128" cy="32461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15568" y="1810512"/>
            <a:ext cx="2788920" cy="411480"/>
          </a:xfrm>
          <a:prstGeom prst="rect">
            <a:avLst/>
          </a:prstGeom>
          <a:noFill/>
        </p:spPr>
        <p:txBody>
          <a:bodyPr wrap="square" lIns="0" rIns="0" tIns="0" bIns="0" anchor="t">
            <a:spAutoFit/>
          </a:bodyPr>
          <a:lstStyle/>
          <a:p>
            <a:pPr algn="l"/>
            <a:r>
              <a:rPr sz="1700" b="1">
                <a:solidFill>
                  <a:srgbClr val="14142B"/>
                </a:solidFill>
                <a:latin typeface="Arial"/>
              </a:rPr>
              <a:t>Manual agent triage</a:t>
            </a:r>
          </a:p>
        </p:txBody>
      </p:sp>
      <p:sp>
        <p:nvSpPr>
          <p:cNvPr id="5" name="TextBox 4"/>
          <p:cNvSpPr txBox="1"/>
          <p:nvPr/>
        </p:nvSpPr>
        <p:spPr>
          <a:xfrm>
            <a:off x="1115568" y="2286000"/>
            <a:ext cx="2788920" cy="685800"/>
          </a:xfrm>
          <a:prstGeom prst="rect">
            <a:avLst/>
          </a:prstGeom>
          <a:noFill/>
        </p:spPr>
        <p:txBody>
          <a:bodyPr wrap="square" lIns="0" rIns="0" tIns="0" bIns="0" anchor="t">
            <a:spAutoFit/>
          </a:bodyPr>
          <a:lstStyle/>
          <a:p>
            <a:pPr algn="l"/>
            <a:r>
              <a:rPr sz="1300" b="0">
                <a:solidFill>
                  <a:srgbClr val="63637E"/>
                </a:solidFill>
                <a:latin typeface="Calibri"/>
              </a:rPr>
              <a:t>An agent reads the article, picks steps and texts them to the user.</a:t>
            </a:r>
          </a:p>
        </p:txBody>
      </p:sp>
      <p:sp>
        <p:nvSpPr>
          <p:cNvPr id="6" name="Oval 5"/>
          <p:cNvSpPr/>
          <p:nvPr/>
        </p:nvSpPr>
        <p:spPr>
          <a:xfrm>
            <a:off x="1115568" y="308152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308152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8" name="TextBox 7"/>
          <p:cNvSpPr txBox="1"/>
          <p:nvPr/>
        </p:nvSpPr>
        <p:spPr>
          <a:xfrm>
            <a:off x="1527048" y="3063240"/>
            <a:ext cx="2423160" cy="502920"/>
          </a:xfrm>
          <a:prstGeom prst="rect">
            <a:avLst/>
          </a:prstGeom>
          <a:noFill/>
        </p:spPr>
        <p:txBody>
          <a:bodyPr wrap="square" lIns="0" rIns="0" tIns="0" bIns="0" anchor="t">
            <a:spAutoFit/>
          </a:bodyPr>
          <a:lstStyle/>
          <a:p>
            <a:pPr algn="l"/>
            <a:r>
              <a:rPr sz="1300" b="0">
                <a:solidFill>
                  <a:srgbClr val="14142B"/>
                </a:solidFill>
                <a:latin typeface="Calibri"/>
              </a:rPr>
              <a:t>~15 min per scenario</a:t>
            </a:r>
          </a:p>
        </p:txBody>
      </p:sp>
      <p:sp>
        <p:nvSpPr>
          <p:cNvPr id="9" name="Oval 8"/>
          <p:cNvSpPr/>
          <p:nvPr/>
        </p:nvSpPr>
        <p:spPr>
          <a:xfrm>
            <a:off x="1115568" y="363016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363016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11" name="TextBox 10"/>
          <p:cNvSpPr txBox="1"/>
          <p:nvPr/>
        </p:nvSpPr>
        <p:spPr>
          <a:xfrm>
            <a:off x="1527048" y="3611880"/>
            <a:ext cx="2423160" cy="502920"/>
          </a:xfrm>
          <a:prstGeom prst="rect">
            <a:avLst/>
          </a:prstGeom>
          <a:noFill/>
        </p:spPr>
        <p:txBody>
          <a:bodyPr wrap="square" lIns="0" rIns="0" tIns="0" bIns="0" anchor="t">
            <a:spAutoFit/>
          </a:bodyPr>
          <a:lstStyle/>
          <a:p>
            <a:pPr algn="l"/>
            <a:r>
              <a:rPr sz="1300" b="0">
                <a:solidFill>
                  <a:srgbClr val="14142B"/>
                </a:solidFill>
                <a:latin typeface="Calibri"/>
              </a:rPr>
              <a:t>User navigates nested Settings alone</a:t>
            </a:r>
          </a:p>
        </p:txBody>
      </p:sp>
      <p:sp>
        <p:nvSpPr>
          <p:cNvPr id="12" name="Oval 11"/>
          <p:cNvSpPr/>
          <p:nvPr/>
        </p:nvSpPr>
        <p:spPr>
          <a:xfrm>
            <a:off x="1115568" y="4178807"/>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178807"/>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14" name="TextBox 13"/>
          <p:cNvSpPr txBox="1"/>
          <p:nvPr/>
        </p:nvSpPr>
        <p:spPr>
          <a:xfrm>
            <a:off x="1527048" y="4160520"/>
            <a:ext cx="2423160" cy="502920"/>
          </a:xfrm>
          <a:prstGeom prst="rect">
            <a:avLst/>
          </a:prstGeom>
          <a:noFill/>
        </p:spPr>
        <p:txBody>
          <a:bodyPr wrap="square" lIns="0" rIns="0" tIns="0" bIns="0" anchor="t">
            <a:spAutoFit/>
          </a:bodyPr>
          <a:lstStyle/>
          <a:p>
            <a:pPr algn="l"/>
            <a:r>
              <a:rPr sz="1300" b="0">
                <a:solidFill>
                  <a:srgbClr val="14142B"/>
                </a:solidFill>
                <a:latin typeface="Calibri"/>
              </a:rPr>
              <a:t>Quality varies by agent</a:t>
            </a:r>
          </a:p>
        </p:txBody>
      </p:sp>
      <p:sp>
        <p:nvSpPr>
          <p:cNvPr id="15" name="Rounded Rectangle 14"/>
          <p:cNvSpPr/>
          <p:nvPr/>
        </p:nvSpPr>
        <p:spPr>
          <a:xfrm>
            <a:off x="4407408" y="1600200"/>
            <a:ext cx="3310128" cy="32461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81728" y="1810512"/>
            <a:ext cx="2788920" cy="411480"/>
          </a:xfrm>
          <a:prstGeom prst="rect">
            <a:avLst/>
          </a:prstGeom>
          <a:noFill/>
        </p:spPr>
        <p:txBody>
          <a:bodyPr wrap="square" lIns="0" rIns="0" tIns="0" bIns="0" anchor="t">
            <a:spAutoFit/>
          </a:bodyPr>
          <a:lstStyle/>
          <a:p>
            <a:pPr algn="l"/>
            <a:r>
              <a:rPr sz="1700" b="1">
                <a:solidFill>
                  <a:srgbClr val="14142B"/>
                </a:solidFill>
                <a:latin typeface="Arial"/>
              </a:rPr>
              <a:t>Search &amp; FAQ bots</a:t>
            </a:r>
          </a:p>
        </p:txBody>
      </p:sp>
      <p:sp>
        <p:nvSpPr>
          <p:cNvPr id="17" name="TextBox 16"/>
          <p:cNvSpPr txBox="1"/>
          <p:nvPr/>
        </p:nvSpPr>
        <p:spPr>
          <a:xfrm>
            <a:off x="4681728" y="2286000"/>
            <a:ext cx="2788920" cy="685800"/>
          </a:xfrm>
          <a:prstGeom prst="rect">
            <a:avLst/>
          </a:prstGeom>
          <a:noFill/>
        </p:spPr>
        <p:txBody>
          <a:bodyPr wrap="square" lIns="0" rIns="0" tIns="0" bIns="0" anchor="t">
            <a:spAutoFit/>
          </a:bodyPr>
          <a:lstStyle/>
          <a:p>
            <a:pPr algn="l"/>
            <a:r>
              <a:rPr sz="1300" b="0">
                <a:solidFill>
                  <a:srgbClr val="63637E"/>
                </a:solidFill>
                <a:latin typeface="Calibri"/>
              </a:rPr>
              <a:t>Return a whole article or the top snippets for the query.</a:t>
            </a:r>
          </a:p>
        </p:txBody>
      </p:sp>
      <p:sp>
        <p:nvSpPr>
          <p:cNvPr id="18" name="Oval 17"/>
          <p:cNvSpPr/>
          <p:nvPr/>
        </p:nvSpPr>
        <p:spPr>
          <a:xfrm>
            <a:off x="4681728" y="308152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1728" y="308152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20" name="TextBox 19"/>
          <p:cNvSpPr txBox="1"/>
          <p:nvPr/>
        </p:nvSpPr>
        <p:spPr>
          <a:xfrm>
            <a:off x="5093208" y="3063240"/>
            <a:ext cx="2423160" cy="502920"/>
          </a:xfrm>
          <a:prstGeom prst="rect">
            <a:avLst/>
          </a:prstGeom>
          <a:noFill/>
        </p:spPr>
        <p:txBody>
          <a:bodyPr wrap="square" lIns="0" rIns="0" tIns="0" bIns="0" anchor="t">
            <a:spAutoFit/>
          </a:bodyPr>
          <a:lstStyle/>
          <a:p>
            <a:pPr algn="l"/>
            <a:r>
              <a:rPr sz="1300" b="0">
                <a:solidFill>
                  <a:srgbClr val="14142B"/>
                </a:solidFill>
                <a:latin typeface="Calibri"/>
              </a:rPr>
              <a:t>Not a plan: no order, no categories</a:t>
            </a:r>
          </a:p>
        </p:txBody>
      </p:sp>
      <p:sp>
        <p:nvSpPr>
          <p:cNvPr id="21" name="Oval 20"/>
          <p:cNvSpPr/>
          <p:nvPr/>
        </p:nvSpPr>
        <p:spPr>
          <a:xfrm>
            <a:off x="4681728" y="363016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81728" y="363016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23" name="TextBox 22"/>
          <p:cNvSpPr txBox="1"/>
          <p:nvPr/>
        </p:nvSpPr>
        <p:spPr>
          <a:xfrm>
            <a:off x="5093208" y="3611880"/>
            <a:ext cx="2423160" cy="502920"/>
          </a:xfrm>
          <a:prstGeom prst="rect">
            <a:avLst/>
          </a:prstGeom>
          <a:noFill/>
        </p:spPr>
        <p:txBody>
          <a:bodyPr wrap="square" lIns="0" rIns="0" tIns="0" bIns="0" anchor="t">
            <a:spAutoFit/>
          </a:bodyPr>
          <a:lstStyle/>
          <a:p>
            <a:pPr algn="l"/>
            <a:r>
              <a:rPr sz="1300" b="0">
                <a:solidFill>
                  <a:srgbClr val="14142B"/>
                </a:solidFill>
                <a:latin typeface="Calibri"/>
              </a:rPr>
              <a:t>Lands on parent menus, not the exact screen</a:t>
            </a:r>
          </a:p>
        </p:txBody>
      </p:sp>
      <p:sp>
        <p:nvSpPr>
          <p:cNvPr id="24" name="Oval 23"/>
          <p:cNvSpPr/>
          <p:nvPr/>
        </p:nvSpPr>
        <p:spPr>
          <a:xfrm>
            <a:off x="4681728" y="4178807"/>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81728" y="4178807"/>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26" name="TextBox 25"/>
          <p:cNvSpPr txBox="1"/>
          <p:nvPr/>
        </p:nvSpPr>
        <p:spPr>
          <a:xfrm>
            <a:off x="5093208" y="4160520"/>
            <a:ext cx="2423160" cy="502920"/>
          </a:xfrm>
          <a:prstGeom prst="rect">
            <a:avLst/>
          </a:prstGeom>
          <a:noFill/>
        </p:spPr>
        <p:txBody>
          <a:bodyPr wrap="square" lIns="0" rIns="0" tIns="0" bIns="0" anchor="t">
            <a:spAutoFit/>
          </a:bodyPr>
          <a:lstStyle/>
          <a:p>
            <a:pPr algn="l"/>
            <a:r>
              <a:rPr sz="1300" b="0">
                <a:solidFill>
                  <a:srgbClr val="14142B"/>
                </a:solidFill>
                <a:latin typeface="Calibri"/>
              </a:rPr>
              <a:t>Nothing validates the fix</a:t>
            </a:r>
          </a:p>
        </p:txBody>
      </p:sp>
      <p:sp>
        <p:nvSpPr>
          <p:cNvPr id="27" name="Rounded Rectangle 26"/>
          <p:cNvSpPr/>
          <p:nvPr/>
        </p:nvSpPr>
        <p:spPr>
          <a:xfrm>
            <a:off x="7973568" y="1600200"/>
            <a:ext cx="3310128" cy="32461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7888" y="1810512"/>
            <a:ext cx="2788920" cy="411480"/>
          </a:xfrm>
          <a:prstGeom prst="rect">
            <a:avLst/>
          </a:prstGeom>
          <a:noFill/>
        </p:spPr>
        <p:txBody>
          <a:bodyPr wrap="square" lIns="0" rIns="0" tIns="0" bIns="0" anchor="t">
            <a:spAutoFit/>
          </a:bodyPr>
          <a:lstStyle/>
          <a:p>
            <a:pPr algn="l"/>
            <a:r>
              <a:rPr sz="1700" b="1">
                <a:solidFill>
                  <a:srgbClr val="14142B"/>
                </a:solidFill>
                <a:latin typeface="Arial"/>
              </a:rPr>
              <a:t>Plain LLM generation</a:t>
            </a:r>
          </a:p>
        </p:txBody>
      </p:sp>
      <p:sp>
        <p:nvSpPr>
          <p:cNvPr id="29" name="TextBox 28"/>
          <p:cNvSpPr txBox="1"/>
          <p:nvPr/>
        </p:nvSpPr>
        <p:spPr>
          <a:xfrm>
            <a:off x="8247888" y="2286000"/>
            <a:ext cx="2788920" cy="685800"/>
          </a:xfrm>
          <a:prstGeom prst="rect">
            <a:avLst/>
          </a:prstGeom>
          <a:noFill/>
        </p:spPr>
        <p:txBody>
          <a:bodyPr wrap="square" lIns="0" rIns="0" tIns="0" bIns="0" anchor="t">
            <a:spAutoFit/>
          </a:bodyPr>
          <a:lstStyle/>
          <a:p>
            <a:pPr algn="l"/>
            <a:r>
              <a:rPr sz="1300" b="0">
                <a:solidFill>
                  <a:srgbClr val="63637E"/>
                </a:solidFill>
                <a:latin typeface="Calibri"/>
              </a:rPr>
              <a:t>A chatbot writes troubleshooting steps from scratch.</a:t>
            </a:r>
          </a:p>
        </p:txBody>
      </p:sp>
      <p:sp>
        <p:nvSpPr>
          <p:cNvPr id="30" name="Oval 29"/>
          <p:cNvSpPr/>
          <p:nvPr/>
        </p:nvSpPr>
        <p:spPr>
          <a:xfrm>
            <a:off x="8247888" y="308152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7888" y="308152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32" name="TextBox 31"/>
          <p:cNvSpPr txBox="1"/>
          <p:nvPr/>
        </p:nvSpPr>
        <p:spPr>
          <a:xfrm>
            <a:off x="8659368" y="3063240"/>
            <a:ext cx="2423160" cy="502920"/>
          </a:xfrm>
          <a:prstGeom prst="rect">
            <a:avLst/>
          </a:prstGeom>
          <a:noFill/>
        </p:spPr>
        <p:txBody>
          <a:bodyPr wrap="square" lIns="0" rIns="0" tIns="0" bIns="0" anchor="t">
            <a:spAutoFit/>
          </a:bodyPr>
          <a:lstStyle/>
          <a:p>
            <a:pPr algn="l"/>
            <a:r>
              <a:rPr sz="1300" b="0">
                <a:solidFill>
                  <a:srgbClr val="14142B"/>
                </a:solidFill>
                <a:latin typeface="Calibri"/>
              </a:rPr>
              <a:t>Invents steps and URIs</a:t>
            </a:r>
          </a:p>
        </p:txBody>
      </p:sp>
      <p:sp>
        <p:nvSpPr>
          <p:cNvPr id="33" name="Oval 32"/>
          <p:cNvSpPr/>
          <p:nvPr/>
        </p:nvSpPr>
        <p:spPr>
          <a:xfrm>
            <a:off x="8247888" y="3630168"/>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7888" y="3630168"/>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35" name="TextBox 34"/>
          <p:cNvSpPr txBox="1"/>
          <p:nvPr/>
        </p:nvSpPr>
        <p:spPr>
          <a:xfrm>
            <a:off x="8659368" y="3611880"/>
            <a:ext cx="2423160" cy="502920"/>
          </a:xfrm>
          <a:prstGeom prst="rect">
            <a:avLst/>
          </a:prstGeom>
          <a:noFill/>
        </p:spPr>
        <p:txBody>
          <a:bodyPr wrap="square" lIns="0" rIns="0" tIns="0" bIns="0" anchor="t">
            <a:spAutoFit/>
          </a:bodyPr>
          <a:lstStyle/>
          <a:p>
            <a:pPr algn="l"/>
            <a:r>
              <a:rPr sz="1300" b="0">
                <a:solidFill>
                  <a:srgbClr val="14142B"/>
                </a:solidFill>
                <a:latin typeface="Calibri"/>
              </a:rPr>
              <a:t>Seconds of latency and a cost on every query</a:t>
            </a:r>
          </a:p>
        </p:txBody>
      </p:sp>
      <p:sp>
        <p:nvSpPr>
          <p:cNvPr id="36" name="Oval 35"/>
          <p:cNvSpPr/>
          <p:nvPr/>
        </p:nvSpPr>
        <p:spPr>
          <a:xfrm>
            <a:off x="8247888" y="4178807"/>
            <a:ext cx="292608" cy="292608"/>
          </a:xfrm>
          <a:prstGeom prst="ellipse">
            <a:avLst/>
          </a:prstGeom>
          <a:solidFill>
            <a:srgbClr val="B42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7888" y="4178807"/>
            <a:ext cx="292608" cy="292608"/>
          </a:xfrm>
          <a:prstGeom prst="rect">
            <a:avLst/>
          </a:prstGeom>
          <a:noFill/>
        </p:spPr>
        <p:txBody>
          <a:bodyPr wrap="square" lIns="0" rIns="0" tIns="0" bIns="0" anchor="ctr">
            <a:spAutoFit/>
          </a:bodyPr>
          <a:lstStyle/>
          <a:p>
            <a:pPr algn="ctr"/>
            <a:r>
              <a:rPr sz="1000" b="1">
                <a:solidFill>
                  <a:srgbClr val="FFFFFF"/>
                </a:solidFill>
                <a:latin typeface="Arial"/>
              </a:rPr>
              <a:t>✕</a:t>
            </a:r>
          </a:p>
        </p:txBody>
      </p:sp>
      <p:sp>
        <p:nvSpPr>
          <p:cNvPr id="38" name="TextBox 37"/>
          <p:cNvSpPr txBox="1"/>
          <p:nvPr/>
        </p:nvSpPr>
        <p:spPr>
          <a:xfrm>
            <a:off x="8659368" y="4160520"/>
            <a:ext cx="2423160" cy="502920"/>
          </a:xfrm>
          <a:prstGeom prst="rect">
            <a:avLst/>
          </a:prstGeom>
          <a:noFill/>
        </p:spPr>
        <p:txBody>
          <a:bodyPr wrap="square" lIns="0" rIns="0" tIns="0" bIns="0" anchor="t">
            <a:spAutoFit/>
          </a:bodyPr>
          <a:lstStyle/>
          <a:p>
            <a:pPr algn="l"/>
            <a:r>
              <a:rPr sz="1300" b="0">
                <a:solidFill>
                  <a:srgbClr val="14142B"/>
                </a:solidFill>
                <a:latin typeface="Calibri"/>
              </a:rPr>
              <a:t>Different answer each time</a:t>
            </a:r>
          </a:p>
        </p:txBody>
      </p:sp>
      <p:sp>
        <p:nvSpPr>
          <p:cNvPr id="39" name="Rounded Rectangle 38"/>
          <p:cNvSpPr/>
          <p:nvPr/>
        </p:nvSpPr>
        <p:spPr>
          <a:xfrm>
            <a:off x="841248" y="5074920"/>
            <a:ext cx="10442448" cy="1097280"/>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43000" y="5074920"/>
            <a:ext cx="9966960" cy="1097280"/>
          </a:xfrm>
          <a:prstGeom prst="rect">
            <a:avLst/>
          </a:prstGeom>
          <a:noFill/>
        </p:spPr>
        <p:txBody>
          <a:bodyPr wrap="square" lIns="0" rIns="0" tIns="0" bIns="0" anchor="ctr">
            <a:spAutoFit/>
          </a:bodyPr>
          <a:lstStyle/>
          <a:p>
            <a:pPr algn="l"/>
            <a:r>
              <a:rPr sz="1800" b="1">
                <a:solidFill>
                  <a:srgbClr val="6D28D9"/>
                </a:solidFill>
                <a:latin typeface="Arial"/>
              </a:rPr>
              <a:t>The gap  </a:t>
            </a:r>
            <a:r>
              <a:rPr sz="1600" b="0">
                <a:solidFill>
                  <a:srgbClr val="14142B"/>
                </a:solidFill>
                <a:latin typeface="Calibri"/>
              </a:rPr>
              <a:t>Nothing delivers all four at once: steps grounded in the article, exact deeplinks, safe ordering, and sub‑300 ms answers for repeat questions.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Our Solutions &amp; Architecture Diagram</a:t>
            </a:r>
          </a:p>
        </p:txBody>
      </p:sp>
      <p:sp>
        <p:nvSpPr>
          <p:cNvPr id="3" name="TextBox 2"/>
          <p:cNvSpPr txBox="1"/>
          <p:nvPr/>
        </p:nvSpPr>
        <p:spPr>
          <a:xfrm>
            <a:off x="841248" y="1463040"/>
            <a:ext cx="10515600" cy="411480"/>
          </a:xfrm>
          <a:prstGeom prst="rect">
            <a:avLst/>
          </a:prstGeom>
          <a:noFill/>
        </p:spPr>
        <p:txBody>
          <a:bodyPr wrap="square" lIns="0" rIns="0" tIns="0" bIns="0" anchor="t">
            <a:spAutoFit/>
          </a:bodyPr>
          <a:lstStyle/>
          <a:p>
            <a:pPr algn="l"/>
            <a:r>
              <a:rPr sz="1600" b="1">
                <a:solidFill>
                  <a:srgbClr val="6D28D9"/>
                </a:solidFill>
                <a:latin typeface="Calibri"/>
              </a:rPr>
              <a:t>Rules decide, Gemini refines. </a:t>
            </a:r>
            <a:r>
              <a:rPr sz="1600" b="0">
                <a:solidFill>
                  <a:srgbClr val="14142B"/>
                </a:solidFill>
                <a:latin typeface="Calibri"/>
              </a:rPr>
              <a:t>Every step is copied from the article; every link comes from the catalogue.</a:t>
            </a:r>
          </a:p>
        </p:txBody>
      </p:sp>
      <p:sp>
        <p:nvSpPr>
          <p:cNvPr id="4" name="Rounded Rectangle 3"/>
          <p:cNvSpPr/>
          <p:nvPr/>
        </p:nvSpPr>
        <p:spPr>
          <a:xfrm>
            <a:off x="841248" y="2148840"/>
            <a:ext cx="1847088" cy="1417320"/>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313432"/>
            <a:ext cx="384048" cy="384048"/>
          </a:xfrm>
          <a:prstGeom prst="ellipse">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13432"/>
            <a:ext cx="384048" cy="384048"/>
          </a:xfrm>
          <a:prstGeom prst="rect">
            <a:avLst/>
          </a:prstGeom>
          <a:noFill/>
        </p:spPr>
        <p:txBody>
          <a:bodyPr wrap="square" lIns="0" rIns="0" tIns="0" bIns="0" anchor="ctr">
            <a:spAutoFit/>
          </a:bodyPr>
          <a:lstStyle/>
          <a:p>
            <a:pPr algn="ctr"/>
            <a:r>
              <a:rPr sz="1100" b="1">
                <a:solidFill>
                  <a:srgbClr val="FFFFFF"/>
                </a:solidFill>
                <a:latin typeface="Arial"/>
              </a:rPr>
              <a:t>IN</a:t>
            </a:r>
          </a:p>
        </p:txBody>
      </p:sp>
      <p:sp>
        <p:nvSpPr>
          <p:cNvPr id="7" name="TextBox 6"/>
          <p:cNvSpPr txBox="1"/>
          <p:nvPr/>
        </p:nvSpPr>
        <p:spPr>
          <a:xfrm>
            <a:off x="1499616" y="2331720"/>
            <a:ext cx="1069848" cy="365760"/>
          </a:xfrm>
          <a:prstGeom prst="rect">
            <a:avLst/>
          </a:prstGeom>
          <a:noFill/>
        </p:spPr>
        <p:txBody>
          <a:bodyPr wrap="square" lIns="0" rIns="0" tIns="0" bIns="0" anchor="ctr">
            <a:spAutoFit/>
          </a:bodyPr>
          <a:lstStyle/>
          <a:p>
            <a:pPr algn="l"/>
            <a:r>
              <a:rPr sz="1400" b="1">
                <a:solidFill>
                  <a:srgbClr val="14142B"/>
                </a:solidFill>
                <a:latin typeface="Arial"/>
              </a:rPr>
              <a:t>Complaint + SIIS article</a:t>
            </a:r>
          </a:p>
        </p:txBody>
      </p:sp>
      <p:sp>
        <p:nvSpPr>
          <p:cNvPr id="8" name="TextBox 7"/>
          <p:cNvSpPr txBox="1"/>
          <p:nvPr/>
        </p:nvSpPr>
        <p:spPr>
          <a:xfrm>
            <a:off x="1005840" y="2862072"/>
            <a:ext cx="1572768" cy="640080"/>
          </a:xfrm>
          <a:prstGeom prst="rect">
            <a:avLst/>
          </a:prstGeom>
          <a:noFill/>
        </p:spPr>
        <p:txBody>
          <a:bodyPr wrap="square" lIns="0" rIns="0" tIns="0" bIns="0" anchor="t">
            <a:spAutoFit/>
          </a:bodyPr>
          <a:lstStyle/>
          <a:p>
            <a:pPr algn="l"/>
            <a:r>
              <a:rPr sz="1150" b="0">
                <a:solidFill>
                  <a:srgbClr val="63637E"/>
                </a:solidFill>
                <a:latin typeface="Calibri"/>
              </a:rPr>
              <a:t>query, siis_response</a:t>
            </a:r>
          </a:p>
        </p:txBody>
      </p:sp>
      <p:sp>
        <p:nvSpPr>
          <p:cNvPr id="9" name="Right Arrow 8"/>
          <p:cNvSpPr/>
          <p:nvPr/>
        </p:nvSpPr>
        <p:spPr>
          <a:xfrm>
            <a:off x="2706624" y="2734056"/>
            <a:ext cx="265176" cy="237744"/>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90088" y="2148840"/>
            <a:ext cx="1847088" cy="14173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54680" y="23134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2313432"/>
            <a:ext cx="384048" cy="384048"/>
          </a:xfrm>
          <a:prstGeom prst="rect">
            <a:avLst/>
          </a:prstGeom>
          <a:noFill/>
        </p:spPr>
        <p:txBody>
          <a:bodyPr wrap="square" lIns="0" rIns="0" tIns="0" bIns="0" anchor="ctr">
            <a:spAutoFit/>
          </a:bodyPr>
          <a:lstStyle/>
          <a:p>
            <a:pPr algn="ctr"/>
            <a:r>
              <a:rPr sz="1300" b="1">
                <a:solidFill>
                  <a:srgbClr val="FFFFFF"/>
                </a:solidFill>
                <a:latin typeface="Arial"/>
              </a:rPr>
              <a:t>0</a:t>
            </a:r>
          </a:p>
        </p:txBody>
      </p:sp>
      <p:sp>
        <p:nvSpPr>
          <p:cNvPr id="13" name="TextBox 12"/>
          <p:cNvSpPr txBox="1"/>
          <p:nvPr/>
        </p:nvSpPr>
        <p:spPr>
          <a:xfrm>
            <a:off x="3648456" y="2331720"/>
            <a:ext cx="1069848" cy="365760"/>
          </a:xfrm>
          <a:prstGeom prst="rect">
            <a:avLst/>
          </a:prstGeom>
          <a:noFill/>
        </p:spPr>
        <p:txBody>
          <a:bodyPr wrap="square" lIns="0" rIns="0" tIns="0" bIns="0" anchor="ctr">
            <a:spAutoFit/>
          </a:bodyPr>
          <a:lstStyle/>
          <a:p>
            <a:pPr algn="l"/>
            <a:r>
              <a:rPr sz="1400" b="1">
                <a:solidFill>
                  <a:srgbClr val="14142B"/>
                </a:solidFill>
                <a:latin typeface="Arial"/>
              </a:rPr>
              <a:t>Enrich</a:t>
            </a:r>
          </a:p>
        </p:txBody>
      </p:sp>
      <p:sp>
        <p:nvSpPr>
          <p:cNvPr id="14" name="TextBox 13"/>
          <p:cNvSpPr txBox="1"/>
          <p:nvPr/>
        </p:nvSpPr>
        <p:spPr>
          <a:xfrm>
            <a:off x="3154680" y="2862072"/>
            <a:ext cx="1572768" cy="640080"/>
          </a:xfrm>
          <a:prstGeom prst="rect">
            <a:avLst/>
          </a:prstGeom>
          <a:noFill/>
        </p:spPr>
        <p:txBody>
          <a:bodyPr wrap="square" lIns="0" rIns="0" tIns="0" bIns="0" anchor="t">
            <a:spAutoFit/>
          </a:bodyPr>
          <a:lstStyle/>
          <a:p>
            <a:pPr algn="l"/>
            <a:r>
              <a:rPr sz="1150" b="0">
                <a:solidFill>
                  <a:srgbClr val="63637E"/>
                </a:solidFill>
                <a:latin typeface="Calibri"/>
              </a:rPr>
              <a:t>device · symptom · fix vs how-to · cache key</a:t>
            </a:r>
          </a:p>
        </p:txBody>
      </p:sp>
      <p:sp>
        <p:nvSpPr>
          <p:cNvPr id="15" name="Right Arrow 14"/>
          <p:cNvSpPr/>
          <p:nvPr/>
        </p:nvSpPr>
        <p:spPr>
          <a:xfrm>
            <a:off x="4855464" y="2734056"/>
            <a:ext cx="265176" cy="237744"/>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38928" y="2148840"/>
            <a:ext cx="1847088" cy="14173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303520" y="23134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313432"/>
            <a:ext cx="384048" cy="384048"/>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9" name="TextBox 18"/>
          <p:cNvSpPr txBox="1"/>
          <p:nvPr/>
        </p:nvSpPr>
        <p:spPr>
          <a:xfrm>
            <a:off x="5797296" y="2331720"/>
            <a:ext cx="1069848" cy="365760"/>
          </a:xfrm>
          <a:prstGeom prst="rect">
            <a:avLst/>
          </a:prstGeom>
          <a:noFill/>
        </p:spPr>
        <p:txBody>
          <a:bodyPr wrap="square" lIns="0" rIns="0" tIns="0" bIns="0" anchor="ctr">
            <a:spAutoFit/>
          </a:bodyPr>
          <a:lstStyle/>
          <a:p>
            <a:pPr algn="l"/>
            <a:r>
              <a:rPr sz="1400" b="1">
                <a:solidFill>
                  <a:srgbClr val="14142B"/>
                </a:solidFill>
                <a:latin typeface="Arial"/>
              </a:rPr>
              <a:t>Structure</a:t>
            </a:r>
          </a:p>
        </p:txBody>
      </p:sp>
      <p:sp>
        <p:nvSpPr>
          <p:cNvPr id="20" name="TextBox 19"/>
          <p:cNvSpPr txBox="1"/>
          <p:nvPr/>
        </p:nvSpPr>
        <p:spPr>
          <a:xfrm>
            <a:off x="5303520" y="2862072"/>
            <a:ext cx="1572768" cy="640080"/>
          </a:xfrm>
          <a:prstGeom prst="rect">
            <a:avLst/>
          </a:prstGeom>
          <a:noFill/>
        </p:spPr>
        <p:txBody>
          <a:bodyPr wrap="square" lIns="0" rIns="0" tIns="0" bIns="0" anchor="t">
            <a:spAutoFit/>
          </a:bodyPr>
          <a:lstStyle/>
          <a:p>
            <a:pPr algn="l"/>
            <a:r>
              <a:rPr sz="1150" b="0">
                <a:solidFill>
                  <a:srgbClr val="63637E"/>
                </a:solidFill>
                <a:latin typeface="Calibri"/>
              </a:rPr>
              <a:t>sections → actions · 1 interaction per step</a:t>
            </a:r>
          </a:p>
        </p:txBody>
      </p:sp>
      <p:sp>
        <p:nvSpPr>
          <p:cNvPr id="21" name="Right Arrow 20"/>
          <p:cNvSpPr/>
          <p:nvPr/>
        </p:nvSpPr>
        <p:spPr>
          <a:xfrm>
            <a:off x="7004304" y="2734056"/>
            <a:ext cx="265176" cy="237744"/>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87768" y="2148840"/>
            <a:ext cx="1847088" cy="14173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452360" y="23134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2313432"/>
            <a:ext cx="384048" cy="384048"/>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5" name="TextBox 24"/>
          <p:cNvSpPr txBox="1"/>
          <p:nvPr/>
        </p:nvSpPr>
        <p:spPr>
          <a:xfrm>
            <a:off x="7946136" y="2331720"/>
            <a:ext cx="1069848" cy="365760"/>
          </a:xfrm>
          <a:prstGeom prst="rect">
            <a:avLst/>
          </a:prstGeom>
          <a:noFill/>
        </p:spPr>
        <p:txBody>
          <a:bodyPr wrap="square" lIns="0" rIns="0" tIns="0" bIns="0" anchor="ctr">
            <a:spAutoFit/>
          </a:bodyPr>
          <a:lstStyle/>
          <a:p>
            <a:pPr algn="l"/>
            <a:r>
              <a:rPr sz="1400" b="1">
                <a:solidFill>
                  <a:srgbClr val="14142B"/>
                </a:solidFill>
                <a:latin typeface="Arial"/>
              </a:rPr>
              <a:t>Deeplinks &amp; order</a:t>
            </a:r>
          </a:p>
        </p:txBody>
      </p:sp>
      <p:sp>
        <p:nvSpPr>
          <p:cNvPr id="26" name="TextBox 25"/>
          <p:cNvSpPr txBox="1"/>
          <p:nvPr/>
        </p:nvSpPr>
        <p:spPr>
          <a:xfrm>
            <a:off x="7452360" y="2862072"/>
            <a:ext cx="1572768" cy="640080"/>
          </a:xfrm>
          <a:prstGeom prst="rect">
            <a:avLst/>
          </a:prstGeom>
          <a:noFill/>
        </p:spPr>
        <p:txBody>
          <a:bodyPr wrap="square" lIns="0" rIns="0" tIns="0" bIns="0" anchor="t">
            <a:spAutoFit/>
          </a:bodyPr>
          <a:lstStyle/>
          <a:p>
            <a:pPr algn="l"/>
            <a:r>
              <a:rPr sz="1150" b="0">
                <a:solidFill>
                  <a:srgbClr val="63637E"/>
                </a:solidFill>
                <a:latin typeface="Calibri"/>
              </a:rPr>
              <a:t>exact label → 578 entries · auto → manual → critical</a:t>
            </a:r>
          </a:p>
        </p:txBody>
      </p:sp>
      <p:sp>
        <p:nvSpPr>
          <p:cNvPr id="27" name="Right Arrow 26"/>
          <p:cNvSpPr/>
          <p:nvPr/>
        </p:nvSpPr>
        <p:spPr>
          <a:xfrm>
            <a:off x="9153144" y="2734056"/>
            <a:ext cx="265176" cy="237744"/>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36608" y="2148840"/>
            <a:ext cx="1847088" cy="1417320"/>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601200" y="2313432"/>
            <a:ext cx="384048" cy="384048"/>
          </a:xfrm>
          <a:prstGeom prst="ellipse">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0" y="2313432"/>
            <a:ext cx="384048" cy="384048"/>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31" name="TextBox 30"/>
          <p:cNvSpPr txBox="1"/>
          <p:nvPr/>
        </p:nvSpPr>
        <p:spPr>
          <a:xfrm>
            <a:off x="10094976" y="2331720"/>
            <a:ext cx="1069848" cy="365760"/>
          </a:xfrm>
          <a:prstGeom prst="rect">
            <a:avLst/>
          </a:prstGeom>
          <a:noFill/>
        </p:spPr>
        <p:txBody>
          <a:bodyPr wrap="square" lIns="0" rIns="0" tIns="0" bIns="0" anchor="ctr">
            <a:spAutoFit/>
          </a:bodyPr>
          <a:lstStyle/>
          <a:p>
            <a:pPr algn="l"/>
            <a:r>
              <a:rPr sz="1400" b="1">
                <a:solidFill>
                  <a:srgbClr val="14142B"/>
                </a:solidFill>
                <a:latin typeface="Arial"/>
              </a:rPr>
              <a:t>REST API</a:t>
            </a:r>
          </a:p>
        </p:txBody>
      </p:sp>
      <p:sp>
        <p:nvSpPr>
          <p:cNvPr id="32" name="TextBox 31"/>
          <p:cNvSpPr txBox="1"/>
          <p:nvPr/>
        </p:nvSpPr>
        <p:spPr>
          <a:xfrm>
            <a:off x="9601200" y="2862072"/>
            <a:ext cx="1572768" cy="640080"/>
          </a:xfrm>
          <a:prstGeom prst="rect">
            <a:avLst/>
          </a:prstGeom>
          <a:noFill/>
        </p:spPr>
        <p:txBody>
          <a:bodyPr wrap="square" lIns="0" rIns="0" tIns="0" bIns="0" anchor="t">
            <a:spAutoFit/>
          </a:bodyPr>
          <a:lstStyle/>
          <a:p>
            <a:pPr algn="l"/>
            <a:r>
              <a:rPr sz="1150" b="0">
                <a:solidFill>
                  <a:srgbClr val="63637E"/>
                </a:solidFill>
                <a:latin typeface="Calibri"/>
              </a:rPr>
              <a:t>ContextDeeplinkResponse + meta</a:t>
            </a:r>
          </a:p>
        </p:txBody>
      </p:sp>
      <p:sp>
        <p:nvSpPr>
          <p:cNvPr id="33" name="Rounded Rectangle 32"/>
          <p:cNvSpPr/>
          <p:nvPr/>
        </p:nvSpPr>
        <p:spPr>
          <a:xfrm>
            <a:off x="5257800" y="3977639"/>
            <a:ext cx="3611880" cy="1234440"/>
          </a:xfrm>
          <a:prstGeom prst="roundRect">
            <a:avLst>
              <a:gd name="adj" fmla="val 8000"/>
            </a:avLst>
          </a:prstGeom>
          <a:solidFill>
            <a:srgbClr val="FFFFFF"/>
          </a:solidFill>
          <a:ln w="15875">
            <a:solidFill>
              <a:srgbClr val="6D28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40680" y="4069080"/>
            <a:ext cx="3291840" cy="365760"/>
          </a:xfrm>
          <a:prstGeom prst="rect">
            <a:avLst/>
          </a:prstGeom>
          <a:noFill/>
        </p:spPr>
        <p:txBody>
          <a:bodyPr wrap="square" lIns="0" rIns="0" tIns="0" bIns="0" anchor="t">
            <a:spAutoFit/>
          </a:bodyPr>
          <a:lstStyle/>
          <a:p>
            <a:pPr algn="l"/>
            <a:r>
              <a:rPr sz="1300" b="1">
                <a:solidFill>
                  <a:srgbClr val="6D28D9"/>
                </a:solidFill>
                <a:latin typeface="Arial"/>
              </a:rPr>
              <a:t>2b  </a:t>
            </a:r>
            <a:r>
              <a:rPr sz="1400" b="1">
                <a:solidFill>
                  <a:srgbClr val="14142B"/>
                </a:solidFill>
                <a:latin typeface="Arial"/>
              </a:rPr>
              <a:t>Gemini refinement</a:t>
            </a:r>
          </a:p>
        </p:txBody>
      </p:sp>
      <p:sp>
        <p:nvSpPr>
          <p:cNvPr id="35" name="TextBox 34"/>
          <p:cNvSpPr txBox="1"/>
          <p:nvPr/>
        </p:nvSpPr>
        <p:spPr>
          <a:xfrm>
            <a:off x="5440680" y="4434840"/>
            <a:ext cx="3291840" cy="731520"/>
          </a:xfrm>
          <a:prstGeom prst="rect">
            <a:avLst/>
          </a:prstGeom>
          <a:noFill/>
        </p:spPr>
        <p:txBody>
          <a:bodyPr wrap="square" lIns="0" rIns="0" tIns="0" bIns="0" anchor="t">
            <a:spAutoFit/>
          </a:bodyPr>
          <a:lstStyle/>
          <a:p>
            <a:pPr algn="l"/>
            <a:r>
              <a:rPr sz="1100" b="0">
                <a:solidFill>
                  <a:srgbClr val="63637E"/>
                </a:solidFill>
                <a:latin typeface="Calibri"/>
              </a:rPr>
              <a:t>Cache misses only · topic names · “It will…” descriptions · closed-set link pick · variations · 5 s budget, model fallback</a:t>
            </a:r>
          </a:p>
        </p:txBody>
      </p:sp>
      <p:sp>
        <p:nvSpPr>
          <p:cNvPr id="36" name="Up Arrow 35"/>
          <p:cNvSpPr/>
          <p:nvPr/>
        </p:nvSpPr>
        <p:spPr>
          <a:xfrm>
            <a:off x="8092440" y="3593592"/>
            <a:ext cx="237744" cy="365760"/>
          </a:xfrm>
          <a:prstGeom prst="up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41248" y="3977639"/>
            <a:ext cx="4206240" cy="123444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05840" y="4133087"/>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4133087"/>
            <a:ext cx="384048" cy="384048"/>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40" name="TextBox 39"/>
          <p:cNvSpPr txBox="1"/>
          <p:nvPr/>
        </p:nvSpPr>
        <p:spPr>
          <a:xfrm>
            <a:off x="1508760" y="4114800"/>
            <a:ext cx="3429000" cy="411480"/>
          </a:xfrm>
          <a:prstGeom prst="rect">
            <a:avLst/>
          </a:prstGeom>
          <a:noFill/>
        </p:spPr>
        <p:txBody>
          <a:bodyPr wrap="square" lIns="0" rIns="0" tIns="0" bIns="0" anchor="ctr">
            <a:spAutoFit/>
          </a:bodyPr>
          <a:lstStyle/>
          <a:p>
            <a:pPr algn="l"/>
            <a:r>
              <a:rPr sz="1400" b="1">
                <a:solidFill>
                  <a:srgbClr val="14142B"/>
                </a:solidFill>
                <a:latin typeface="Arial"/>
              </a:rPr>
              <a:t>Fast-path semantic cache</a:t>
            </a:r>
          </a:p>
        </p:txBody>
      </p:sp>
      <p:sp>
        <p:nvSpPr>
          <p:cNvPr id="41" name="TextBox 40"/>
          <p:cNvSpPr txBox="1"/>
          <p:nvPr/>
        </p:nvSpPr>
        <p:spPr>
          <a:xfrm>
            <a:off x="1005840" y="4590288"/>
            <a:ext cx="3931920" cy="594360"/>
          </a:xfrm>
          <a:prstGeom prst="rect">
            <a:avLst/>
          </a:prstGeom>
          <a:noFill/>
        </p:spPr>
        <p:txBody>
          <a:bodyPr wrap="square" lIns="0" rIns="0" tIns="0" bIns="0" anchor="t">
            <a:spAutoFit/>
          </a:bodyPr>
          <a:lstStyle/>
          <a:p>
            <a:pPr algn="l"/>
            <a:r>
              <a:rPr sz="1100" b="0">
                <a:solidFill>
                  <a:srgbClr val="63637E"/>
                </a:solidFill>
                <a:latin typeface="Calibri"/>
              </a:rPr>
              <a:t>Exact repeat ~0.1 ms · paraphrase reuses the article's plan (~1 ms, byte-identical) · no-article semantic lookup</a:t>
            </a:r>
          </a:p>
        </p:txBody>
      </p:sp>
      <p:sp>
        <p:nvSpPr>
          <p:cNvPr id="42" name="Rounded Rectangle 41"/>
          <p:cNvSpPr/>
          <p:nvPr/>
        </p:nvSpPr>
        <p:spPr>
          <a:xfrm>
            <a:off x="9098280" y="3977639"/>
            <a:ext cx="2194560" cy="566928"/>
          </a:xfrm>
          <a:prstGeom prst="roundRect">
            <a:avLst>
              <a:gd name="adj" fmla="val 25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262872" y="4023359"/>
            <a:ext cx="1920240" cy="502920"/>
          </a:xfrm>
          <a:prstGeom prst="rect">
            <a:avLst/>
          </a:prstGeom>
          <a:noFill/>
        </p:spPr>
        <p:txBody>
          <a:bodyPr wrap="square" lIns="0" rIns="0" tIns="0" bIns="0" anchor="t">
            <a:spAutoFit/>
          </a:bodyPr>
          <a:lstStyle/>
          <a:p>
            <a:pPr algn="l"/>
            <a:r>
              <a:rPr sz="1200" b="1">
                <a:solidFill>
                  <a:srgbClr val="14142B"/>
                </a:solidFill>
                <a:latin typeface="Calibri"/>
              </a:rPr>
              <a:t>deeplinks.json</a:t>
            </a:r>
          </a:p>
          <a:p>
            <a:pPr algn="l"/>
            <a:r>
              <a:rPr sz="1000" b="0">
                <a:solidFill>
                  <a:srgbClr val="63637E"/>
                </a:solidFill>
                <a:latin typeface="Calibri"/>
              </a:rPr>
              <a:t>578 masked entries, exact-label index</a:t>
            </a:r>
          </a:p>
        </p:txBody>
      </p:sp>
      <p:sp>
        <p:nvSpPr>
          <p:cNvPr id="44" name="Rounded Rectangle 43"/>
          <p:cNvSpPr/>
          <p:nvPr/>
        </p:nvSpPr>
        <p:spPr>
          <a:xfrm>
            <a:off x="9098280" y="4636007"/>
            <a:ext cx="2194560" cy="566928"/>
          </a:xfrm>
          <a:prstGeom prst="roundRect">
            <a:avLst>
              <a:gd name="adj" fmla="val 25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262872" y="4681727"/>
            <a:ext cx="1920240" cy="502920"/>
          </a:xfrm>
          <a:prstGeom prst="rect">
            <a:avLst/>
          </a:prstGeom>
          <a:noFill/>
        </p:spPr>
        <p:txBody>
          <a:bodyPr wrap="square" lIns="0" rIns="0" tIns="0" bIns="0" anchor="t">
            <a:spAutoFit/>
          </a:bodyPr>
          <a:lstStyle/>
          <a:p>
            <a:pPr algn="l"/>
            <a:r>
              <a:rPr sz="1200" b="1">
                <a:solidFill>
                  <a:srgbClr val="14142B"/>
                </a:solidFill>
                <a:latin typeface="Calibri"/>
              </a:rPr>
              <a:t>llm_cache.json</a:t>
            </a:r>
          </a:p>
          <a:p>
            <a:pPr algn="l"/>
            <a:r>
              <a:rPr sz="1000" b="0">
                <a:solidFill>
                  <a:srgbClr val="63637E"/>
                </a:solidFill>
                <a:latin typeface="Calibri"/>
              </a:rPr>
              <a:t>persistent Gemini results</a:t>
            </a:r>
          </a:p>
        </p:txBody>
      </p:sp>
      <p:sp>
        <p:nvSpPr>
          <p:cNvPr id="46" name="TextBox 45"/>
          <p:cNvSpPr txBox="1"/>
          <p:nvPr/>
        </p:nvSpPr>
        <p:spPr>
          <a:xfrm>
            <a:off x="841248" y="5440680"/>
            <a:ext cx="10515600" cy="822960"/>
          </a:xfrm>
          <a:prstGeom prst="rect">
            <a:avLst/>
          </a:prstGeom>
          <a:noFill/>
        </p:spPr>
        <p:txBody>
          <a:bodyPr wrap="square" lIns="0" rIns="0" tIns="0" bIns="0" anchor="t">
            <a:spAutoFit/>
          </a:bodyPr>
          <a:lstStyle/>
          <a:p>
            <a:pPr algn="l"/>
            <a:r>
              <a:rPr sz="1300" b="1">
                <a:solidFill>
                  <a:srgbClr val="6D28D9"/>
                </a:solidFill>
                <a:latin typeface="Calibri"/>
              </a:rPr>
              <a:t>Guardrails  </a:t>
            </a:r>
            <a:r>
              <a:rPr sz="1300" b="0">
                <a:solidFill>
                  <a:srgbClr val="14142B"/>
                </a:solidFill>
                <a:latin typeface="Calibri"/>
              </a:rPr>
              <a:t>validated against the kit's schema.py · zero URL leaks · manual actions never carry links · fallback "no_match" / "no_siis_context" instead of invented steps · meta: latency, cache hit, model, cost</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pic>
        <p:nvPicPr>
          <p:cNvPr id="3" name="Picture 2" descr="shot_sim.png"/>
          <p:cNvPicPr>
            <a:picLocks noChangeAspect="1"/>
          </p:cNvPicPr>
          <p:nvPr/>
        </p:nvPicPr>
        <p:blipFill>
          <a:blip r:embed="rId2"/>
          <a:stretch>
            <a:fillRect/>
          </a:stretch>
        </p:blipFill>
        <p:spPr>
          <a:xfrm>
            <a:off x="841248" y="1600200"/>
            <a:ext cx="6675120" cy="3584787"/>
          </a:xfrm>
          <a:prstGeom prst="rect">
            <a:avLst/>
          </a:prstGeom>
          <a:ln w="12700">
            <a:solidFill>
              <a:srgbClr val="D9D3F0"/>
            </a:solidFill>
          </a:ln>
        </p:spPr>
      </p:pic>
      <p:sp>
        <p:nvSpPr>
          <p:cNvPr id="4" name="Oval 3"/>
          <p:cNvSpPr/>
          <p:nvPr/>
        </p:nvSpPr>
        <p:spPr>
          <a:xfrm>
            <a:off x="7818120" y="164592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18120" y="1645920"/>
            <a:ext cx="384048" cy="384048"/>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6" name="TextBox 5"/>
          <p:cNvSpPr txBox="1"/>
          <p:nvPr/>
        </p:nvSpPr>
        <p:spPr>
          <a:xfrm>
            <a:off x="8321040" y="1627632"/>
            <a:ext cx="3017520" cy="731520"/>
          </a:xfrm>
          <a:prstGeom prst="rect">
            <a:avLst/>
          </a:prstGeom>
          <a:noFill/>
        </p:spPr>
        <p:txBody>
          <a:bodyPr wrap="square" lIns="0" rIns="0" tIns="0" bIns="0" anchor="t">
            <a:spAutoFit/>
          </a:bodyPr>
          <a:lstStyle/>
          <a:p>
            <a:pPr algn="l"/>
            <a:r>
              <a:rPr sz="1400" b="1">
                <a:solidFill>
                  <a:srgbClr val="14142B"/>
                </a:solidFill>
                <a:latin typeface="Arial"/>
              </a:rPr>
              <a:t>Pick a case</a:t>
            </a:r>
          </a:p>
          <a:p>
            <a:pPr algn="l"/>
            <a:r>
              <a:rPr sz="1200" b="0">
                <a:solidFill>
                  <a:srgbClr val="63637E"/>
                </a:solidFill>
                <a:latin typeface="Calibri"/>
              </a:rPr>
              <a:t>20 kit cases, 14 unseen formats, or paste your own</a:t>
            </a:r>
          </a:p>
        </p:txBody>
      </p:sp>
      <p:sp>
        <p:nvSpPr>
          <p:cNvPr id="7" name="Oval 6"/>
          <p:cNvSpPr/>
          <p:nvPr/>
        </p:nvSpPr>
        <p:spPr>
          <a:xfrm>
            <a:off x="7818120" y="241401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414016"/>
            <a:ext cx="384048" cy="384048"/>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9" name="TextBox 8"/>
          <p:cNvSpPr txBox="1"/>
          <p:nvPr/>
        </p:nvSpPr>
        <p:spPr>
          <a:xfrm>
            <a:off x="8321040" y="2395728"/>
            <a:ext cx="3017520" cy="731520"/>
          </a:xfrm>
          <a:prstGeom prst="rect">
            <a:avLst/>
          </a:prstGeom>
          <a:noFill/>
        </p:spPr>
        <p:txBody>
          <a:bodyPr wrap="square" lIns="0" rIns="0" tIns="0" bIns="0" anchor="t">
            <a:spAutoFit/>
          </a:bodyPr>
          <a:lstStyle/>
          <a:p>
            <a:pPr algn="l"/>
            <a:r>
              <a:rPr sz="1400" b="1">
                <a:solidFill>
                  <a:srgbClr val="14142B"/>
                </a:solidFill>
                <a:latin typeface="Arial"/>
              </a:rPr>
              <a:t>Read the plan</a:t>
            </a:r>
          </a:p>
          <a:p>
            <a:pPr algn="l"/>
            <a:r>
              <a:rPr sz="1200" b="0">
                <a:solidFill>
                  <a:srgbClr val="63637E"/>
                </a:solidFill>
                <a:latin typeface="Calibri"/>
              </a:rPr>
              <a:t>goal, ordered actions, deeplinks + validation, 9 rule checks</a:t>
            </a:r>
          </a:p>
        </p:txBody>
      </p:sp>
      <p:sp>
        <p:nvSpPr>
          <p:cNvPr id="10" name="Oval 9"/>
          <p:cNvSpPr/>
          <p:nvPr/>
        </p:nvSpPr>
        <p:spPr>
          <a:xfrm>
            <a:off x="7818120" y="318211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3182112"/>
            <a:ext cx="384048" cy="384048"/>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12" name="TextBox 11"/>
          <p:cNvSpPr txBox="1"/>
          <p:nvPr/>
        </p:nvSpPr>
        <p:spPr>
          <a:xfrm>
            <a:off x="8321040" y="3163824"/>
            <a:ext cx="3017520" cy="731520"/>
          </a:xfrm>
          <a:prstGeom prst="rect">
            <a:avLst/>
          </a:prstGeom>
          <a:noFill/>
        </p:spPr>
        <p:txBody>
          <a:bodyPr wrap="square" lIns="0" rIns="0" tIns="0" bIns="0" anchor="t">
            <a:spAutoFit/>
          </a:bodyPr>
          <a:lstStyle/>
          <a:p>
            <a:pPr algn="l"/>
            <a:r>
              <a:rPr sz="1400" b="1">
                <a:solidFill>
                  <a:srgbClr val="14142B"/>
                </a:solidFill>
                <a:latin typeface="Arial"/>
              </a:rPr>
              <a:t>Hit the cache</a:t>
            </a:r>
          </a:p>
          <a:p>
            <a:pPr algn="l"/>
            <a:r>
              <a:rPr sz="1200" b="0">
                <a:solidFill>
                  <a:srgbClr val="63637E"/>
                </a:solidFill>
                <a:latin typeface="Calibri"/>
              </a:rPr>
              <a:t>Repeat / Paraphrase → answered in ~1 ms</a:t>
            </a:r>
          </a:p>
        </p:txBody>
      </p:sp>
      <p:sp>
        <p:nvSpPr>
          <p:cNvPr id="13" name="Oval 12"/>
          <p:cNvSpPr/>
          <p:nvPr/>
        </p:nvSpPr>
        <p:spPr>
          <a:xfrm>
            <a:off x="7818120" y="3950207"/>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3950207"/>
            <a:ext cx="384048" cy="384048"/>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15" name="TextBox 14"/>
          <p:cNvSpPr txBox="1"/>
          <p:nvPr/>
        </p:nvSpPr>
        <p:spPr>
          <a:xfrm>
            <a:off x="8321040" y="3931920"/>
            <a:ext cx="3017520" cy="731520"/>
          </a:xfrm>
          <a:prstGeom prst="rect">
            <a:avLst/>
          </a:prstGeom>
          <a:noFill/>
        </p:spPr>
        <p:txBody>
          <a:bodyPr wrap="square" lIns="0" rIns="0" tIns="0" bIns="0" anchor="t">
            <a:spAutoFit/>
          </a:bodyPr>
          <a:lstStyle/>
          <a:p>
            <a:pPr algn="l"/>
            <a:r>
              <a:rPr sz="1400" b="1">
                <a:solidFill>
                  <a:srgbClr val="14142B"/>
                </a:solidFill>
                <a:latin typeface="Arial"/>
              </a:rPr>
              <a:t>Walk it on the phone</a:t>
            </a:r>
          </a:p>
          <a:p>
            <a:pPr algn="l"/>
            <a:r>
              <a:rPr sz="1200" b="0">
                <a:solidFill>
                  <a:srgbClr val="63637E"/>
                </a:solidFill>
                <a:latin typeface="Calibri"/>
              </a:rPr>
              <a:t>open the deeplink, verify, confirm critical steps</a:t>
            </a:r>
          </a:p>
        </p:txBody>
      </p:sp>
      <p:sp>
        <p:nvSpPr>
          <p:cNvPr id="16" name="Oval 15"/>
          <p:cNvSpPr/>
          <p:nvPr/>
        </p:nvSpPr>
        <p:spPr>
          <a:xfrm>
            <a:off x="7818120" y="4718303"/>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4718303"/>
            <a:ext cx="384048" cy="384048"/>
          </a:xfrm>
          <a:prstGeom prst="rect">
            <a:avLst/>
          </a:prstGeom>
          <a:noFill/>
        </p:spPr>
        <p:txBody>
          <a:bodyPr wrap="square" lIns="0" rIns="0" tIns="0" bIns="0" anchor="ctr">
            <a:spAutoFit/>
          </a:bodyPr>
          <a:lstStyle/>
          <a:p>
            <a:pPr algn="ctr"/>
            <a:r>
              <a:rPr sz="1300" b="1">
                <a:solidFill>
                  <a:srgbClr val="FFFFFF"/>
                </a:solidFill>
                <a:latin typeface="Arial"/>
              </a:rPr>
              <a:t>5</a:t>
            </a:r>
          </a:p>
        </p:txBody>
      </p:sp>
      <p:sp>
        <p:nvSpPr>
          <p:cNvPr id="18" name="TextBox 17"/>
          <p:cNvSpPr txBox="1"/>
          <p:nvPr/>
        </p:nvSpPr>
        <p:spPr>
          <a:xfrm>
            <a:off x="8321040" y="4700016"/>
            <a:ext cx="3017520" cy="731520"/>
          </a:xfrm>
          <a:prstGeom prst="rect">
            <a:avLst/>
          </a:prstGeom>
          <a:noFill/>
        </p:spPr>
        <p:txBody>
          <a:bodyPr wrap="square" lIns="0" rIns="0" tIns="0" bIns="0" anchor="t">
            <a:spAutoFit/>
          </a:bodyPr>
          <a:lstStyle/>
          <a:p>
            <a:pPr algn="l"/>
            <a:r>
              <a:rPr sz="1400" b="1">
                <a:solidFill>
                  <a:srgbClr val="14142B"/>
                </a:solidFill>
                <a:latin typeface="Arial"/>
              </a:rPr>
              <a:t>Run the benchmark</a:t>
            </a:r>
          </a:p>
          <a:p>
            <a:pPr algn="l"/>
            <a:r>
              <a:rPr sz="1200" b="0">
                <a:solidFill>
                  <a:srgbClr val="63637E"/>
                </a:solidFill>
                <a:latin typeface="Calibri"/>
              </a:rPr>
              <a:t>every gate against the live API, from the browser</a:t>
            </a:r>
          </a:p>
        </p:txBody>
      </p:sp>
      <p:sp>
        <p:nvSpPr>
          <p:cNvPr id="19" name="Rounded Rectangle 18"/>
          <p:cNvSpPr/>
          <p:nvPr/>
        </p:nvSpPr>
        <p:spPr>
          <a:xfrm>
            <a:off x="841248" y="5532120"/>
            <a:ext cx="10442448" cy="658368"/>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5532120"/>
            <a:ext cx="10058400" cy="658368"/>
          </a:xfrm>
          <a:prstGeom prst="rect">
            <a:avLst/>
          </a:prstGeom>
          <a:noFill/>
        </p:spPr>
        <p:txBody>
          <a:bodyPr wrap="square" lIns="0" rIns="0" tIns="0" bIns="0" anchor="ctr">
            <a:spAutoFit/>
          </a:bodyPr>
          <a:lstStyle/>
          <a:p>
            <a:pPr algn="l"/>
            <a:r>
              <a:rPr sz="1400" b="1">
                <a:solidFill>
                  <a:srgbClr val="6D28D9"/>
                </a:solidFill>
                <a:latin typeface="Calibri"/>
              </a:rPr>
              <a:t>Live  </a:t>
            </a:r>
            <a:r>
              <a:rPr sz="1400" b="1">
                <a:solidFill>
                  <a:srgbClr val="14142B"/>
                </a:solidFill>
                <a:latin typeface="Calibri"/>
              </a:rPr>
              <a:t>samsung-prism-sentinel.onrender.com     </a:t>
            </a:r>
            <a:r>
              <a:rPr sz="1400" b="1">
                <a:solidFill>
                  <a:srgbClr val="6D28D9"/>
                </a:solidFill>
                <a:latin typeface="Calibri"/>
              </a:rPr>
              <a:t>Video  </a:t>
            </a:r>
            <a:r>
              <a:rPr sz="1400" b="0">
                <a:solidFill>
                  <a:srgbClr val="14142B"/>
                </a:solidFill>
                <a:latin typeface="Calibri"/>
              </a:rPr>
              <a:t>[YouTube / Drive link, ≤ 5 min]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841248" y="169164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97280" y="1947672"/>
            <a:ext cx="566928" cy="5669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47672"/>
            <a:ext cx="566928" cy="566928"/>
          </a:xfrm>
          <a:prstGeom prst="rect">
            <a:avLst/>
          </a:prstGeom>
          <a:noFill/>
        </p:spPr>
        <p:txBody>
          <a:bodyPr wrap="square" lIns="0" rIns="0" tIns="0" bIns="0" anchor="ctr">
            <a:spAutoFit/>
          </a:bodyPr>
          <a:lstStyle/>
          <a:p>
            <a:pPr algn="ctr"/>
            <a:r>
              <a:rPr sz="1300" b="1">
                <a:solidFill>
                  <a:srgbClr val="FFFFFF"/>
                </a:solidFill>
                <a:latin typeface="Arial"/>
              </a:rPr>
              <a:t>Py</a:t>
            </a:r>
          </a:p>
        </p:txBody>
      </p:sp>
      <p:sp>
        <p:nvSpPr>
          <p:cNvPr id="6" name="TextBox 5"/>
          <p:cNvSpPr txBox="1"/>
          <p:nvPr/>
        </p:nvSpPr>
        <p:spPr>
          <a:xfrm>
            <a:off x="1097280" y="2624328"/>
            <a:ext cx="2011680" cy="365760"/>
          </a:xfrm>
          <a:prstGeom prst="rect">
            <a:avLst/>
          </a:prstGeom>
          <a:noFill/>
        </p:spPr>
        <p:txBody>
          <a:bodyPr wrap="square" lIns="0" rIns="0" tIns="0" bIns="0" anchor="t">
            <a:spAutoFit/>
          </a:bodyPr>
          <a:lstStyle/>
          <a:p>
            <a:pPr algn="l"/>
            <a:r>
              <a:rPr sz="1400" b="1">
                <a:solidFill>
                  <a:srgbClr val="14142B"/>
                </a:solidFill>
                <a:latin typeface="Arial"/>
              </a:rPr>
              <a:t>Python 3.12</a:t>
            </a:r>
          </a:p>
        </p:txBody>
      </p:sp>
      <p:sp>
        <p:nvSpPr>
          <p:cNvPr id="7" name="TextBox 6"/>
          <p:cNvSpPr txBox="1"/>
          <p:nvPr/>
        </p:nvSpPr>
        <p:spPr>
          <a:xfrm>
            <a:off x="1097280" y="2990088"/>
            <a:ext cx="2011680" cy="548640"/>
          </a:xfrm>
          <a:prstGeom prst="rect">
            <a:avLst/>
          </a:prstGeom>
          <a:noFill/>
        </p:spPr>
        <p:txBody>
          <a:bodyPr wrap="square" lIns="0" rIns="0" tIns="0" bIns="0" anchor="t">
            <a:spAutoFit/>
          </a:bodyPr>
          <a:lstStyle/>
          <a:p>
            <a:pPr algn="l"/>
            <a:r>
              <a:rPr sz="1150" b="0">
                <a:solidFill>
                  <a:srgbClr val="63637E"/>
                </a:solidFill>
                <a:latin typeface="Calibri"/>
              </a:rPr>
              <a:t>engine in pure Python — no model downloads</a:t>
            </a:r>
          </a:p>
        </p:txBody>
      </p:sp>
      <p:sp>
        <p:nvSpPr>
          <p:cNvPr id="8" name="Rounded Rectangle 7"/>
          <p:cNvSpPr/>
          <p:nvPr/>
        </p:nvSpPr>
        <p:spPr>
          <a:xfrm>
            <a:off x="3520440" y="169164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776472" y="1947672"/>
            <a:ext cx="566928" cy="566928"/>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6472" y="1947672"/>
            <a:ext cx="566928" cy="566928"/>
          </a:xfrm>
          <a:prstGeom prst="rect">
            <a:avLst/>
          </a:prstGeom>
          <a:noFill/>
        </p:spPr>
        <p:txBody>
          <a:bodyPr wrap="square" lIns="0" rIns="0" tIns="0" bIns="0" anchor="ctr">
            <a:spAutoFit/>
          </a:bodyPr>
          <a:lstStyle/>
          <a:p>
            <a:pPr algn="ctr"/>
            <a:r>
              <a:rPr sz="1100" b="1">
                <a:solidFill>
                  <a:srgbClr val="FFFFFF"/>
                </a:solidFill>
                <a:latin typeface="Arial"/>
              </a:rPr>
              <a:t>API</a:t>
            </a:r>
          </a:p>
        </p:txBody>
      </p:sp>
      <p:sp>
        <p:nvSpPr>
          <p:cNvPr id="11" name="TextBox 10"/>
          <p:cNvSpPr txBox="1"/>
          <p:nvPr/>
        </p:nvSpPr>
        <p:spPr>
          <a:xfrm>
            <a:off x="3776472" y="2624328"/>
            <a:ext cx="2011680" cy="365760"/>
          </a:xfrm>
          <a:prstGeom prst="rect">
            <a:avLst/>
          </a:prstGeom>
          <a:noFill/>
        </p:spPr>
        <p:txBody>
          <a:bodyPr wrap="square" lIns="0" rIns="0" tIns="0" bIns="0" anchor="t">
            <a:spAutoFit/>
          </a:bodyPr>
          <a:lstStyle/>
          <a:p>
            <a:pPr algn="l"/>
            <a:r>
              <a:rPr sz="1400" b="1">
                <a:solidFill>
                  <a:srgbClr val="14142B"/>
                </a:solidFill>
                <a:latin typeface="Arial"/>
              </a:rPr>
              <a:t>FastAPI + uvicorn</a:t>
            </a:r>
          </a:p>
        </p:txBody>
      </p:sp>
      <p:sp>
        <p:nvSpPr>
          <p:cNvPr id="12" name="TextBox 11"/>
          <p:cNvSpPr txBox="1"/>
          <p:nvPr/>
        </p:nvSpPr>
        <p:spPr>
          <a:xfrm>
            <a:off x="3776472" y="2990088"/>
            <a:ext cx="2011680" cy="548640"/>
          </a:xfrm>
          <a:prstGeom prst="rect">
            <a:avLst/>
          </a:prstGeom>
          <a:noFill/>
        </p:spPr>
        <p:txBody>
          <a:bodyPr wrap="square" lIns="0" rIns="0" tIns="0" bIns="0" anchor="t">
            <a:spAutoFit/>
          </a:bodyPr>
          <a:lstStyle/>
          <a:p>
            <a:pPr algn="l"/>
            <a:r>
              <a:rPr sz="1150" b="0">
                <a:solidFill>
                  <a:srgbClr val="63637E"/>
                </a:solidFill>
                <a:latin typeface="Calibri"/>
              </a:rPr>
              <a:t>REST API and the simulator site, one app</a:t>
            </a:r>
          </a:p>
        </p:txBody>
      </p:sp>
      <p:sp>
        <p:nvSpPr>
          <p:cNvPr id="13" name="Rounded Rectangle 12"/>
          <p:cNvSpPr/>
          <p:nvPr/>
        </p:nvSpPr>
        <p:spPr>
          <a:xfrm>
            <a:off x="6199632" y="169164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55664" y="1947672"/>
            <a:ext cx="566928" cy="566928"/>
          </a:xfrm>
          <a:prstGeom prst="ellipse">
            <a:avLst/>
          </a:prstGeom>
          <a:solidFill>
            <a:srgbClr val="4E9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1947672"/>
            <a:ext cx="566928" cy="566928"/>
          </a:xfrm>
          <a:prstGeom prst="rect">
            <a:avLst/>
          </a:prstGeom>
          <a:noFill/>
        </p:spPr>
        <p:txBody>
          <a:bodyPr wrap="square" lIns="0" rIns="0" tIns="0" bIns="0" anchor="ctr">
            <a:spAutoFit/>
          </a:bodyPr>
          <a:lstStyle/>
          <a:p>
            <a:pPr algn="ctr"/>
            <a:r>
              <a:rPr sz="1100" b="1">
                <a:solidFill>
                  <a:srgbClr val="FFFFFF"/>
                </a:solidFill>
                <a:latin typeface="Arial"/>
              </a:rPr>
              <a:t>{ }</a:t>
            </a:r>
          </a:p>
        </p:txBody>
      </p:sp>
      <p:sp>
        <p:nvSpPr>
          <p:cNvPr id="16" name="TextBox 15"/>
          <p:cNvSpPr txBox="1"/>
          <p:nvPr/>
        </p:nvSpPr>
        <p:spPr>
          <a:xfrm>
            <a:off x="6455664" y="2624328"/>
            <a:ext cx="2011680" cy="365760"/>
          </a:xfrm>
          <a:prstGeom prst="rect">
            <a:avLst/>
          </a:prstGeom>
          <a:noFill/>
        </p:spPr>
        <p:txBody>
          <a:bodyPr wrap="square" lIns="0" rIns="0" tIns="0" bIns="0" anchor="t">
            <a:spAutoFit/>
          </a:bodyPr>
          <a:lstStyle/>
          <a:p>
            <a:pPr algn="l"/>
            <a:r>
              <a:rPr sz="1400" b="1">
                <a:solidFill>
                  <a:srgbClr val="14142B"/>
                </a:solidFill>
                <a:latin typeface="Arial"/>
              </a:rPr>
              <a:t>Pydantic v2</a:t>
            </a:r>
          </a:p>
        </p:txBody>
      </p:sp>
      <p:sp>
        <p:nvSpPr>
          <p:cNvPr id="17" name="TextBox 16"/>
          <p:cNvSpPr txBox="1"/>
          <p:nvPr/>
        </p:nvSpPr>
        <p:spPr>
          <a:xfrm>
            <a:off x="6455664" y="2990088"/>
            <a:ext cx="2011680" cy="548640"/>
          </a:xfrm>
          <a:prstGeom prst="rect">
            <a:avLst/>
          </a:prstGeom>
          <a:noFill/>
        </p:spPr>
        <p:txBody>
          <a:bodyPr wrap="square" lIns="0" rIns="0" tIns="0" bIns="0" anchor="t">
            <a:spAutoFit/>
          </a:bodyPr>
          <a:lstStyle/>
          <a:p>
            <a:pPr algn="l"/>
            <a:r>
              <a:rPr sz="1150" b="0">
                <a:solidFill>
                  <a:srgbClr val="63637E"/>
                </a:solidFill>
                <a:latin typeface="Calibri"/>
              </a:rPr>
              <a:t>validated against the kit's schema.py</a:t>
            </a:r>
          </a:p>
        </p:txBody>
      </p:sp>
      <p:sp>
        <p:nvSpPr>
          <p:cNvPr id="18" name="Rounded Rectangle 17"/>
          <p:cNvSpPr/>
          <p:nvPr/>
        </p:nvSpPr>
        <p:spPr>
          <a:xfrm>
            <a:off x="8878824" y="169164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134856" y="1947672"/>
            <a:ext cx="566928" cy="566928"/>
          </a:xfrm>
          <a:prstGeom prst="ellipse">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1947672"/>
            <a:ext cx="566928" cy="566928"/>
          </a:xfrm>
          <a:prstGeom prst="rect">
            <a:avLst/>
          </a:prstGeom>
          <a:noFill/>
        </p:spPr>
        <p:txBody>
          <a:bodyPr wrap="square" lIns="0" rIns="0" tIns="0" bIns="0" anchor="ctr">
            <a:spAutoFit/>
          </a:bodyPr>
          <a:lstStyle/>
          <a:p>
            <a:pPr algn="ctr"/>
            <a:r>
              <a:rPr sz="1300" b="1">
                <a:solidFill>
                  <a:srgbClr val="FFFFFF"/>
                </a:solidFill>
                <a:latin typeface="Arial"/>
              </a:rPr>
              <a:t>BM</a:t>
            </a:r>
          </a:p>
        </p:txBody>
      </p:sp>
      <p:sp>
        <p:nvSpPr>
          <p:cNvPr id="21" name="TextBox 20"/>
          <p:cNvSpPr txBox="1"/>
          <p:nvPr/>
        </p:nvSpPr>
        <p:spPr>
          <a:xfrm>
            <a:off x="9134856" y="2624328"/>
            <a:ext cx="2011680" cy="365760"/>
          </a:xfrm>
          <a:prstGeom prst="rect">
            <a:avLst/>
          </a:prstGeom>
          <a:noFill/>
        </p:spPr>
        <p:txBody>
          <a:bodyPr wrap="square" lIns="0" rIns="0" tIns="0" bIns="0" anchor="t">
            <a:spAutoFit/>
          </a:bodyPr>
          <a:lstStyle/>
          <a:p>
            <a:pPr algn="l"/>
            <a:r>
              <a:rPr sz="1400" b="1">
                <a:solidFill>
                  <a:srgbClr val="14142B"/>
                </a:solidFill>
                <a:latin typeface="Arial"/>
              </a:rPr>
              <a:t>BM25 + embeddings</a:t>
            </a:r>
          </a:p>
        </p:txBody>
      </p:sp>
      <p:sp>
        <p:nvSpPr>
          <p:cNvPr id="22" name="TextBox 21"/>
          <p:cNvSpPr txBox="1"/>
          <p:nvPr/>
        </p:nvSpPr>
        <p:spPr>
          <a:xfrm>
            <a:off x="9134856" y="2990088"/>
            <a:ext cx="2011680" cy="548640"/>
          </a:xfrm>
          <a:prstGeom prst="rect">
            <a:avLst/>
          </a:prstGeom>
          <a:noFill/>
        </p:spPr>
        <p:txBody>
          <a:bodyPr wrap="square" lIns="0" rIns="0" tIns="0" bIns="0" anchor="t">
            <a:spAutoFit/>
          </a:bodyPr>
          <a:lstStyle/>
          <a:p>
            <a:pPr algn="l"/>
            <a:r>
              <a:rPr sz="1150" b="0">
                <a:solidFill>
                  <a:srgbClr val="63637E"/>
                </a:solidFill>
                <a:latin typeface="Calibri"/>
              </a:rPr>
              <a:t>hashed-vector retrieval over the 578-entry catalogue</a:t>
            </a:r>
          </a:p>
        </p:txBody>
      </p:sp>
      <p:sp>
        <p:nvSpPr>
          <p:cNvPr id="23" name="Rounded Rectangle 22"/>
          <p:cNvSpPr/>
          <p:nvPr/>
        </p:nvSpPr>
        <p:spPr>
          <a:xfrm>
            <a:off x="841248" y="384048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97280" y="4096512"/>
            <a:ext cx="566928" cy="5669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096512"/>
            <a:ext cx="566928" cy="566928"/>
          </a:xfrm>
          <a:prstGeom prst="rect">
            <a:avLst/>
          </a:prstGeom>
          <a:noFill/>
        </p:spPr>
        <p:txBody>
          <a:bodyPr wrap="square" lIns="0" rIns="0" tIns="0" bIns="0" anchor="ctr">
            <a:spAutoFit/>
          </a:bodyPr>
          <a:lstStyle/>
          <a:p>
            <a:pPr algn="ctr"/>
            <a:r>
              <a:rPr sz="1300" b="1">
                <a:solidFill>
                  <a:srgbClr val="FFFFFF"/>
                </a:solidFill>
                <a:latin typeface="Arial"/>
              </a:rPr>
              <a:t>G</a:t>
            </a:r>
          </a:p>
        </p:txBody>
      </p:sp>
      <p:sp>
        <p:nvSpPr>
          <p:cNvPr id="26" name="TextBox 25"/>
          <p:cNvSpPr txBox="1"/>
          <p:nvPr/>
        </p:nvSpPr>
        <p:spPr>
          <a:xfrm>
            <a:off x="1097280" y="4773168"/>
            <a:ext cx="2011680" cy="365760"/>
          </a:xfrm>
          <a:prstGeom prst="rect">
            <a:avLst/>
          </a:prstGeom>
          <a:noFill/>
        </p:spPr>
        <p:txBody>
          <a:bodyPr wrap="square" lIns="0" rIns="0" tIns="0" bIns="0" anchor="t">
            <a:spAutoFit/>
          </a:bodyPr>
          <a:lstStyle/>
          <a:p>
            <a:pPr algn="l"/>
            <a:r>
              <a:rPr sz="1400" b="1">
                <a:solidFill>
                  <a:srgbClr val="14142B"/>
                </a:solidFill>
                <a:latin typeface="Arial"/>
              </a:rPr>
              <a:t>Gemini 3.5 Flash-Lite</a:t>
            </a:r>
          </a:p>
        </p:txBody>
      </p:sp>
      <p:sp>
        <p:nvSpPr>
          <p:cNvPr id="27" name="TextBox 26"/>
          <p:cNvSpPr txBox="1"/>
          <p:nvPr/>
        </p:nvSpPr>
        <p:spPr>
          <a:xfrm>
            <a:off x="1097280" y="5138928"/>
            <a:ext cx="2011680" cy="548640"/>
          </a:xfrm>
          <a:prstGeom prst="rect">
            <a:avLst/>
          </a:prstGeom>
          <a:noFill/>
        </p:spPr>
        <p:txBody>
          <a:bodyPr wrap="square" lIns="0" rIns="0" tIns="0" bIns="0" anchor="t">
            <a:spAutoFit/>
          </a:bodyPr>
          <a:lstStyle/>
          <a:p>
            <a:pPr algn="l"/>
            <a:r>
              <a:rPr sz="1150" b="0">
                <a:solidFill>
                  <a:srgbClr val="63637E"/>
                </a:solidFill>
                <a:latin typeface="Calibri"/>
              </a:rPr>
              <a:t>refinement stages, 3.1 Flash-Lite fallback</a:t>
            </a:r>
          </a:p>
        </p:txBody>
      </p:sp>
      <p:sp>
        <p:nvSpPr>
          <p:cNvPr id="28" name="Rounded Rectangle 27"/>
          <p:cNvSpPr/>
          <p:nvPr/>
        </p:nvSpPr>
        <p:spPr>
          <a:xfrm>
            <a:off x="3520440" y="384048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3776472" y="4096512"/>
            <a:ext cx="566928" cy="566928"/>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76472" y="4096512"/>
            <a:ext cx="566928" cy="566928"/>
          </a:xfrm>
          <a:prstGeom prst="rect">
            <a:avLst/>
          </a:prstGeom>
          <a:noFill/>
        </p:spPr>
        <p:txBody>
          <a:bodyPr wrap="square" lIns="0" rIns="0" tIns="0" bIns="0" anchor="ctr">
            <a:spAutoFit/>
          </a:bodyPr>
          <a:lstStyle/>
          <a:p>
            <a:pPr algn="ctr"/>
            <a:r>
              <a:rPr sz="1300" b="1">
                <a:solidFill>
                  <a:srgbClr val="FFFFFF"/>
                </a:solidFill>
                <a:latin typeface="Arial"/>
              </a:rPr>
              <a:t>Dk</a:t>
            </a:r>
          </a:p>
        </p:txBody>
      </p:sp>
      <p:sp>
        <p:nvSpPr>
          <p:cNvPr id="31" name="TextBox 30"/>
          <p:cNvSpPr txBox="1"/>
          <p:nvPr/>
        </p:nvSpPr>
        <p:spPr>
          <a:xfrm>
            <a:off x="3776472" y="4773168"/>
            <a:ext cx="2011680" cy="365760"/>
          </a:xfrm>
          <a:prstGeom prst="rect">
            <a:avLst/>
          </a:prstGeom>
          <a:noFill/>
        </p:spPr>
        <p:txBody>
          <a:bodyPr wrap="square" lIns="0" rIns="0" tIns="0" bIns="0" anchor="t">
            <a:spAutoFit/>
          </a:bodyPr>
          <a:lstStyle/>
          <a:p>
            <a:pPr algn="l"/>
            <a:r>
              <a:rPr sz="1400" b="1">
                <a:solidFill>
                  <a:srgbClr val="14142B"/>
                </a:solidFill>
                <a:latin typeface="Arial"/>
              </a:rPr>
              <a:t>Docker on Render</a:t>
            </a:r>
          </a:p>
        </p:txBody>
      </p:sp>
      <p:sp>
        <p:nvSpPr>
          <p:cNvPr id="32" name="TextBox 31"/>
          <p:cNvSpPr txBox="1"/>
          <p:nvPr/>
        </p:nvSpPr>
        <p:spPr>
          <a:xfrm>
            <a:off x="3776472" y="5138928"/>
            <a:ext cx="2011680" cy="548640"/>
          </a:xfrm>
          <a:prstGeom prst="rect">
            <a:avLst/>
          </a:prstGeom>
          <a:noFill/>
        </p:spPr>
        <p:txBody>
          <a:bodyPr wrap="square" lIns="0" rIns="0" tIns="0" bIns="0" anchor="t">
            <a:spAutoFit/>
          </a:bodyPr>
          <a:lstStyle/>
          <a:p>
            <a:pPr algn="l"/>
            <a:r>
              <a:rPr sz="1150" b="0">
                <a:solidFill>
                  <a:srgbClr val="63637E"/>
                </a:solidFill>
                <a:latin typeface="Calibri"/>
              </a:rPr>
              <a:t>one container, live URL, env-only secrets</a:t>
            </a:r>
          </a:p>
        </p:txBody>
      </p:sp>
      <p:sp>
        <p:nvSpPr>
          <p:cNvPr id="33" name="Rounded Rectangle 32"/>
          <p:cNvSpPr/>
          <p:nvPr/>
        </p:nvSpPr>
        <p:spPr>
          <a:xfrm>
            <a:off x="6199632" y="384048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455664" y="4096512"/>
            <a:ext cx="566928" cy="566928"/>
          </a:xfrm>
          <a:prstGeom prst="ellipse">
            <a:avLst/>
          </a:prstGeom>
          <a:solidFill>
            <a:srgbClr val="4E9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5664" y="4096512"/>
            <a:ext cx="566928" cy="56692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36" name="TextBox 35"/>
          <p:cNvSpPr txBox="1"/>
          <p:nvPr/>
        </p:nvSpPr>
        <p:spPr>
          <a:xfrm>
            <a:off x="6455664" y="4773168"/>
            <a:ext cx="2011680" cy="365760"/>
          </a:xfrm>
          <a:prstGeom prst="rect">
            <a:avLst/>
          </a:prstGeom>
          <a:noFill/>
        </p:spPr>
        <p:txBody>
          <a:bodyPr wrap="square" lIns="0" rIns="0" tIns="0" bIns="0" anchor="t">
            <a:spAutoFit/>
          </a:bodyPr>
          <a:lstStyle/>
          <a:p>
            <a:pPr algn="l"/>
            <a:r>
              <a:rPr sz="1400" b="1">
                <a:solidFill>
                  <a:srgbClr val="14142B"/>
                </a:solidFill>
                <a:latin typeface="Arial"/>
              </a:rPr>
              <a:t>pytest · 78 tests</a:t>
            </a:r>
          </a:p>
        </p:txBody>
      </p:sp>
      <p:sp>
        <p:nvSpPr>
          <p:cNvPr id="37" name="TextBox 36"/>
          <p:cNvSpPr txBox="1"/>
          <p:nvPr/>
        </p:nvSpPr>
        <p:spPr>
          <a:xfrm>
            <a:off x="6455664" y="5138928"/>
            <a:ext cx="2011680" cy="548640"/>
          </a:xfrm>
          <a:prstGeom prst="rect">
            <a:avLst/>
          </a:prstGeom>
          <a:noFill/>
        </p:spPr>
        <p:txBody>
          <a:bodyPr wrap="square" lIns="0" rIns="0" tIns="0" bIns="0" anchor="t">
            <a:spAutoFit/>
          </a:bodyPr>
          <a:lstStyle/>
          <a:p>
            <a:pPr algn="l"/>
            <a:r>
              <a:rPr sz="1150" b="0">
                <a:solidFill>
                  <a:srgbClr val="63637E"/>
                </a:solidFill>
                <a:latin typeface="Calibri"/>
              </a:rPr>
              <a:t>offline; Gemini stubbed; catalogue sweep</a:t>
            </a:r>
          </a:p>
        </p:txBody>
      </p:sp>
      <p:sp>
        <p:nvSpPr>
          <p:cNvPr id="38" name="Rounded Rectangle 37"/>
          <p:cNvSpPr/>
          <p:nvPr/>
        </p:nvSpPr>
        <p:spPr>
          <a:xfrm>
            <a:off x="8878824" y="3840480"/>
            <a:ext cx="2468880" cy="1874519"/>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34856" y="4096512"/>
            <a:ext cx="566928" cy="566928"/>
          </a:xfrm>
          <a:prstGeom prst="ellipse">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34856" y="4096512"/>
            <a:ext cx="566928" cy="566928"/>
          </a:xfrm>
          <a:prstGeom prst="rect">
            <a:avLst/>
          </a:prstGeom>
          <a:noFill/>
        </p:spPr>
        <p:txBody>
          <a:bodyPr wrap="square" lIns="0" rIns="0" tIns="0" bIns="0" anchor="ctr">
            <a:spAutoFit/>
          </a:bodyPr>
          <a:lstStyle/>
          <a:p>
            <a:pPr algn="ctr"/>
            <a:r>
              <a:rPr sz="1300" b="1">
                <a:solidFill>
                  <a:srgbClr val="FFFFFF"/>
                </a:solidFill>
                <a:latin typeface="Arial"/>
              </a:rPr>
              <a:t>UI</a:t>
            </a:r>
          </a:p>
        </p:txBody>
      </p:sp>
      <p:sp>
        <p:nvSpPr>
          <p:cNvPr id="41" name="TextBox 40"/>
          <p:cNvSpPr txBox="1"/>
          <p:nvPr/>
        </p:nvSpPr>
        <p:spPr>
          <a:xfrm>
            <a:off x="9134856" y="4773168"/>
            <a:ext cx="2011680" cy="365760"/>
          </a:xfrm>
          <a:prstGeom prst="rect">
            <a:avLst/>
          </a:prstGeom>
          <a:noFill/>
        </p:spPr>
        <p:txBody>
          <a:bodyPr wrap="square" lIns="0" rIns="0" tIns="0" bIns="0" anchor="t">
            <a:spAutoFit/>
          </a:bodyPr>
          <a:lstStyle/>
          <a:p>
            <a:pPr algn="l"/>
            <a:r>
              <a:rPr sz="1400" b="1">
                <a:solidFill>
                  <a:srgbClr val="14142B"/>
                </a:solidFill>
                <a:latin typeface="Arial"/>
              </a:rPr>
              <a:t>HTML · CSS · JS</a:t>
            </a:r>
          </a:p>
        </p:txBody>
      </p:sp>
      <p:sp>
        <p:nvSpPr>
          <p:cNvPr id="42" name="TextBox 41"/>
          <p:cNvSpPr txBox="1"/>
          <p:nvPr/>
        </p:nvSpPr>
        <p:spPr>
          <a:xfrm>
            <a:off x="9134856" y="5138928"/>
            <a:ext cx="2011680" cy="548640"/>
          </a:xfrm>
          <a:prstGeom prst="rect">
            <a:avLst/>
          </a:prstGeom>
          <a:noFill/>
        </p:spPr>
        <p:txBody>
          <a:bodyPr wrap="square" lIns="0" rIns="0" tIns="0" bIns="0" anchor="t">
            <a:spAutoFit/>
          </a:bodyPr>
          <a:lstStyle/>
          <a:p>
            <a:pPr algn="l"/>
            <a:r>
              <a:rPr sz="1150" b="0">
                <a:solidFill>
                  <a:srgbClr val="63637E"/>
                </a:solidFill>
                <a:latin typeface="Calibri"/>
              </a:rPr>
              <a:t>simulator + in-browser benchmark, no build step</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41248" y="1645920"/>
            <a:ext cx="5029200" cy="1298448"/>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792224"/>
            <a:ext cx="4572000" cy="640080"/>
          </a:xfrm>
          <a:prstGeom prst="rect">
            <a:avLst/>
          </a:prstGeom>
          <a:noFill/>
        </p:spPr>
        <p:txBody>
          <a:bodyPr wrap="square" lIns="0" rIns="0" tIns="0" bIns="0" anchor="t">
            <a:spAutoFit/>
          </a:bodyPr>
          <a:lstStyle/>
          <a:p>
            <a:pPr algn="l"/>
            <a:r>
              <a:rPr sz="3000" b="1">
                <a:solidFill>
                  <a:srgbClr val="6D28D9"/>
                </a:solidFill>
                <a:latin typeface="Arial"/>
              </a:rPr>
              <a:t>~15 min → ~1 ms</a:t>
            </a:r>
          </a:p>
        </p:txBody>
      </p:sp>
      <p:sp>
        <p:nvSpPr>
          <p:cNvPr id="5" name="TextBox 4"/>
          <p:cNvSpPr txBox="1"/>
          <p:nvPr/>
        </p:nvSpPr>
        <p:spPr>
          <a:xfrm>
            <a:off x="1097280" y="2432304"/>
            <a:ext cx="4572000" cy="411480"/>
          </a:xfrm>
          <a:prstGeom prst="rect">
            <a:avLst/>
          </a:prstGeom>
          <a:noFill/>
        </p:spPr>
        <p:txBody>
          <a:bodyPr wrap="square" lIns="0" rIns="0" tIns="0" bIns="0" anchor="t">
            <a:spAutoFit/>
          </a:bodyPr>
          <a:lstStyle/>
          <a:p>
            <a:pPr algn="l"/>
            <a:r>
              <a:rPr sz="1300" b="0">
                <a:solidFill>
                  <a:srgbClr val="14142B"/>
                </a:solidFill>
                <a:latin typeface="Calibri"/>
              </a:rPr>
              <a:t>manual triage vs a cached SGTE answer</a:t>
            </a:r>
          </a:p>
        </p:txBody>
      </p:sp>
      <p:sp>
        <p:nvSpPr>
          <p:cNvPr id="6" name="Rounded Rectangle 5"/>
          <p:cNvSpPr/>
          <p:nvPr/>
        </p:nvSpPr>
        <p:spPr>
          <a:xfrm>
            <a:off x="841248" y="3127248"/>
            <a:ext cx="5029200" cy="1298448"/>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3273552"/>
            <a:ext cx="4572000" cy="640080"/>
          </a:xfrm>
          <a:prstGeom prst="rect">
            <a:avLst/>
          </a:prstGeom>
          <a:noFill/>
        </p:spPr>
        <p:txBody>
          <a:bodyPr wrap="square" lIns="0" rIns="0" tIns="0" bIns="0" anchor="t">
            <a:spAutoFit/>
          </a:bodyPr>
          <a:lstStyle/>
          <a:p>
            <a:pPr algn="l"/>
            <a:r>
              <a:rPr sz="3000" b="1">
                <a:solidFill>
                  <a:srgbClr val="6D28D9"/>
                </a:solidFill>
                <a:latin typeface="Arial"/>
              </a:rPr>
              <a:t>1 tap</a:t>
            </a:r>
          </a:p>
        </p:txBody>
      </p:sp>
      <p:sp>
        <p:nvSpPr>
          <p:cNvPr id="8" name="TextBox 7"/>
          <p:cNvSpPr txBox="1"/>
          <p:nvPr/>
        </p:nvSpPr>
        <p:spPr>
          <a:xfrm>
            <a:off x="1097280" y="3913632"/>
            <a:ext cx="4572000" cy="411480"/>
          </a:xfrm>
          <a:prstGeom prst="rect">
            <a:avLst/>
          </a:prstGeom>
          <a:noFill/>
        </p:spPr>
        <p:txBody>
          <a:bodyPr wrap="square" lIns="0" rIns="0" tIns="0" bIns="0" anchor="t">
            <a:spAutoFit/>
          </a:bodyPr>
          <a:lstStyle/>
          <a:p>
            <a:pPr algn="l"/>
            <a:r>
              <a:rPr sz="1300" b="0">
                <a:solidFill>
                  <a:srgbClr val="14142B"/>
                </a:solidFill>
                <a:latin typeface="Calibri"/>
              </a:rPr>
              <a:t>deeplink to the exact Settings screen, then validated</a:t>
            </a:r>
          </a:p>
        </p:txBody>
      </p:sp>
      <p:sp>
        <p:nvSpPr>
          <p:cNvPr id="9" name="Rounded Rectangle 8"/>
          <p:cNvSpPr/>
          <p:nvPr/>
        </p:nvSpPr>
        <p:spPr>
          <a:xfrm>
            <a:off x="841248" y="4608576"/>
            <a:ext cx="5029200" cy="1298448"/>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97280" y="4754880"/>
            <a:ext cx="4572000" cy="640080"/>
          </a:xfrm>
          <a:prstGeom prst="rect">
            <a:avLst/>
          </a:prstGeom>
          <a:noFill/>
        </p:spPr>
        <p:txBody>
          <a:bodyPr wrap="square" lIns="0" rIns="0" tIns="0" bIns="0" anchor="t">
            <a:spAutoFit/>
          </a:bodyPr>
          <a:lstStyle/>
          <a:p>
            <a:pPr algn="l"/>
            <a:r>
              <a:rPr sz="3000" b="1">
                <a:solidFill>
                  <a:srgbClr val="6D28D9"/>
                </a:solidFill>
                <a:latin typeface="Arial"/>
              </a:rPr>
              <a:t>$0.00</a:t>
            </a:r>
          </a:p>
        </p:txBody>
      </p:sp>
      <p:sp>
        <p:nvSpPr>
          <p:cNvPr id="11" name="TextBox 10"/>
          <p:cNvSpPr txBox="1"/>
          <p:nvPr/>
        </p:nvSpPr>
        <p:spPr>
          <a:xfrm>
            <a:off x="1097280" y="5394960"/>
            <a:ext cx="4572000" cy="411480"/>
          </a:xfrm>
          <a:prstGeom prst="rect">
            <a:avLst/>
          </a:prstGeom>
          <a:noFill/>
        </p:spPr>
        <p:txBody>
          <a:bodyPr wrap="square" lIns="0" rIns="0" tIns="0" bIns="0" anchor="t">
            <a:spAutoFit/>
          </a:bodyPr>
          <a:lstStyle/>
          <a:p>
            <a:pPr algn="l"/>
            <a:r>
              <a:rPr sz="1300" b="0">
                <a:solidFill>
                  <a:srgbClr val="14142B"/>
                </a:solidFill>
                <a:latin typeface="Calibri"/>
              </a:rPr>
              <a:t>per query on the free tier; cache hits never call a model</a:t>
            </a:r>
          </a:p>
        </p:txBody>
      </p:sp>
      <p:sp>
        <p:nvSpPr>
          <p:cNvPr id="12" name="TextBox 11"/>
          <p:cNvSpPr txBox="1"/>
          <p:nvPr/>
        </p:nvSpPr>
        <p:spPr>
          <a:xfrm>
            <a:off x="6355080" y="1645920"/>
            <a:ext cx="4937760" cy="411480"/>
          </a:xfrm>
          <a:prstGeom prst="rect">
            <a:avLst/>
          </a:prstGeom>
          <a:noFill/>
        </p:spPr>
        <p:txBody>
          <a:bodyPr wrap="square" lIns="0" rIns="0" tIns="0" bIns="0" anchor="t">
            <a:spAutoFit/>
          </a:bodyPr>
          <a:lstStyle/>
          <a:p>
            <a:pPr algn="l"/>
            <a:r>
              <a:rPr sz="1800" b="1">
                <a:solidFill>
                  <a:srgbClr val="14142B"/>
                </a:solidFill>
                <a:latin typeface="Arial"/>
              </a:rPr>
              <a:t>Where it fits</a:t>
            </a:r>
          </a:p>
        </p:txBody>
      </p:sp>
      <p:sp>
        <p:nvSpPr>
          <p:cNvPr id="13" name="Oval 12"/>
          <p:cNvSpPr/>
          <p:nvPr/>
        </p:nvSpPr>
        <p:spPr>
          <a:xfrm>
            <a:off x="6355080" y="2276856"/>
            <a:ext cx="365760" cy="365760"/>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276856"/>
            <a:ext cx="365760" cy="365760"/>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5" name="TextBox 14"/>
          <p:cNvSpPr txBox="1"/>
          <p:nvPr/>
        </p:nvSpPr>
        <p:spPr>
          <a:xfrm>
            <a:off x="6903720" y="2240280"/>
            <a:ext cx="4389120" cy="914400"/>
          </a:xfrm>
          <a:prstGeom prst="rect">
            <a:avLst/>
          </a:prstGeom>
          <a:noFill/>
        </p:spPr>
        <p:txBody>
          <a:bodyPr wrap="square" lIns="0" rIns="0" tIns="0" bIns="0" anchor="t">
            <a:spAutoFit/>
          </a:bodyPr>
          <a:lstStyle/>
          <a:p>
            <a:pPr algn="l"/>
            <a:r>
              <a:rPr sz="1500" b="1">
                <a:solidFill>
                  <a:srgbClr val="14142B"/>
                </a:solidFill>
                <a:latin typeface="Calibri"/>
              </a:rPr>
              <a:t>Self-service in the support app</a:t>
            </a:r>
          </a:p>
          <a:p>
            <a:pPr algn="l"/>
            <a:r>
              <a:rPr sz="1250" b="0">
                <a:solidFill>
                  <a:srgbClr val="63637E"/>
                </a:solidFill>
                <a:latin typeface="Calibri"/>
              </a:rPr>
              <a:t>users get a plan with one-tap fixes instead of an article</a:t>
            </a:r>
          </a:p>
        </p:txBody>
      </p:sp>
      <p:sp>
        <p:nvSpPr>
          <p:cNvPr id="16" name="Oval 15"/>
          <p:cNvSpPr/>
          <p:nvPr/>
        </p:nvSpPr>
        <p:spPr>
          <a:xfrm>
            <a:off x="6355080" y="3264408"/>
            <a:ext cx="365760" cy="365760"/>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264408"/>
            <a:ext cx="365760" cy="365760"/>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8" name="TextBox 17"/>
          <p:cNvSpPr txBox="1"/>
          <p:nvPr/>
        </p:nvSpPr>
        <p:spPr>
          <a:xfrm>
            <a:off x="6903720" y="3227832"/>
            <a:ext cx="4389120" cy="914400"/>
          </a:xfrm>
          <a:prstGeom prst="rect">
            <a:avLst/>
          </a:prstGeom>
          <a:noFill/>
        </p:spPr>
        <p:txBody>
          <a:bodyPr wrap="square" lIns="0" rIns="0" tIns="0" bIns="0" anchor="t">
            <a:spAutoFit/>
          </a:bodyPr>
          <a:lstStyle/>
          <a:p>
            <a:pPr algn="l"/>
            <a:r>
              <a:rPr sz="1500" b="1">
                <a:solidFill>
                  <a:srgbClr val="14142B"/>
                </a:solidFill>
                <a:latin typeface="Calibri"/>
              </a:rPr>
              <a:t>Contact-centre agent assist</a:t>
            </a:r>
          </a:p>
          <a:p>
            <a:pPr algn="l"/>
            <a:r>
              <a:rPr sz="1250" b="0">
                <a:solidFill>
                  <a:srgbClr val="63637E"/>
                </a:solidFill>
                <a:latin typeface="Calibri"/>
              </a:rPr>
              <a:t>agents send a validated plan in seconds, not minutes</a:t>
            </a:r>
          </a:p>
        </p:txBody>
      </p:sp>
      <p:sp>
        <p:nvSpPr>
          <p:cNvPr id="19" name="Oval 18"/>
          <p:cNvSpPr/>
          <p:nvPr/>
        </p:nvSpPr>
        <p:spPr>
          <a:xfrm>
            <a:off x="6355080" y="4251960"/>
            <a:ext cx="365760" cy="365760"/>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51960"/>
            <a:ext cx="365760" cy="365760"/>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21" name="TextBox 20"/>
          <p:cNvSpPr txBox="1"/>
          <p:nvPr/>
        </p:nvSpPr>
        <p:spPr>
          <a:xfrm>
            <a:off x="6903720" y="4215384"/>
            <a:ext cx="4389120" cy="914400"/>
          </a:xfrm>
          <a:prstGeom prst="rect">
            <a:avLst/>
          </a:prstGeom>
          <a:noFill/>
        </p:spPr>
        <p:txBody>
          <a:bodyPr wrap="square" lIns="0" rIns="0" tIns="0" bIns="0" anchor="t">
            <a:spAutoFit/>
          </a:bodyPr>
          <a:lstStyle/>
          <a:p>
            <a:pPr algn="l"/>
            <a:r>
              <a:rPr sz="1500" b="1">
                <a:solidFill>
                  <a:srgbClr val="14142B"/>
                </a:solidFill>
                <a:latin typeface="Calibri"/>
              </a:rPr>
              <a:t>Voice &amp; assistant “fix it” flows</a:t>
            </a:r>
          </a:p>
          <a:p>
            <a:pPr algn="l"/>
            <a:r>
              <a:rPr sz="1250" b="0">
                <a:solidFill>
                  <a:srgbClr val="63637E"/>
                </a:solidFill>
                <a:latin typeface="Calibri"/>
              </a:rPr>
              <a:t>the deeplinks and validation keys map to device actions</a:t>
            </a:r>
          </a:p>
        </p:txBody>
      </p:sp>
      <p:sp>
        <p:nvSpPr>
          <p:cNvPr id="22" name="Oval 21"/>
          <p:cNvSpPr/>
          <p:nvPr/>
        </p:nvSpPr>
        <p:spPr>
          <a:xfrm>
            <a:off x="6355080" y="5239512"/>
            <a:ext cx="365760" cy="365760"/>
          </a:xfrm>
          <a:prstGeom prst="ellipse">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5239512"/>
            <a:ext cx="365760" cy="365760"/>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24" name="TextBox 23"/>
          <p:cNvSpPr txBox="1"/>
          <p:nvPr/>
        </p:nvSpPr>
        <p:spPr>
          <a:xfrm>
            <a:off x="6903720" y="5202936"/>
            <a:ext cx="4389120" cy="914400"/>
          </a:xfrm>
          <a:prstGeom prst="rect">
            <a:avLst/>
          </a:prstGeom>
          <a:noFill/>
        </p:spPr>
        <p:txBody>
          <a:bodyPr wrap="square" lIns="0" rIns="0" tIns="0" bIns="0" anchor="t">
            <a:spAutoFit/>
          </a:bodyPr>
          <a:lstStyle/>
          <a:p>
            <a:pPr algn="l"/>
            <a:r>
              <a:rPr sz="1500" b="1">
                <a:solidFill>
                  <a:srgbClr val="14142B"/>
                </a:solidFill>
                <a:latin typeface="Calibri"/>
              </a:rPr>
              <a:t>After an update</a:t>
            </a:r>
          </a:p>
          <a:p>
            <a:pPr algn="l"/>
            <a:r>
              <a:rPr sz="1250" b="0">
                <a:solidFill>
                  <a:srgbClr val="63637E"/>
                </a:solidFill>
                <a:latin typeface="Calibri"/>
              </a:rPr>
              <a:t>known issues answered from cache, consistently, at scale</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41248" y="1554480"/>
            <a:ext cx="3291840" cy="466344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719072"/>
            <a:ext cx="2834640" cy="384048"/>
          </a:xfrm>
          <a:prstGeom prst="rect">
            <a:avLst/>
          </a:prstGeom>
          <a:noFill/>
        </p:spPr>
        <p:txBody>
          <a:bodyPr wrap="square" lIns="0" rIns="0" tIns="0" bIns="0" anchor="t">
            <a:spAutoFit/>
          </a:bodyPr>
          <a:lstStyle/>
          <a:p>
            <a:pPr algn="l"/>
            <a:r>
              <a:rPr sz="1600" b="1">
                <a:solidFill>
                  <a:srgbClr val="6D28D9"/>
                </a:solidFill>
                <a:latin typeface="Arial"/>
              </a:rPr>
              <a:t>Innovation</a:t>
            </a:r>
          </a:p>
        </p:txBody>
      </p:sp>
      <p:sp>
        <p:nvSpPr>
          <p:cNvPr id="5" name="Rounded Rectangle 4"/>
          <p:cNvSpPr/>
          <p:nvPr/>
        </p:nvSpPr>
        <p:spPr>
          <a:xfrm>
            <a:off x="4434840" y="1554480"/>
            <a:ext cx="3291840" cy="466344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690872" y="1719072"/>
            <a:ext cx="2834640" cy="384048"/>
          </a:xfrm>
          <a:prstGeom prst="rect">
            <a:avLst/>
          </a:prstGeom>
          <a:noFill/>
        </p:spPr>
        <p:txBody>
          <a:bodyPr wrap="square" lIns="0" rIns="0" tIns="0" bIns="0" anchor="t">
            <a:spAutoFit/>
          </a:bodyPr>
          <a:lstStyle/>
          <a:p>
            <a:pPr algn="l"/>
            <a:r>
              <a:rPr sz="1600" b="1">
                <a:solidFill>
                  <a:srgbClr val="1F8A4C"/>
                </a:solidFill>
                <a:latin typeface="Arial"/>
              </a:rPr>
              <a:t>Results (live + metrics.md)</a:t>
            </a:r>
          </a:p>
        </p:txBody>
      </p:sp>
      <p:sp>
        <p:nvSpPr>
          <p:cNvPr id="7" name="Rounded Rectangle 6"/>
          <p:cNvSpPr/>
          <p:nvPr/>
        </p:nvSpPr>
        <p:spPr>
          <a:xfrm>
            <a:off x="8028431" y="1554480"/>
            <a:ext cx="3291840" cy="466344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84463" y="1719072"/>
            <a:ext cx="2834640" cy="384048"/>
          </a:xfrm>
          <a:prstGeom prst="rect">
            <a:avLst/>
          </a:prstGeom>
          <a:noFill/>
        </p:spPr>
        <p:txBody>
          <a:bodyPr wrap="square" lIns="0" rIns="0" tIns="0" bIns="0" anchor="t">
            <a:spAutoFit/>
          </a:bodyPr>
          <a:lstStyle/>
          <a:p>
            <a:pPr algn="l"/>
            <a:r>
              <a:rPr sz="1600" b="1">
                <a:solidFill>
                  <a:srgbClr val="B4234A"/>
                </a:solidFill>
                <a:latin typeface="Arial"/>
              </a:rPr>
              <a:t>Limitations</a:t>
            </a:r>
          </a:p>
        </p:txBody>
      </p:sp>
      <p:sp>
        <p:nvSpPr>
          <p:cNvPr id="9" name="TextBox 8"/>
          <p:cNvSpPr txBox="1"/>
          <p:nvPr/>
        </p:nvSpPr>
        <p:spPr>
          <a:xfrm>
            <a:off x="1097280" y="2212848"/>
            <a:ext cx="2834640" cy="749808"/>
          </a:xfrm>
          <a:prstGeom prst="rect">
            <a:avLst/>
          </a:prstGeom>
          <a:noFill/>
        </p:spPr>
        <p:txBody>
          <a:bodyPr wrap="square" lIns="0" rIns="0" tIns="0" bIns="0" anchor="t">
            <a:spAutoFit/>
          </a:bodyPr>
          <a:lstStyle/>
          <a:p>
            <a:pPr algn="l"/>
            <a:r>
              <a:rPr sz="1200" b="0">
                <a:solidFill>
                  <a:srgbClr val="14142B"/>
                </a:solidFill>
                <a:latin typeface="Calibri"/>
              </a:rPr>
              <a:t>Paraphrase cache reuses the article's plan — byte-identical to a fresh answer</a:t>
            </a:r>
          </a:p>
        </p:txBody>
      </p:sp>
      <p:sp>
        <p:nvSpPr>
          <p:cNvPr id="10" name="TextBox 9"/>
          <p:cNvSpPr txBox="1"/>
          <p:nvPr/>
        </p:nvSpPr>
        <p:spPr>
          <a:xfrm>
            <a:off x="1097280" y="2999232"/>
            <a:ext cx="2834640" cy="749808"/>
          </a:xfrm>
          <a:prstGeom prst="rect">
            <a:avLst/>
          </a:prstGeom>
          <a:noFill/>
        </p:spPr>
        <p:txBody>
          <a:bodyPr wrap="square" lIns="0" rIns="0" tIns="0" bIns="0" anchor="t">
            <a:spAutoFit/>
          </a:bodyPr>
          <a:lstStyle/>
          <a:p>
            <a:pPr algn="l"/>
            <a:r>
              <a:rPr sz="1200" b="0">
                <a:solidFill>
                  <a:srgbClr val="14142B"/>
                </a:solidFill>
                <a:latin typeface="Calibri"/>
              </a:rPr>
              <a:t>Gemini picks only from a shortlist of catalogue ids; a pick off the rules' screen is discarded</a:t>
            </a:r>
          </a:p>
        </p:txBody>
      </p:sp>
      <p:sp>
        <p:nvSpPr>
          <p:cNvPr id="11" name="TextBox 10"/>
          <p:cNvSpPr txBox="1"/>
          <p:nvPr/>
        </p:nvSpPr>
        <p:spPr>
          <a:xfrm>
            <a:off x="1097280" y="3785615"/>
            <a:ext cx="2834640" cy="749808"/>
          </a:xfrm>
          <a:prstGeom prst="rect">
            <a:avLst/>
          </a:prstGeom>
          <a:noFill/>
        </p:spPr>
        <p:txBody>
          <a:bodyPr wrap="square" lIns="0" rIns="0" tIns="0" bIns="0" anchor="t">
            <a:spAutoFit/>
          </a:bodyPr>
          <a:lstStyle/>
          <a:p>
            <a:pPr algn="l"/>
            <a:r>
              <a:rPr sz="1200" b="0">
                <a:solidFill>
                  <a:srgbClr val="14142B"/>
                </a:solidFill>
                <a:latin typeface="Calibri"/>
              </a:rPr>
              <a:t>Exact-label catalogue index: open vs on/off vs set-a-value</a:t>
            </a:r>
          </a:p>
        </p:txBody>
      </p:sp>
      <p:sp>
        <p:nvSpPr>
          <p:cNvPr id="12" name="TextBox 11"/>
          <p:cNvSpPr txBox="1"/>
          <p:nvPr/>
        </p:nvSpPr>
        <p:spPr>
          <a:xfrm>
            <a:off x="1097280" y="4572000"/>
            <a:ext cx="2834640" cy="749808"/>
          </a:xfrm>
          <a:prstGeom prst="rect">
            <a:avLst/>
          </a:prstGeom>
          <a:noFill/>
        </p:spPr>
        <p:txBody>
          <a:bodyPr wrap="square" lIns="0" rIns="0" tIns="0" bIns="0" anchor="t">
            <a:spAutoFit/>
          </a:bodyPr>
          <a:lstStyle/>
          <a:p>
            <a:pPr algn="l"/>
            <a:r>
              <a:rPr sz="1200" b="0">
                <a:solidFill>
                  <a:srgbClr val="14142B"/>
                </a:solidFill>
                <a:latin typeface="Calibri"/>
              </a:rPr>
              <a:t>One interaction per step, still word-for-word from the article</a:t>
            </a:r>
          </a:p>
        </p:txBody>
      </p:sp>
      <p:sp>
        <p:nvSpPr>
          <p:cNvPr id="13" name="TextBox 12"/>
          <p:cNvSpPr txBox="1"/>
          <p:nvPr/>
        </p:nvSpPr>
        <p:spPr>
          <a:xfrm>
            <a:off x="1097280" y="5358383"/>
            <a:ext cx="2834640" cy="749808"/>
          </a:xfrm>
          <a:prstGeom prst="rect">
            <a:avLst/>
          </a:prstGeom>
          <a:noFill/>
        </p:spPr>
        <p:txBody>
          <a:bodyPr wrap="square" lIns="0" rIns="0" tIns="0" bIns="0" anchor="t">
            <a:spAutoFit/>
          </a:bodyPr>
          <a:lstStyle/>
          <a:p>
            <a:pPr algn="l"/>
            <a:r>
              <a:rPr sz="1200" b="0">
                <a:solidFill>
                  <a:srgbClr val="14142B"/>
                </a:solidFill>
                <a:latin typeface="Calibri"/>
              </a:rPr>
              <a:t>Persistent Gemini cache: live, local and results.jsonl agree</a:t>
            </a:r>
          </a:p>
        </p:txBody>
      </p:sp>
      <p:sp>
        <p:nvSpPr>
          <p:cNvPr id="14" name="TextBox 13"/>
          <p:cNvSpPr txBox="1"/>
          <p:nvPr/>
        </p:nvSpPr>
        <p:spPr>
          <a:xfrm>
            <a:off x="4690872" y="2194560"/>
            <a:ext cx="2834640" cy="530352"/>
          </a:xfrm>
          <a:prstGeom prst="rect">
            <a:avLst/>
          </a:prstGeom>
          <a:noFill/>
        </p:spPr>
        <p:txBody>
          <a:bodyPr wrap="square" lIns="0" rIns="0" tIns="0" bIns="0" anchor="t">
            <a:spAutoFit/>
          </a:bodyPr>
          <a:lstStyle/>
          <a:p>
            <a:pPr algn="l"/>
            <a:r>
              <a:rPr sz="1500" b="1">
                <a:solidFill>
                  <a:srgbClr val="14142B"/>
                </a:solidFill>
                <a:latin typeface="Arial"/>
              </a:rPr>
              <a:t>All gates  </a:t>
            </a:r>
            <a:r>
              <a:rPr sz="1150" b="0">
                <a:solidFill>
                  <a:srgbClr val="63637E"/>
                </a:solidFill>
                <a:latin typeface="Calibri"/>
              </a:rPr>
              <a:t>G2–G5 pass on the live URL</a:t>
            </a:r>
          </a:p>
        </p:txBody>
      </p:sp>
      <p:sp>
        <p:nvSpPr>
          <p:cNvPr id="15" name="TextBox 14"/>
          <p:cNvSpPr txBox="1"/>
          <p:nvPr/>
        </p:nvSpPr>
        <p:spPr>
          <a:xfrm>
            <a:off x="4690872" y="2743200"/>
            <a:ext cx="2834640" cy="530352"/>
          </a:xfrm>
          <a:prstGeom prst="rect">
            <a:avLst/>
          </a:prstGeom>
          <a:noFill/>
        </p:spPr>
        <p:txBody>
          <a:bodyPr wrap="square" lIns="0" rIns="0" tIns="0" bIns="0" anchor="t">
            <a:spAutoFit/>
          </a:bodyPr>
          <a:lstStyle/>
          <a:p>
            <a:pPr algn="l"/>
            <a:r>
              <a:rPr sz="1500" b="1">
                <a:solidFill>
                  <a:srgbClr val="14142B"/>
                </a:solidFill>
                <a:latin typeface="Arial"/>
              </a:rPr>
              <a:t>2.91 / 3  </a:t>
            </a:r>
            <a:r>
              <a:rPr sz="1150" b="0">
                <a:solidFill>
                  <a:srgbClr val="63637E"/>
                </a:solidFill>
                <a:latin typeface="Calibri"/>
              </a:rPr>
              <a:t>step accuracy</a:t>
            </a:r>
          </a:p>
        </p:txBody>
      </p:sp>
      <p:sp>
        <p:nvSpPr>
          <p:cNvPr id="16" name="TextBox 15"/>
          <p:cNvSpPr txBox="1"/>
          <p:nvPr/>
        </p:nvSpPr>
        <p:spPr>
          <a:xfrm>
            <a:off x="4690872" y="3291839"/>
            <a:ext cx="2834640" cy="530352"/>
          </a:xfrm>
          <a:prstGeom prst="rect">
            <a:avLst/>
          </a:prstGeom>
          <a:noFill/>
        </p:spPr>
        <p:txBody>
          <a:bodyPr wrap="square" lIns="0" rIns="0" tIns="0" bIns="0" anchor="t">
            <a:spAutoFit/>
          </a:bodyPr>
          <a:lstStyle/>
          <a:p>
            <a:pPr algn="l"/>
            <a:r>
              <a:rPr sz="1500" b="1">
                <a:solidFill>
                  <a:srgbClr val="14142B"/>
                </a:solidFill>
                <a:latin typeface="Arial"/>
              </a:rPr>
              <a:t>2.00 / 2  </a:t>
            </a:r>
            <a:r>
              <a:rPr sz="1150" b="0">
                <a:solidFill>
                  <a:srgbClr val="63637E"/>
                </a:solidFill>
                <a:latin typeface="Calibri"/>
              </a:rPr>
              <a:t>deeplink relevance · 572/572</a:t>
            </a:r>
          </a:p>
        </p:txBody>
      </p:sp>
      <p:sp>
        <p:nvSpPr>
          <p:cNvPr id="17" name="TextBox 16"/>
          <p:cNvSpPr txBox="1"/>
          <p:nvPr/>
        </p:nvSpPr>
        <p:spPr>
          <a:xfrm>
            <a:off x="4690872" y="3840479"/>
            <a:ext cx="2834640" cy="530352"/>
          </a:xfrm>
          <a:prstGeom prst="rect">
            <a:avLst/>
          </a:prstGeom>
          <a:noFill/>
        </p:spPr>
        <p:txBody>
          <a:bodyPr wrap="square" lIns="0" rIns="0" tIns="0" bIns="0" anchor="t">
            <a:spAutoFit/>
          </a:bodyPr>
          <a:lstStyle/>
          <a:p>
            <a:pPr algn="l"/>
            <a:r>
              <a:rPr sz="1500" b="1">
                <a:solidFill>
                  <a:srgbClr val="14142B"/>
                </a:solidFill>
                <a:latin typeface="Arial"/>
              </a:rPr>
              <a:t>349 / 349  </a:t>
            </a:r>
            <a:r>
              <a:rPr sz="1150" b="0">
                <a:solidFill>
                  <a:srgbClr val="63637E"/>
                </a:solidFill>
                <a:latin typeface="Calibri"/>
              </a:rPr>
              <a:t>steps grounded</a:t>
            </a:r>
          </a:p>
        </p:txBody>
      </p:sp>
      <p:sp>
        <p:nvSpPr>
          <p:cNvPr id="18" name="TextBox 17"/>
          <p:cNvSpPr txBox="1"/>
          <p:nvPr/>
        </p:nvSpPr>
        <p:spPr>
          <a:xfrm>
            <a:off x="4690872" y="4389120"/>
            <a:ext cx="2834640" cy="530352"/>
          </a:xfrm>
          <a:prstGeom prst="rect">
            <a:avLst/>
          </a:prstGeom>
          <a:noFill/>
        </p:spPr>
        <p:txBody>
          <a:bodyPr wrap="square" lIns="0" rIns="0" tIns="0" bIns="0" anchor="t">
            <a:spAutoFit/>
          </a:bodyPr>
          <a:lstStyle/>
          <a:p>
            <a:pPr algn="l"/>
            <a:r>
              <a:rPr sz="1500" b="1">
                <a:solidFill>
                  <a:srgbClr val="14142B"/>
                </a:solidFill>
                <a:latin typeface="Arial"/>
              </a:rPr>
              <a:t>100%  </a:t>
            </a:r>
            <a:r>
              <a:rPr sz="1150" b="0">
                <a:solidFill>
                  <a:srgbClr val="63637E"/>
                </a:solidFill>
                <a:latin typeface="Calibri"/>
              </a:rPr>
              <a:t>paraphrase hits (16 + 200)</a:t>
            </a:r>
          </a:p>
        </p:txBody>
      </p:sp>
      <p:sp>
        <p:nvSpPr>
          <p:cNvPr id="19" name="TextBox 18"/>
          <p:cNvSpPr txBox="1"/>
          <p:nvPr/>
        </p:nvSpPr>
        <p:spPr>
          <a:xfrm>
            <a:off x="4690872" y="4937760"/>
            <a:ext cx="2834640" cy="530352"/>
          </a:xfrm>
          <a:prstGeom prst="rect">
            <a:avLst/>
          </a:prstGeom>
          <a:noFill/>
        </p:spPr>
        <p:txBody>
          <a:bodyPr wrap="square" lIns="0" rIns="0" tIns="0" bIns="0" anchor="t">
            <a:spAutoFit/>
          </a:bodyPr>
          <a:lstStyle/>
          <a:p>
            <a:pPr algn="l"/>
            <a:r>
              <a:rPr sz="1500" b="1">
                <a:solidFill>
                  <a:srgbClr val="14142B"/>
                </a:solidFill>
                <a:latin typeface="Arial"/>
              </a:rPr>
              <a:t>0.23 ms  </a:t>
            </a:r>
            <a:r>
              <a:rPr sz="1150" b="0">
                <a:solidFill>
                  <a:srgbClr val="63637E"/>
                </a:solidFill>
                <a:latin typeface="Calibri"/>
              </a:rPr>
              <a:t>cache-hit p95 (server)</a:t>
            </a:r>
          </a:p>
        </p:txBody>
      </p:sp>
      <p:sp>
        <p:nvSpPr>
          <p:cNvPr id="20" name="TextBox 19"/>
          <p:cNvSpPr txBox="1"/>
          <p:nvPr/>
        </p:nvSpPr>
        <p:spPr>
          <a:xfrm>
            <a:off x="4690872" y="5486400"/>
            <a:ext cx="2834640" cy="530352"/>
          </a:xfrm>
          <a:prstGeom prst="rect">
            <a:avLst/>
          </a:prstGeom>
          <a:noFill/>
        </p:spPr>
        <p:txBody>
          <a:bodyPr wrap="square" lIns="0" rIns="0" tIns="0" bIns="0" anchor="t">
            <a:spAutoFit/>
          </a:bodyPr>
          <a:lstStyle/>
          <a:p>
            <a:pPr algn="l"/>
            <a:r>
              <a:rPr sz="1500" b="1">
                <a:solidFill>
                  <a:srgbClr val="14142B"/>
                </a:solidFill>
                <a:latin typeface="Arial"/>
              </a:rPr>
              <a:t>≤ 5.1 s  </a:t>
            </a:r>
            <a:r>
              <a:rPr sz="1150" b="0">
                <a:solidFill>
                  <a:srgbClr val="63637E"/>
                </a:solidFill>
                <a:latin typeface="Calibri"/>
              </a:rPr>
              <a:t>cold p95 with live Gemini (limit 8 s)</a:t>
            </a:r>
          </a:p>
        </p:txBody>
      </p:sp>
      <p:sp>
        <p:nvSpPr>
          <p:cNvPr id="21" name="TextBox 20"/>
          <p:cNvSpPr txBox="1"/>
          <p:nvPr/>
        </p:nvSpPr>
        <p:spPr>
          <a:xfrm>
            <a:off x="8284463" y="2212848"/>
            <a:ext cx="2834640" cy="749808"/>
          </a:xfrm>
          <a:prstGeom prst="rect">
            <a:avLst/>
          </a:prstGeom>
          <a:noFill/>
        </p:spPr>
        <p:txBody>
          <a:bodyPr wrap="square" lIns="0" rIns="0" tIns="0" bIns="0" anchor="t">
            <a:spAutoFit/>
          </a:bodyPr>
          <a:lstStyle/>
          <a:p>
            <a:pPr algn="l"/>
            <a:r>
              <a:rPr sz="1200" b="0">
                <a:solidFill>
                  <a:srgbClr val="14142B"/>
                </a:solidFill>
                <a:latin typeface="Calibri"/>
              </a:rPr>
              <a:t>Goal names use a symptom lexicon; Gemini names unfamiliar topics</a:t>
            </a:r>
          </a:p>
        </p:txBody>
      </p:sp>
      <p:sp>
        <p:nvSpPr>
          <p:cNvPr id="22" name="TextBox 21"/>
          <p:cNvSpPr txBox="1"/>
          <p:nvPr/>
        </p:nvSpPr>
        <p:spPr>
          <a:xfrm>
            <a:off x="8284463" y="2999232"/>
            <a:ext cx="2834640" cy="749808"/>
          </a:xfrm>
          <a:prstGeom prst="rect">
            <a:avLst/>
          </a:prstGeom>
          <a:noFill/>
        </p:spPr>
        <p:txBody>
          <a:bodyPr wrap="square" lIns="0" rIns="0" tIns="0" bIns="0" anchor="t">
            <a:spAutoFit/>
          </a:bodyPr>
          <a:lstStyle/>
          <a:p>
            <a:pPr algn="l"/>
            <a:r>
              <a:rPr sz="1200" b="0">
                <a:solidFill>
                  <a:srgbClr val="14142B"/>
                </a:solidFill>
                <a:latin typeface="Calibri"/>
              </a:rPr>
              <a:t>Verbatim rule caps completeness at 0.91 — prose advice isn't rewritten into steps</a:t>
            </a:r>
          </a:p>
        </p:txBody>
      </p:sp>
      <p:sp>
        <p:nvSpPr>
          <p:cNvPr id="23" name="TextBox 22"/>
          <p:cNvSpPr txBox="1"/>
          <p:nvPr/>
        </p:nvSpPr>
        <p:spPr>
          <a:xfrm>
            <a:off x="8284463" y="3785615"/>
            <a:ext cx="2834640" cy="749808"/>
          </a:xfrm>
          <a:prstGeom prst="rect">
            <a:avLst/>
          </a:prstGeom>
          <a:noFill/>
        </p:spPr>
        <p:txBody>
          <a:bodyPr wrap="square" lIns="0" rIns="0" tIns="0" bIns="0" anchor="t">
            <a:spAutoFit/>
          </a:bodyPr>
          <a:lstStyle/>
          <a:p>
            <a:pPr algn="l"/>
            <a:r>
              <a:rPr sz="1200" b="0">
                <a:solidFill>
                  <a:srgbClr val="14142B"/>
                </a:solidFill>
                <a:latin typeface="Calibri"/>
              </a:rPr>
              <a:t>20 of 83 kit step groups link: the rest aren't Galaxy Settings screens</a:t>
            </a:r>
          </a:p>
        </p:txBody>
      </p:sp>
      <p:sp>
        <p:nvSpPr>
          <p:cNvPr id="24" name="TextBox 23"/>
          <p:cNvSpPr txBox="1"/>
          <p:nvPr/>
        </p:nvSpPr>
        <p:spPr>
          <a:xfrm>
            <a:off x="8284463" y="4572000"/>
            <a:ext cx="2834640" cy="749808"/>
          </a:xfrm>
          <a:prstGeom prst="rect">
            <a:avLst/>
          </a:prstGeom>
          <a:noFill/>
        </p:spPr>
        <p:txBody>
          <a:bodyPr wrap="square" lIns="0" rIns="0" tIns="0" bIns="0" anchor="t">
            <a:spAutoFit/>
          </a:bodyPr>
          <a:lstStyle/>
          <a:p>
            <a:pPr algn="l"/>
            <a:r>
              <a:rPr sz="1200" b="0">
                <a:solidFill>
                  <a:srgbClr val="14142B"/>
                </a:solidFill>
                <a:latin typeface="Calibri"/>
              </a:rPr>
              <a:t>Free-tier Gemini overloads at times — the rules' answer is used</a:t>
            </a:r>
          </a:p>
        </p:txBody>
      </p:sp>
      <p:sp>
        <p:nvSpPr>
          <p:cNvPr id="25" name="TextBox 24"/>
          <p:cNvSpPr txBox="1"/>
          <p:nvPr/>
        </p:nvSpPr>
        <p:spPr>
          <a:xfrm>
            <a:off x="8284463" y="5358383"/>
            <a:ext cx="2834640" cy="749808"/>
          </a:xfrm>
          <a:prstGeom prst="rect">
            <a:avLst/>
          </a:prstGeom>
          <a:noFill/>
        </p:spPr>
        <p:txBody>
          <a:bodyPr wrap="square" lIns="0" rIns="0" tIns="0" bIns="0" anchor="t">
            <a:spAutoFit/>
          </a:bodyPr>
          <a:lstStyle/>
          <a:p>
            <a:pPr algn="l"/>
            <a:r>
              <a:rPr sz="1200" b="0">
                <a:solidFill>
                  <a:srgbClr val="14142B"/>
                </a:solidFill>
                <a:latin typeface="Calibri"/>
              </a:rPr>
              <a:t>No human-labelled ground truth in the kit; accuracy is scored against the articles</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Rounded Rectangle 2"/>
          <p:cNvSpPr/>
          <p:nvPr/>
        </p:nvSpPr>
        <p:spPr>
          <a:xfrm>
            <a:off x="841248" y="1691640"/>
            <a:ext cx="822960" cy="274320"/>
          </a:xfrm>
          <a:prstGeom prst="roundRect">
            <a:avLst>
              <a:gd name="adj" fmla="val 50000"/>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1691640"/>
            <a:ext cx="822960" cy="274320"/>
          </a:xfrm>
          <a:prstGeom prst="rect">
            <a:avLst/>
          </a:prstGeom>
          <a:noFill/>
        </p:spPr>
        <p:txBody>
          <a:bodyPr wrap="square" lIns="0" rIns="0" tIns="0" bIns="0" anchor="ctr">
            <a:spAutoFit/>
          </a:bodyPr>
          <a:lstStyle/>
          <a:p>
            <a:pPr algn="ctr"/>
            <a:r>
              <a:rPr sz="1100" b="1">
                <a:solidFill>
                  <a:srgbClr val="FFFFFF"/>
                </a:solidFill>
                <a:latin typeface="Calibri"/>
              </a:rPr>
              <a:t>Now</a:t>
            </a:r>
          </a:p>
        </p:txBody>
      </p:sp>
      <p:sp>
        <p:nvSpPr>
          <p:cNvPr id="5" name="Rounded Rectangle 4"/>
          <p:cNvSpPr/>
          <p:nvPr/>
        </p:nvSpPr>
        <p:spPr>
          <a:xfrm>
            <a:off x="841248" y="2148840"/>
            <a:ext cx="2468880" cy="2331720"/>
          </a:xfrm>
          <a:prstGeom prst="roundRect">
            <a:avLst>
              <a:gd name="adj" fmla="val 8000"/>
            </a:avLst>
          </a:prstGeom>
          <a:solidFill>
            <a:srgbClr val="F5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331720"/>
            <a:ext cx="2011680" cy="731520"/>
          </a:xfrm>
          <a:prstGeom prst="rect">
            <a:avLst/>
          </a:prstGeom>
          <a:noFill/>
        </p:spPr>
        <p:txBody>
          <a:bodyPr wrap="square" lIns="0" rIns="0" tIns="0" bIns="0" anchor="t">
            <a:spAutoFit/>
          </a:bodyPr>
          <a:lstStyle/>
          <a:p>
            <a:pPr algn="l"/>
            <a:r>
              <a:rPr sz="1600" b="1">
                <a:solidFill>
                  <a:srgbClr val="14142B"/>
                </a:solidFill>
                <a:latin typeface="Arial"/>
              </a:rPr>
              <a:t>Submitted</a:t>
            </a:r>
          </a:p>
        </p:txBody>
      </p:sp>
      <p:sp>
        <p:nvSpPr>
          <p:cNvPr id="7" name="TextBox 6"/>
          <p:cNvSpPr txBox="1"/>
          <p:nvPr/>
        </p:nvSpPr>
        <p:spPr>
          <a:xfrm>
            <a:off x="1069848" y="3063240"/>
            <a:ext cx="2011680" cy="1280160"/>
          </a:xfrm>
          <a:prstGeom prst="rect">
            <a:avLst/>
          </a:prstGeom>
          <a:noFill/>
        </p:spPr>
        <p:txBody>
          <a:bodyPr wrap="square" lIns="0" rIns="0" tIns="0" bIns="0" anchor="t">
            <a:spAutoFit/>
          </a:bodyPr>
          <a:lstStyle/>
          <a:p>
            <a:pPr algn="l"/>
            <a:r>
              <a:rPr sz="1250" b="0">
                <a:solidFill>
                  <a:srgbClr val="63637E"/>
                </a:solidFill>
                <a:latin typeface="Calibri"/>
              </a:rPr>
              <a:t>Live API, simulator, 78 tests, metrics.md</a:t>
            </a:r>
          </a:p>
        </p:txBody>
      </p:sp>
      <p:sp>
        <p:nvSpPr>
          <p:cNvPr id="8" name="Right Arrow 7"/>
          <p:cNvSpPr/>
          <p:nvPr/>
        </p:nvSpPr>
        <p:spPr>
          <a:xfrm>
            <a:off x="3328416" y="3154680"/>
            <a:ext cx="182880" cy="256032"/>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0440" y="1691640"/>
            <a:ext cx="82296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20440" y="1691640"/>
            <a:ext cx="822960" cy="274320"/>
          </a:xfrm>
          <a:prstGeom prst="rect">
            <a:avLst/>
          </a:prstGeom>
          <a:noFill/>
        </p:spPr>
        <p:txBody>
          <a:bodyPr wrap="square" lIns="0" rIns="0" tIns="0" bIns="0" anchor="ctr">
            <a:spAutoFit/>
          </a:bodyPr>
          <a:lstStyle/>
          <a:p>
            <a:pPr algn="ctr"/>
            <a:r>
              <a:rPr sz="1100" b="1">
                <a:solidFill>
                  <a:srgbClr val="FFFFFF"/>
                </a:solidFill>
                <a:latin typeface="Calibri"/>
              </a:rPr>
              <a:t>Next</a:t>
            </a:r>
          </a:p>
        </p:txBody>
      </p:sp>
      <p:sp>
        <p:nvSpPr>
          <p:cNvPr id="11" name="Rounded Rectangle 10"/>
          <p:cNvSpPr/>
          <p:nvPr/>
        </p:nvSpPr>
        <p:spPr>
          <a:xfrm>
            <a:off x="3520440" y="2148840"/>
            <a:ext cx="2468880" cy="23317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49039" y="2331720"/>
            <a:ext cx="2011680" cy="731520"/>
          </a:xfrm>
          <a:prstGeom prst="rect">
            <a:avLst/>
          </a:prstGeom>
          <a:noFill/>
        </p:spPr>
        <p:txBody>
          <a:bodyPr wrap="square" lIns="0" rIns="0" tIns="0" bIns="0" anchor="t">
            <a:spAutoFit/>
          </a:bodyPr>
          <a:lstStyle/>
          <a:p>
            <a:pPr algn="l"/>
            <a:r>
              <a:rPr sz="1600" b="1">
                <a:solidFill>
                  <a:srgbClr val="14142B"/>
                </a:solidFill>
                <a:latin typeface="Arial"/>
              </a:rPr>
              <a:t>Engineer's view</a:t>
            </a:r>
          </a:p>
        </p:txBody>
      </p:sp>
      <p:sp>
        <p:nvSpPr>
          <p:cNvPr id="13" name="TextBox 12"/>
          <p:cNvSpPr txBox="1"/>
          <p:nvPr/>
        </p:nvSpPr>
        <p:spPr>
          <a:xfrm>
            <a:off x="3749039" y="3063240"/>
            <a:ext cx="2011680" cy="1280160"/>
          </a:xfrm>
          <a:prstGeom prst="rect">
            <a:avLst/>
          </a:prstGeom>
          <a:noFill/>
        </p:spPr>
        <p:txBody>
          <a:bodyPr wrap="square" lIns="0" rIns="0" tIns="0" bIns="0" anchor="t">
            <a:spAutoFit/>
          </a:bodyPr>
          <a:lstStyle/>
          <a:p>
            <a:pPr algn="l"/>
            <a:r>
              <a:rPr sz="1250" b="0">
                <a:solidFill>
                  <a:srgbClr val="63637E"/>
                </a:solidFill>
                <a:latin typeface="Calibri"/>
              </a:rPr>
              <a:t>decision trace, grounding map, deeplink reasoning, regression diff</a:t>
            </a:r>
          </a:p>
        </p:txBody>
      </p:sp>
      <p:sp>
        <p:nvSpPr>
          <p:cNvPr id="14" name="Right Arrow 13"/>
          <p:cNvSpPr/>
          <p:nvPr/>
        </p:nvSpPr>
        <p:spPr>
          <a:xfrm>
            <a:off x="6007608" y="3154680"/>
            <a:ext cx="182880" cy="256032"/>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99632" y="1691640"/>
            <a:ext cx="822960" cy="274320"/>
          </a:xfrm>
          <a:prstGeom prst="roundRect">
            <a:avLst>
              <a:gd name="adj" fmla="val 50000"/>
            </a:avLst>
          </a:prstGeom>
          <a:solidFill>
            <a:srgbClr val="3F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99632" y="1691640"/>
            <a:ext cx="822960" cy="274320"/>
          </a:xfrm>
          <a:prstGeom prst="rect">
            <a:avLst/>
          </a:prstGeom>
          <a:noFill/>
        </p:spPr>
        <p:txBody>
          <a:bodyPr wrap="square" lIns="0" rIns="0" tIns="0" bIns="0" anchor="ctr">
            <a:spAutoFit/>
          </a:bodyPr>
          <a:lstStyle/>
          <a:p>
            <a:pPr algn="ctr"/>
            <a:r>
              <a:rPr sz="1100" b="1">
                <a:solidFill>
                  <a:srgbClr val="FFFFFF"/>
                </a:solidFill>
                <a:latin typeface="Calibri"/>
              </a:rPr>
              <a:t>Then</a:t>
            </a:r>
          </a:p>
        </p:txBody>
      </p:sp>
      <p:sp>
        <p:nvSpPr>
          <p:cNvPr id="17" name="Rounded Rectangle 16"/>
          <p:cNvSpPr/>
          <p:nvPr/>
        </p:nvSpPr>
        <p:spPr>
          <a:xfrm>
            <a:off x="6199632" y="2148840"/>
            <a:ext cx="2468880" cy="23317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2" y="2331720"/>
            <a:ext cx="2011680" cy="731520"/>
          </a:xfrm>
          <a:prstGeom prst="rect">
            <a:avLst/>
          </a:prstGeom>
          <a:noFill/>
        </p:spPr>
        <p:txBody>
          <a:bodyPr wrap="square" lIns="0" rIns="0" tIns="0" bIns="0" anchor="t">
            <a:spAutoFit/>
          </a:bodyPr>
          <a:lstStyle/>
          <a:p>
            <a:pPr algn="l"/>
            <a:r>
              <a:rPr sz="1600" b="1">
                <a:solidFill>
                  <a:srgbClr val="14142B"/>
                </a:solidFill>
                <a:latin typeface="Arial"/>
              </a:rPr>
              <a:t>Live SIIS + feedback</a:t>
            </a:r>
          </a:p>
        </p:txBody>
      </p:sp>
      <p:sp>
        <p:nvSpPr>
          <p:cNvPr id="19" name="TextBox 18"/>
          <p:cNvSpPr txBox="1"/>
          <p:nvPr/>
        </p:nvSpPr>
        <p:spPr>
          <a:xfrm>
            <a:off x="6428232" y="3063240"/>
            <a:ext cx="2011680" cy="1280160"/>
          </a:xfrm>
          <a:prstGeom prst="rect">
            <a:avLst/>
          </a:prstGeom>
          <a:noFill/>
        </p:spPr>
        <p:txBody>
          <a:bodyPr wrap="square" lIns="0" rIns="0" tIns="0" bIns="0" anchor="t">
            <a:spAutoFit/>
          </a:bodyPr>
          <a:lstStyle/>
          <a:p>
            <a:pPr algn="l"/>
            <a:r>
              <a:rPr sz="1250" b="0">
                <a:solidFill>
                  <a:srgbClr val="63637E"/>
                </a:solidFill>
                <a:latin typeface="Calibri"/>
              </a:rPr>
              <a:t>real articles and outcome telemetry grow the lexicon and eval set</a:t>
            </a:r>
          </a:p>
        </p:txBody>
      </p:sp>
      <p:sp>
        <p:nvSpPr>
          <p:cNvPr id="20" name="Right Arrow 19"/>
          <p:cNvSpPr/>
          <p:nvPr/>
        </p:nvSpPr>
        <p:spPr>
          <a:xfrm>
            <a:off x="8686800" y="3154680"/>
            <a:ext cx="182880" cy="256032"/>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78824" y="1691640"/>
            <a:ext cx="822960" cy="274320"/>
          </a:xfrm>
          <a:prstGeom prst="roundRect">
            <a:avLst>
              <a:gd name="adj" fmla="val 50000"/>
            </a:avLst>
          </a:prstGeom>
          <a:solidFill>
            <a:srgbClr val="4E9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78824" y="1691640"/>
            <a:ext cx="822960" cy="274320"/>
          </a:xfrm>
          <a:prstGeom prst="rect">
            <a:avLst/>
          </a:prstGeom>
          <a:noFill/>
        </p:spPr>
        <p:txBody>
          <a:bodyPr wrap="square" lIns="0" rIns="0" tIns="0" bIns="0" anchor="ctr">
            <a:spAutoFit/>
          </a:bodyPr>
          <a:lstStyle/>
          <a:p>
            <a:pPr algn="ctr"/>
            <a:r>
              <a:rPr sz="1100" b="1">
                <a:solidFill>
                  <a:srgbClr val="FFFFFF"/>
                </a:solidFill>
                <a:latin typeface="Calibri"/>
              </a:rPr>
              <a:t>Later</a:t>
            </a:r>
          </a:p>
        </p:txBody>
      </p:sp>
      <p:sp>
        <p:nvSpPr>
          <p:cNvPr id="23" name="Rounded Rectangle 22"/>
          <p:cNvSpPr/>
          <p:nvPr/>
        </p:nvSpPr>
        <p:spPr>
          <a:xfrm>
            <a:off x="8878824" y="2148840"/>
            <a:ext cx="2468880" cy="233172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07424" y="2331720"/>
            <a:ext cx="2011680" cy="731520"/>
          </a:xfrm>
          <a:prstGeom prst="rect">
            <a:avLst/>
          </a:prstGeom>
          <a:noFill/>
        </p:spPr>
        <p:txBody>
          <a:bodyPr wrap="square" lIns="0" rIns="0" tIns="0" bIns="0" anchor="t">
            <a:spAutoFit/>
          </a:bodyPr>
          <a:lstStyle/>
          <a:p>
            <a:pPr algn="l"/>
            <a:r>
              <a:rPr sz="1600" b="1">
                <a:solidFill>
                  <a:srgbClr val="14142B"/>
                </a:solidFill>
                <a:latin typeface="Arial"/>
              </a:rPr>
              <a:t>Multilingual &amp; on-device</a:t>
            </a:r>
          </a:p>
        </p:txBody>
      </p:sp>
      <p:sp>
        <p:nvSpPr>
          <p:cNvPr id="25" name="TextBox 24"/>
          <p:cNvSpPr txBox="1"/>
          <p:nvPr/>
        </p:nvSpPr>
        <p:spPr>
          <a:xfrm>
            <a:off x="9107424" y="3063240"/>
            <a:ext cx="2011680" cy="1280160"/>
          </a:xfrm>
          <a:prstGeom prst="rect">
            <a:avLst/>
          </a:prstGeom>
          <a:noFill/>
        </p:spPr>
        <p:txBody>
          <a:bodyPr wrap="square" lIns="0" rIns="0" tIns="0" bIns="0" anchor="t">
            <a:spAutoFit/>
          </a:bodyPr>
          <a:lstStyle/>
          <a:p>
            <a:pPr algn="l"/>
            <a:r>
              <a:rPr sz="1250" b="0">
                <a:solidFill>
                  <a:srgbClr val="63637E"/>
                </a:solidFill>
                <a:latin typeface="Calibri"/>
              </a:rPr>
              <a:t>Hindi and Korean queries; a small on-device model for refinement</a:t>
            </a:r>
          </a:p>
        </p:txBody>
      </p:sp>
      <p:sp>
        <p:nvSpPr>
          <p:cNvPr id="26" name="Rounded Rectangle 25"/>
          <p:cNvSpPr/>
          <p:nvPr/>
        </p:nvSpPr>
        <p:spPr>
          <a:xfrm>
            <a:off x="841248" y="4754880"/>
            <a:ext cx="10442448" cy="137160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4892040"/>
            <a:ext cx="9966960" cy="1143000"/>
          </a:xfrm>
          <a:prstGeom prst="rect">
            <a:avLst/>
          </a:prstGeom>
          <a:noFill/>
        </p:spPr>
        <p:txBody>
          <a:bodyPr wrap="square" lIns="0" rIns="0" tIns="0" bIns="0" anchor="t">
            <a:spAutoFit/>
          </a:bodyPr>
          <a:lstStyle/>
          <a:p>
            <a:pPr algn="l"/>
            <a:r>
              <a:rPr sz="1500" b="1">
                <a:solidFill>
                  <a:srgbClr val="6D28D9"/>
                </a:solidFill>
                <a:latin typeface="Arial"/>
              </a:rPr>
              <a:t>As a PRISM worklet</a:t>
            </a:r>
          </a:p>
          <a:p>
            <a:pPr algn="l"/>
            <a:r>
              <a:rPr sz="1350" b="0">
                <a:solidFill>
                  <a:srgbClr val="14142B"/>
                </a:solidFill>
                <a:latin typeface="Calibri"/>
              </a:rPr>
              <a:t>Deterministic, auditable and cheap to run: the same answer for the same article, every link traceable to a catalogue entry, and a model used only where language understanding helps.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(differentiation)</a:t>
            </a:r>
            <a:endParaRPr lang="en-US" sz="4400" b="1" dirty="0">
              <a:solidFill>
                <a:srgbClr val="704EA6"/>
              </a:solidFill>
            </a:endParaRPr>
          </a:p>
        </p:txBody>
      </p:sp>
      <p:pic>
        <p:nvPicPr>
          <p:cNvPr id="3" name="Picture 2" descr="shot_gates.png"/>
          <p:cNvPicPr>
            <a:picLocks noChangeAspect="1"/>
          </p:cNvPicPr>
          <p:nvPr/>
        </p:nvPicPr>
        <p:blipFill>
          <a:blip r:embed="rId2"/>
          <a:stretch>
            <a:fillRect/>
          </a:stretch>
        </p:blipFill>
        <p:spPr>
          <a:xfrm>
            <a:off x="6053328" y="1627632"/>
            <a:ext cx="5230368" cy="2236433"/>
          </a:xfrm>
          <a:prstGeom prst="rect">
            <a:avLst/>
          </a:prstGeom>
          <a:ln w="12700">
            <a:solidFill>
              <a:srgbClr val="D9D3F0"/>
            </a:solidFill>
          </a:ln>
        </p:spPr>
      </p:pic>
      <p:sp>
        <p:nvSpPr>
          <p:cNvPr id="4" name="TextBox 3"/>
          <p:cNvSpPr txBox="1"/>
          <p:nvPr/>
        </p:nvSpPr>
        <p:spPr>
          <a:xfrm>
            <a:off x="6053328" y="3973793"/>
            <a:ext cx="5230368" cy="365760"/>
          </a:xfrm>
          <a:prstGeom prst="rect">
            <a:avLst/>
          </a:prstGeom>
          <a:noFill/>
        </p:spPr>
        <p:txBody>
          <a:bodyPr wrap="square" lIns="0" rIns="0" tIns="0" bIns="0" anchor="t">
            <a:spAutoFit/>
          </a:bodyPr>
          <a:lstStyle/>
          <a:p>
            <a:pPr algn="l"/>
            <a:r>
              <a:rPr sz="1100" b="0">
                <a:solidFill>
                  <a:srgbClr val="63637E"/>
                </a:solidFill>
                <a:latin typeface="Calibri"/>
              </a:rPr>
              <a:t>In-browser benchmark against the running API — every gate passes</a:t>
            </a:r>
          </a:p>
        </p:txBody>
      </p:sp>
      <p:sp>
        <p:nvSpPr>
          <p:cNvPr id="5" name="Oval 4"/>
          <p:cNvSpPr/>
          <p:nvPr/>
        </p:nvSpPr>
        <p:spPr>
          <a:xfrm>
            <a:off x="841248" y="168249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682496"/>
            <a:ext cx="384048" cy="38404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7" name="TextBox 6"/>
          <p:cNvSpPr txBox="1"/>
          <p:nvPr/>
        </p:nvSpPr>
        <p:spPr>
          <a:xfrm>
            <a:off x="1371600" y="1645920"/>
            <a:ext cx="4389120" cy="868680"/>
          </a:xfrm>
          <a:prstGeom prst="rect">
            <a:avLst/>
          </a:prstGeom>
          <a:noFill/>
        </p:spPr>
        <p:txBody>
          <a:bodyPr wrap="square" lIns="0" rIns="0" tIns="0" bIns="0" anchor="t">
            <a:spAutoFit/>
          </a:bodyPr>
          <a:lstStyle/>
          <a:p>
            <a:pPr algn="l"/>
            <a:r>
              <a:rPr sz="1500" b="1">
                <a:solidFill>
                  <a:srgbClr val="14142B"/>
                </a:solidFill>
                <a:latin typeface="Arial"/>
              </a:rPr>
              <a:t>Phone simulator</a:t>
            </a:r>
          </a:p>
          <a:p>
            <a:pPr algn="l"/>
            <a:r>
              <a:rPr sz="1200" b="0">
                <a:solidFill>
                  <a:srgbClr val="63637E"/>
                </a:solidFill>
                <a:latin typeface="Calibri"/>
              </a:rPr>
              <a:t>deeplinks open a mocked Settings screen; validation and critical confirmation</a:t>
            </a:r>
          </a:p>
        </p:txBody>
      </p:sp>
      <p:sp>
        <p:nvSpPr>
          <p:cNvPr id="8" name="Oval 7"/>
          <p:cNvSpPr/>
          <p:nvPr/>
        </p:nvSpPr>
        <p:spPr>
          <a:xfrm>
            <a:off x="841248" y="257860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578608"/>
            <a:ext cx="384048" cy="38404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0" name="TextBox 9"/>
          <p:cNvSpPr txBox="1"/>
          <p:nvPr/>
        </p:nvSpPr>
        <p:spPr>
          <a:xfrm>
            <a:off x="1371600" y="2542032"/>
            <a:ext cx="4389120" cy="868680"/>
          </a:xfrm>
          <a:prstGeom prst="rect">
            <a:avLst/>
          </a:prstGeom>
          <a:noFill/>
        </p:spPr>
        <p:txBody>
          <a:bodyPr wrap="square" lIns="0" rIns="0" tIns="0" bIns="0" anchor="t">
            <a:spAutoFit/>
          </a:bodyPr>
          <a:lstStyle/>
          <a:p>
            <a:pPr algn="l"/>
            <a:r>
              <a:rPr sz="1500" b="1">
                <a:solidFill>
                  <a:srgbClr val="14142B"/>
                </a:solidFill>
                <a:latin typeface="Arial"/>
              </a:rPr>
              <a:t>Guide example reproduced</a:t>
            </a:r>
          </a:p>
          <a:p>
            <a:pPr algn="l"/>
            <a:r>
              <a:rPr sz="1200" b="0">
                <a:solidFill>
                  <a:srgbClr val="63637E"/>
                </a:solidFill>
                <a:latin typeface="Calibri"/>
              </a:rPr>
              <a:t>Appendix B swipe-navigation case links a real catalogue entry</a:t>
            </a:r>
          </a:p>
        </p:txBody>
      </p:sp>
      <p:sp>
        <p:nvSpPr>
          <p:cNvPr id="11" name="Oval 10"/>
          <p:cNvSpPr/>
          <p:nvPr/>
        </p:nvSpPr>
        <p:spPr>
          <a:xfrm>
            <a:off x="841248" y="347472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474720"/>
            <a:ext cx="384048" cy="38404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3" name="TextBox 12"/>
          <p:cNvSpPr txBox="1"/>
          <p:nvPr/>
        </p:nvSpPr>
        <p:spPr>
          <a:xfrm>
            <a:off x="1371600" y="3438144"/>
            <a:ext cx="4389120" cy="868680"/>
          </a:xfrm>
          <a:prstGeom prst="rect">
            <a:avLst/>
          </a:prstGeom>
          <a:noFill/>
        </p:spPr>
        <p:txBody>
          <a:bodyPr wrap="square" lIns="0" rIns="0" tIns="0" bIns="0" anchor="t">
            <a:spAutoFit/>
          </a:bodyPr>
          <a:lstStyle/>
          <a:p>
            <a:pPr algn="l"/>
            <a:r>
              <a:rPr sz="1500" b="1">
                <a:solidFill>
                  <a:srgbClr val="14142B"/>
                </a:solidFill>
                <a:latin typeface="Arial"/>
              </a:rPr>
              <a:t>Whole-catalogue sweep</a:t>
            </a:r>
          </a:p>
          <a:p>
            <a:pPr algn="l"/>
            <a:r>
              <a:rPr sz="1200" b="0">
                <a:solidFill>
                  <a:srgbClr val="63637E"/>
                </a:solidFill>
                <a:latin typeface="Calibri"/>
              </a:rPr>
              <a:t>572 / 572 step-reachable entries resolve correctly</a:t>
            </a:r>
          </a:p>
        </p:txBody>
      </p:sp>
      <p:sp>
        <p:nvSpPr>
          <p:cNvPr id="14" name="Oval 13"/>
          <p:cNvSpPr/>
          <p:nvPr/>
        </p:nvSpPr>
        <p:spPr>
          <a:xfrm>
            <a:off x="841248" y="43708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370832"/>
            <a:ext cx="384048" cy="38404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6" name="TextBox 15"/>
          <p:cNvSpPr txBox="1"/>
          <p:nvPr/>
        </p:nvSpPr>
        <p:spPr>
          <a:xfrm>
            <a:off x="1371600" y="4334256"/>
            <a:ext cx="4389120" cy="868680"/>
          </a:xfrm>
          <a:prstGeom prst="rect">
            <a:avLst/>
          </a:prstGeom>
          <a:noFill/>
        </p:spPr>
        <p:txBody>
          <a:bodyPr wrap="square" lIns="0" rIns="0" tIns="0" bIns="0" anchor="t">
            <a:spAutoFit/>
          </a:bodyPr>
          <a:lstStyle/>
          <a:p>
            <a:pPr algn="l"/>
            <a:r>
              <a:rPr sz="1500" b="1">
                <a:solidFill>
                  <a:srgbClr val="14142B"/>
                </a:solidFill>
                <a:latin typeface="Arial"/>
              </a:rPr>
              <a:t>Gemini with guardrails</a:t>
            </a:r>
          </a:p>
          <a:p>
            <a:pPr algn="l"/>
            <a:r>
              <a:rPr sz="1200" b="0">
                <a:solidFill>
                  <a:srgbClr val="63637E"/>
                </a:solidFill>
                <a:latin typeface="Calibri"/>
              </a:rPr>
              <a:t>closed set, 5 s budget, model fallback, persistent cache</a:t>
            </a:r>
          </a:p>
        </p:txBody>
      </p:sp>
      <p:sp>
        <p:nvSpPr>
          <p:cNvPr id="17" name="Oval 16"/>
          <p:cNvSpPr/>
          <p:nvPr/>
        </p:nvSpPr>
        <p:spPr>
          <a:xfrm>
            <a:off x="841248" y="5266944"/>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266944"/>
            <a:ext cx="384048" cy="384048"/>
          </a:xfrm>
          <a:prstGeom prst="rect">
            <a:avLst/>
          </a:prstGeom>
          <a:noFill/>
        </p:spPr>
        <p:txBody>
          <a:bodyPr wrap="square" lIns="0" rIns="0" tIns="0" bIns="0" anchor="ctr">
            <a:spAutoFit/>
          </a:bodyPr>
          <a:lstStyle/>
          <a:p>
            <a:pPr algn="ctr"/>
            <a:r>
              <a:rPr sz="1300" b="1">
                <a:solidFill>
                  <a:srgbClr val="FFFFFF"/>
                </a:solidFill>
                <a:latin typeface="Arial"/>
              </a:rPr>
              <a:t>★</a:t>
            </a:r>
          </a:p>
        </p:txBody>
      </p:sp>
      <p:sp>
        <p:nvSpPr>
          <p:cNvPr id="19" name="TextBox 18"/>
          <p:cNvSpPr txBox="1"/>
          <p:nvPr/>
        </p:nvSpPr>
        <p:spPr>
          <a:xfrm>
            <a:off x="1371600" y="5230368"/>
            <a:ext cx="4389120" cy="868680"/>
          </a:xfrm>
          <a:prstGeom prst="rect">
            <a:avLst/>
          </a:prstGeom>
          <a:noFill/>
        </p:spPr>
        <p:txBody>
          <a:bodyPr wrap="square" lIns="0" rIns="0" tIns="0" bIns="0" anchor="t">
            <a:spAutoFit/>
          </a:bodyPr>
          <a:lstStyle/>
          <a:p>
            <a:pPr algn="l"/>
            <a:r>
              <a:rPr sz="1500" b="1">
                <a:solidFill>
                  <a:srgbClr val="14142B"/>
                </a:solidFill>
                <a:latin typeface="Arial"/>
              </a:rPr>
              <a:t>Honest metrics</a:t>
            </a:r>
          </a:p>
          <a:p>
            <a:pPr algn="l"/>
            <a:r>
              <a:rPr sz="1200" b="0">
                <a:solidFill>
                  <a:srgbClr val="63637E"/>
                </a:solidFill>
                <a:latin typeface="Calibri"/>
              </a:rPr>
              <a:t>metrics.md generated from real runs, with an ablation</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Rounded Rectangle 2"/>
          <p:cNvSpPr/>
          <p:nvPr/>
        </p:nvSpPr>
        <p:spPr>
          <a:xfrm>
            <a:off x="841248" y="1691640"/>
            <a:ext cx="10442448" cy="91440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51560" y="1929384"/>
            <a:ext cx="438912" cy="438912"/>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929384"/>
            <a:ext cx="438912" cy="438912"/>
          </a:xfrm>
          <a:prstGeom prst="rect">
            <a:avLst/>
          </a:prstGeom>
          <a:noFill/>
        </p:spPr>
        <p:txBody>
          <a:bodyPr wrap="square" lIns="0" rIns="0" tIns="0" bIns="0" anchor="ctr">
            <a:spAutoFit/>
          </a:bodyPr>
          <a:lstStyle/>
          <a:p>
            <a:pPr algn="ctr"/>
            <a:r>
              <a:rPr sz="1400" b="1">
                <a:solidFill>
                  <a:srgbClr val="FFFFFF"/>
                </a:solidFill>
                <a:latin typeface="Arial"/>
              </a:rPr>
              <a:t>Y</a:t>
            </a:r>
          </a:p>
        </p:txBody>
      </p:sp>
      <p:sp>
        <p:nvSpPr>
          <p:cNvPr id="6" name="TextBox 5"/>
          <p:cNvSpPr txBox="1"/>
          <p:nvPr/>
        </p:nvSpPr>
        <p:spPr>
          <a:xfrm>
            <a:off x="1737360" y="1819656"/>
            <a:ext cx="9326880" cy="365760"/>
          </a:xfrm>
          <a:prstGeom prst="rect">
            <a:avLst/>
          </a:prstGeom>
          <a:noFill/>
        </p:spPr>
        <p:txBody>
          <a:bodyPr wrap="square" lIns="0" rIns="0" tIns="0" bIns="0" anchor="t">
            <a:spAutoFit/>
          </a:bodyPr>
          <a:lstStyle/>
          <a:p>
            <a:pPr algn="l"/>
            <a:r>
              <a:rPr sz="1500" b="1">
                <a:solidFill>
                  <a:srgbClr val="14142B"/>
                </a:solidFill>
                <a:latin typeface="Calibri"/>
              </a:rPr>
              <a:t>Working prototype code — public or shared GitHub repo</a:t>
            </a:r>
          </a:p>
        </p:txBody>
      </p:sp>
      <p:sp>
        <p:nvSpPr>
          <p:cNvPr id="7" name="TextBox 6"/>
          <p:cNvSpPr txBox="1"/>
          <p:nvPr/>
        </p:nvSpPr>
        <p:spPr>
          <a:xfrm>
            <a:off x="1737360" y="2185416"/>
            <a:ext cx="9326880" cy="365760"/>
          </a:xfrm>
          <a:prstGeom prst="rect">
            <a:avLst/>
          </a:prstGeom>
          <a:noFill/>
        </p:spPr>
        <p:txBody>
          <a:bodyPr wrap="square" lIns="0" rIns="0" tIns="0" bIns="0" anchor="t">
            <a:spAutoFit/>
          </a:bodyPr>
          <a:lstStyle/>
          <a:p>
            <a:pPr algn="l"/>
            <a:r>
              <a:rPr sz="1250" b="0">
                <a:solidFill>
                  <a:srgbClr val="63637E"/>
                </a:solidFill>
                <a:latin typeface="Calibri"/>
              </a:rPr>
              <a:t>github.com/Blazehue/Samsung_PRISM-Sentinel (private, shared) · live at samsung-prism-sentinel.onrender.com</a:t>
            </a:r>
          </a:p>
        </p:txBody>
      </p:sp>
      <p:sp>
        <p:nvSpPr>
          <p:cNvPr id="8" name="Rounded Rectangle 7"/>
          <p:cNvSpPr/>
          <p:nvPr/>
        </p:nvSpPr>
        <p:spPr>
          <a:xfrm>
            <a:off x="841248" y="2770632"/>
            <a:ext cx="10442448" cy="91440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51560" y="3008376"/>
            <a:ext cx="438912" cy="438912"/>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008376"/>
            <a:ext cx="438912" cy="438912"/>
          </a:xfrm>
          <a:prstGeom prst="rect">
            <a:avLst/>
          </a:prstGeom>
          <a:noFill/>
        </p:spPr>
        <p:txBody>
          <a:bodyPr wrap="square" lIns="0" rIns="0" tIns="0" bIns="0" anchor="ctr">
            <a:spAutoFit/>
          </a:bodyPr>
          <a:lstStyle/>
          <a:p>
            <a:pPr algn="ctr"/>
            <a:r>
              <a:rPr sz="1400" b="1">
                <a:solidFill>
                  <a:srgbClr val="FFFFFF"/>
                </a:solidFill>
                <a:latin typeface="Arial"/>
              </a:rPr>
              <a:t>Y</a:t>
            </a:r>
          </a:p>
        </p:txBody>
      </p:sp>
      <p:sp>
        <p:nvSpPr>
          <p:cNvPr id="11" name="TextBox 10"/>
          <p:cNvSpPr txBox="1"/>
          <p:nvPr/>
        </p:nvSpPr>
        <p:spPr>
          <a:xfrm>
            <a:off x="1737360" y="2898648"/>
            <a:ext cx="9326880" cy="365760"/>
          </a:xfrm>
          <a:prstGeom prst="rect">
            <a:avLst/>
          </a:prstGeom>
          <a:noFill/>
        </p:spPr>
        <p:txBody>
          <a:bodyPr wrap="square" lIns="0" rIns="0" tIns="0" bIns="0" anchor="t">
            <a:spAutoFit/>
          </a:bodyPr>
          <a:lstStyle/>
          <a:p>
            <a:pPr algn="l"/>
            <a:r>
              <a:rPr sz="1500" b="1">
                <a:solidFill>
                  <a:srgbClr val="14142B"/>
                </a:solidFill>
                <a:latin typeface="Calibri"/>
              </a:rPr>
              <a:t>README with reproducible setup instructions</a:t>
            </a:r>
          </a:p>
        </p:txBody>
      </p:sp>
      <p:sp>
        <p:nvSpPr>
          <p:cNvPr id="12" name="TextBox 11"/>
          <p:cNvSpPr txBox="1"/>
          <p:nvPr/>
        </p:nvSpPr>
        <p:spPr>
          <a:xfrm>
            <a:off x="1737360" y="3264408"/>
            <a:ext cx="9326880" cy="365760"/>
          </a:xfrm>
          <a:prstGeom prst="rect">
            <a:avLst/>
          </a:prstGeom>
          <a:noFill/>
        </p:spPr>
        <p:txBody>
          <a:bodyPr wrap="square" lIns="0" rIns="0" tIns="0" bIns="0" anchor="t">
            <a:spAutoFit/>
          </a:bodyPr>
          <a:lstStyle/>
          <a:p>
            <a:pPr algn="l"/>
            <a:r>
              <a:rPr sz="1250" b="0">
                <a:solidFill>
                  <a:srgbClr val="63637E"/>
                </a:solidFill>
                <a:latin typeface="Calibri"/>
              </a:rPr>
              <a:t>pip / uvicorn or Docker; architecture, results, configuration</a:t>
            </a:r>
          </a:p>
        </p:txBody>
      </p:sp>
      <p:sp>
        <p:nvSpPr>
          <p:cNvPr id="13" name="Rounded Rectangle 12"/>
          <p:cNvSpPr/>
          <p:nvPr/>
        </p:nvSpPr>
        <p:spPr>
          <a:xfrm>
            <a:off x="841248" y="3849624"/>
            <a:ext cx="10442448" cy="91440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51560" y="4087368"/>
            <a:ext cx="438912" cy="438912"/>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087368"/>
            <a:ext cx="438912" cy="438912"/>
          </a:xfrm>
          <a:prstGeom prst="rect">
            <a:avLst/>
          </a:prstGeom>
          <a:noFill/>
        </p:spPr>
        <p:txBody>
          <a:bodyPr wrap="square" lIns="0" rIns="0" tIns="0" bIns="0" anchor="ctr">
            <a:spAutoFit/>
          </a:bodyPr>
          <a:lstStyle/>
          <a:p>
            <a:pPr algn="ctr"/>
            <a:r>
              <a:rPr sz="1400" b="1">
                <a:solidFill>
                  <a:srgbClr val="FFFFFF"/>
                </a:solidFill>
                <a:latin typeface="Arial"/>
              </a:rPr>
              <a:t>Y</a:t>
            </a:r>
          </a:p>
        </p:txBody>
      </p:sp>
      <p:sp>
        <p:nvSpPr>
          <p:cNvPr id="16" name="TextBox 15"/>
          <p:cNvSpPr txBox="1"/>
          <p:nvPr/>
        </p:nvSpPr>
        <p:spPr>
          <a:xfrm>
            <a:off x="1737360" y="3977639"/>
            <a:ext cx="9326880" cy="365760"/>
          </a:xfrm>
          <a:prstGeom prst="rect">
            <a:avLst/>
          </a:prstGeom>
          <a:noFill/>
        </p:spPr>
        <p:txBody>
          <a:bodyPr wrap="square" lIns="0" rIns="0" tIns="0" bIns="0" anchor="t">
            <a:spAutoFit/>
          </a:bodyPr>
          <a:lstStyle/>
          <a:p>
            <a:pPr algn="l"/>
            <a:r>
              <a:rPr sz="1500" b="1">
                <a:solidFill>
                  <a:srgbClr val="14142B"/>
                </a:solidFill>
                <a:latin typeface="Calibri"/>
              </a:rPr>
              <a:t>Demo video, max 5 minutes (YouTube or Drive link)</a:t>
            </a:r>
          </a:p>
        </p:txBody>
      </p:sp>
      <p:sp>
        <p:nvSpPr>
          <p:cNvPr id="17" name="TextBox 16"/>
          <p:cNvSpPr txBox="1"/>
          <p:nvPr/>
        </p:nvSpPr>
        <p:spPr>
          <a:xfrm>
            <a:off x="1737360" y="4343400"/>
            <a:ext cx="9326880" cy="365760"/>
          </a:xfrm>
          <a:prstGeom prst="rect">
            <a:avLst/>
          </a:prstGeom>
          <a:noFill/>
        </p:spPr>
        <p:txBody>
          <a:bodyPr wrap="square" lIns="0" rIns="0" tIns="0" bIns="0" anchor="t">
            <a:spAutoFit/>
          </a:bodyPr>
          <a:lstStyle/>
          <a:p>
            <a:pPr algn="l"/>
            <a:r>
              <a:rPr sz="1250" b="0">
                <a:solidFill>
                  <a:srgbClr val="63637E"/>
                </a:solidFill>
                <a:latin typeface="Calibri"/>
              </a:rPr>
              <a:t>[link]</a:t>
            </a:r>
          </a:p>
        </p:txBody>
      </p:sp>
      <p:sp>
        <p:nvSpPr>
          <p:cNvPr id="18" name="Rounded Rectangle 17"/>
          <p:cNvSpPr/>
          <p:nvPr/>
        </p:nvSpPr>
        <p:spPr>
          <a:xfrm>
            <a:off x="841248" y="4928616"/>
            <a:ext cx="10442448" cy="914400"/>
          </a:xfrm>
          <a:prstGeom prst="roundRect">
            <a:avLst>
              <a:gd name="adj" fmla="val 8000"/>
            </a:avLst>
          </a:prstGeom>
          <a:solidFill>
            <a:srgbClr val="FFFFFF"/>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51560" y="5166360"/>
            <a:ext cx="438912" cy="438912"/>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66360"/>
            <a:ext cx="438912" cy="438912"/>
          </a:xfrm>
          <a:prstGeom prst="rect">
            <a:avLst/>
          </a:prstGeom>
          <a:noFill/>
        </p:spPr>
        <p:txBody>
          <a:bodyPr wrap="square" lIns="0" rIns="0" tIns="0" bIns="0" anchor="ctr">
            <a:spAutoFit/>
          </a:bodyPr>
          <a:lstStyle/>
          <a:p>
            <a:pPr algn="ctr"/>
            <a:r>
              <a:rPr sz="1400" b="1">
                <a:solidFill>
                  <a:srgbClr val="FFFFFF"/>
                </a:solidFill>
                <a:latin typeface="Arial"/>
              </a:rPr>
              <a:t>Y</a:t>
            </a:r>
          </a:p>
        </p:txBody>
      </p:sp>
      <p:sp>
        <p:nvSpPr>
          <p:cNvPr id="21" name="TextBox 20"/>
          <p:cNvSpPr txBox="1"/>
          <p:nvPr/>
        </p:nvSpPr>
        <p:spPr>
          <a:xfrm>
            <a:off x="1737360" y="5056632"/>
            <a:ext cx="9326880" cy="365760"/>
          </a:xfrm>
          <a:prstGeom prst="rect">
            <a:avLst/>
          </a:prstGeom>
          <a:noFill/>
        </p:spPr>
        <p:txBody>
          <a:bodyPr wrap="square" lIns="0" rIns="0" tIns="0" bIns="0" anchor="t">
            <a:spAutoFit/>
          </a:bodyPr>
          <a:lstStyle/>
          <a:p>
            <a:pPr algn="l"/>
            <a:r>
              <a:rPr sz="1500" b="1">
                <a:solidFill>
                  <a:srgbClr val="14142B"/>
                </a:solidFill>
                <a:latin typeface="Calibri"/>
              </a:rPr>
              <a:t>Presentation file (PPT or PDF)</a:t>
            </a:r>
          </a:p>
        </p:txBody>
      </p:sp>
      <p:sp>
        <p:nvSpPr>
          <p:cNvPr id="22" name="TextBox 21"/>
          <p:cNvSpPr txBox="1"/>
          <p:nvPr/>
        </p:nvSpPr>
        <p:spPr>
          <a:xfrm>
            <a:off x="1737360" y="5422392"/>
            <a:ext cx="9326880" cy="365760"/>
          </a:xfrm>
          <a:prstGeom prst="rect">
            <a:avLst/>
          </a:prstGeom>
          <a:noFill/>
        </p:spPr>
        <p:txBody>
          <a:bodyPr wrap="square" lIns="0" rIns="0" tIns="0" bIns="0" anchor="t">
            <a:spAutoFit/>
          </a:bodyPr>
          <a:lstStyle/>
          <a:p>
            <a:pPr algn="l"/>
            <a:r>
              <a:rPr sz="1250" b="0">
                <a:solidFill>
                  <a:srgbClr val="63637E"/>
                </a:solidFill>
                <a:latin typeface="Calibri"/>
              </a:rPr>
              <a:t>this deck · CollegeName_HeavenlyRestriction</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1042415" y="4663440"/>
            <a:ext cx="9601200" cy="1005840"/>
          </a:xfrm>
          <a:prstGeom prst="rect">
            <a:avLst/>
          </a:prstGeom>
          <a:noFill/>
        </p:spPr>
        <p:txBody>
          <a:bodyPr wrap="square" lIns="0" rIns="0" tIns="0" bIns="0" anchor="t">
            <a:spAutoFit/>
          </a:bodyPr>
          <a:lstStyle/>
          <a:p>
            <a:pPr algn="l"/>
            <a:r>
              <a:rPr sz="1800" b="1">
                <a:solidFill>
                  <a:srgbClr val="14142B"/>
                </a:solidFill>
                <a:latin typeface="Arial"/>
              </a:rPr>
              <a:t>Heavenly Restriction · Rajat Pandey &amp; Aryan Singh</a:t>
            </a:r>
          </a:p>
          <a:p>
            <a:pPr algn="l"/>
            <a:r>
              <a:rPr sz="1300" b="0">
                <a:solidFill>
                  <a:srgbClr val="63637E"/>
                </a:solidFill>
                <a:latin typeface="Calibri"/>
              </a:rPr>
              <a:t>samsung-prism-sentinel.onrender.com   ·   github.com/Blazehue/Samsung_PRISM-Sentinel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