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07" name="Shape 107"/>
          <p:cNvSpPr/>
          <p:nvPr>
            <p:ph type="sldImg"/>
          </p:nvPr>
        </p:nvSpPr>
        <p:spPr>
          <a:xfrm>
            <a:off x="1143000" y="685800"/>
            <a:ext cx="4572000" cy="3429000"/>
          </a:xfrm>
          <a:prstGeom prst="rect">
            <a:avLst/>
          </a:prstGeom>
        </p:spPr>
        <p:txBody>
          <a:bodyPr/>
          <a:lstStyle/>
          <a:p>
            <a:pPr/>
          </a:p>
        </p:txBody>
      </p:sp>
      <p:sp>
        <p:nvSpPr>
          <p:cNvPr id="108" name="Shape 10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Shape 117"/>
          <p:cNvSpPr/>
          <p:nvPr>
            <p:ph type="sldImg"/>
          </p:nvPr>
        </p:nvSpPr>
        <p:spPr>
          <a:prstGeom prst="rect">
            <a:avLst/>
          </a:prstGeom>
        </p:spPr>
        <p:txBody>
          <a:bodyPr/>
          <a:lstStyle/>
          <a:p>
            <a:pPr/>
          </a:p>
        </p:txBody>
      </p:sp>
      <p:sp>
        <p:nvSpPr>
          <p:cNvPr id="118" name="Shape 118"/>
          <p:cNvSpPr/>
          <p:nvPr>
            <p:ph type="body" sz="quarter" idx="1"/>
          </p:nvPr>
        </p:nvSpPr>
        <p:spPr>
          <a:prstGeom prst="rect">
            <a:avLst/>
          </a:prstGeom>
        </p:spPr>
        <p:txBody>
          <a:bodyPr/>
          <a:lstStyle/>
          <a:p>
            <a:pPr/>
            <a:r>
              <a:t>Hi, we are team Heavenly Restriction — Rajat Pandey and Aryan Singh — on Theme 02, Guided Troubleshooting. We built SGTE, the Smart Guided Troubleshooting Engine. The code is on GitHub and the API and simulator are live on Render.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9" name="Shape 149"/>
          <p:cNvSpPr/>
          <p:nvPr>
            <p:ph type="sldImg"/>
          </p:nvPr>
        </p:nvSpPr>
        <p:spPr>
          <a:prstGeom prst="rect">
            <a:avLst/>
          </a:prstGeom>
        </p:spPr>
        <p:txBody>
          <a:bodyPr/>
          <a:lstStyle/>
          <a:p>
            <a:pPr/>
          </a:p>
        </p:txBody>
      </p:sp>
      <p:sp>
        <p:nvSpPr>
          <p:cNvPr id="150" name="Shape 150"/>
          <p:cNvSpPr/>
          <p:nvPr>
            <p:ph type="body" sz="quarter" idx="1"/>
          </p:nvPr>
        </p:nvSpPr>
        <p:spPr>
          <a:prstGeom prst="rect">
            <a:avLst/>
          </a:prstGeom>
        </p:spPr>
        <p:txBody>
          <a:bodyPr/>
          <a:lstStyle/>
          <a:p>
            <a:pPr/>
            <a:r>
              <a:t>Theme 2 asks for an API that takes a vague complaint plus a Samsung SIIS knowledge article and returns a structured, deeplinked troubleshooting plan. Steps must come from the article, links from a masked catalogue of 578 entries, and repeats must be answered in under 300 milliseconds.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 name="Shape 191"/>
          <p:cNvSpPr/>
          <p:nvPr>
            <p:ph type="sldImg"/>
          </p:nvPr>
        </p:nvSpPr>
        <p:spPr>
          <a:prstGeom prst="rect">
            <a:avLst/>
          </a:prstGeom>
        </p:spPr>
        <p:txBody>
          <a:bodyPr/>
          <a:lstStyle/>
          <a:p>
            <a:pPr/>
          </a:p>
        </p:txBody>
      </p:sp>
      <p:sp>
        <p:nvSpPr>
          <p:cNvPr id="192" name="Shape 192"/>
          <p:cNvSpPr/>
          <p:nvPr>
            <p:ph type="body" sz="quarter" idx="1"/>
          </p:nvPr>
        </p:nvSpPr>
        <p:spPr>
          <a:prstGeom prst="rect">
            <a:avLst/>
          </a:prstGeom>
        </p:spPr>
        <p:txBody>
          <a:bodyPr/>
          <a:lstStyle/>
          <a:p>
            <a:pPr/>
            <a:r>
              <a:t>Today this is manual: an agent reads the article and texts steps, around fifteen minutes a scenario. Search bots return articles, not plans, and land on parent menus. A plain LLM is fluent but invents steps and links, and is slow and costly per query. Nothing gives grounded steps, exact deeplinks, safe order and speed together.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9" name="Shape 239"/>
          <p:cNvSpPr/>
          <p:nvPr>
            <p:ph type="sldImg"/>
          </p:nvPr>
        </p:nvSpPr>
        <p:spPr>
          <a:prstGeom prst="rect">
            <a:avLst/>
          </a:prstGeom>
        </p:spPr>
        <p:txBody>
          <a:bodyPr/>
          <a:lstStyle/>
          <a:p>
            <a:pPr/>
          </a:p>
        </p:txBody>
      </p:sp>
      <p:sp>
        <p:nvSpPr>
          <p:cNvPr id="240" name="Shape 240"/>
          <p:cNvSpPr/>
          <p:nvPr>
            <p:ph type="body" sz="quarter" idx="1"/>
          </p:nvPr>
        </p:nvSpPr>
        <p:spPr>
          <a:prstGeom prst="rect">
            <a:avLst/>
          </a:prstGeom>
        </p:spPr>
        <p:txBody>
          <a:bodyPr/>
          <a:lstStyle/>
          <a:p>
            <a:pPr/>
            <a:r>
              <a:t>The pipeline follows the guide's five stages. Stage zero enriches the query. Stage one parses the article into actions, one interaction per step, copied word for word. Stage two maps each step group to the exact catalogue entry and orders actions from least to most disruptive. Gemini only refines on cache misses — topic names, descriptions, a closed-set choice between catalogue candidates — with a five-second budget and a fallback. The cache answers repeats and paraphrases in about a millisecond.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1" name="Shape 261"/>
          <p:cNvSpPr/>
          <p:nvPr>
            <p:ph type="sldImg"/>
          </p:nvPr>
        </p:nvSpPr>
        <p:spPr>
          <a:prstGeom prst="rect">
            <a:avLst/>
          </a:prstGeom>
        </p:spPr>
        <p:txBody>
          <a:bodyPr/>
          <a:lstStyle/>
          <a:p>
            <a:pPr/>
          </a:p>
        </p:txBody>
      </p:sp>
      <p:sp>
        <p:nvSpPr>
          <p:cNvPr id="262" name="Shape 262"/>
          <p:cNvSpPr/>
          <p:nvPr>
            <p:ph type="body" sz="quarter" idx="1"/>
          </p:nvPr>
        </p:nvSpPr>
        <p:spPr>
          <a:prstGeom prst="rect">
            <a:avLst/>
          </a:prstGeom>
        </p:spPr>
        <p:txBody>
          <a:bodyPr/>
          <a:lstStyle/>
          <a:p>
            <a:pPr/>
            <a:r>
              <a:t>Here's the simulator on the live deployment. We pick a kit case; the plan shows the goal, the actions in order, and each step group's deeplink and validation. Repeat and Paraphrase show cache hits in about a millisecond. The phone walks through the fix, opens the Settings screen and verifies it. The benchmark runs every gate from the browser.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Shape 305"/>
          <p:cNvSpPr/>
          <p:nvPr>
            <p:ph type="sldImg"/>
          </p:nvPr>
        </p:nvSpPr>
        <p:spPr>
          <a:prstGeom prst="rect">
            <a:avLst/>
          </a:prstGeom>
        </p:spPr>
        <p:txBody>
          <a:bodyPr/>
          <a:lstStyle/>
          <a:p>
            <a:pPr/>
          </a:p>
        </p:txBody>
      </p:sp>
      <p:sp>
        <p:nvSpPr>
          <p:cNvPr id="306" name="Shape 306"/>
          <p:cNvSpPr/>
          <p:nvPr>
            <p:ph type="body" sz="quarter" idx="1"/>
          </p:nvPr>
        </p:nvSpPr>
        <p:spPr>
          <a:prstGeom prst="rect">
            <a:avLst/>
          </a:prstGeom>
        </p:spPr>
        <p:txBody>
          <a:bodyPr/>
          <a:lstStyle/>
          <a:p>
            <a:pPr/>
            <a:r>
              <a:t>Everything is Python 3.12 and FastAPI, validated with Pydantic against the kit's own schema. Retrieval is BM25 plus hashed embeddings in pure Python, so cold starts are instant. Gemini 3.5 Flash-Lite refines plans, with 3.1 Flash-Lite as fallback. It ships as one Docker container on Render, with 78 offline tests.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1" name="Shape 331"/>
          <p:cNvSpPr/>
          <p:nvPr>
            <p:ph type="sldImg"/>
          </p:nvPr>
        </p:nvSpPr>
        <p:spPr>
          <a:prstGeom prst="rect">
            <a:avLst/>
          </a:prstGeom>
        </p:spPr>
        <p:txBody>
          <a:bodyPr/>
          <a:lstStyle/>
          <a:p>
            <a:pPr/>
          </a:p>
        </p:txBody>
      </p:sp>
      <p:sp>
        <p:nvSpPr>
          <p:cNvPr id="332" name="Shape 332"/>
          <p:cNvSpPr/>
          <p:nvPr>
            <p:ph type="body" sz="quarter" idx="1"/>
          </p:nvPr>
        </p:nvSpPr>
        <p:spPr>
          <a:prstGeom prst="rect">
            <a:avLst/>
          </a:prstGeom>
        </p:spPr>
        <p:txBody>
          <a:bodyPr/>
          <a:lstStyle/>
          <a:p>
            <a:pPr/>
            <a:r>
              <a:t>Impact: a scenario that takes an agent around fifteen minutes is answered in about a millisecond once cached, with a one-tap deeplink and a validation check. It fits self-service, agent assist and assistant flows, at zero model cost for repeat questions.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Shape 358"/>
          <p:cNvSpPr/>
          <p:nvPr>
            <p:ph type="sldImg"/>
          </p:nvPr>
        </p:nvSpPr>
        <p:spPr>
          <a:prstGeom prst="rect">
            <a:avLst/>
          </a:prstGeom>
        </p:spPr>
        <p:txBody>
          <a:bodyPr/>
          <a:lstStyle/>
          <a:p>
            <a:pPr/>
          </a:p>
        </p:txBody>
      </p:sp>
      <p:sp>
        <p:nvSpPr>
          <p:cNvPr id="359" name="Shape 359"/>
          <p:cNvSpPr/>
          <p:nvPr>
            <p:ph type="body" sz="quarter" idx="1"/>
          </p:nvPr>
        </p:nvSpPr>
        <p:spPr>
          <a:prstGeom prst="rect">
            <a:avLst/>
          </a:prstGeom>
        </p:spPr>
        <p:txBody>
          <a:bodyPr/>
          <a:lstStyle/>
          <a:p>
            <a:pPr/>
            <a:r>
              <a:t>Innovations: a paraphrase cache that is byte-identical to a fresh answer, Gemini constrained to a closed shortlist, and an exact-label catalogue index. Results: every gate passes on the live URL, step accuracy 2.91 of 3, deeplink relevance 2 of 2 across all 572 reachable entries, all 349 steps grounded, 100% paraphrase hits. Limitations are listed honestly on the right.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Next we'd build an engineer's view that shows why each decision was made, connect live SIIS articles and outcome telemetry, and add multilingual queries and an on-device model. It's a good fit for a PRISM worklet because it is deterministic, auditable and cheap to run.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r>
              <a:t>What sets us apart: a phone simulator that opens deeplinks and verifies them, the guide's own worked example reproduced with a real catalogue link, a sweep of the whole catalogue, Gemini used with strict guardrails, and metrics generated from real runs.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2" name="Shape 432"/>
          <p:cNvSpPr/>
          <p:nvPr>
            <p:ph type="sldImg"/>
          </p:nvPr>
        </p:nvSpPr>
        <p:spPr>
          <a:prstGeom prst="rect">
            <a:avLst/>
          </a:prstGeom>
        </p:spPr>
        <p:txBody>
          <a:bodyPr/>
          <a:lstStyle/>
          <a:p>
            <a:pPr/>
          </a:p>
        </p:txBody>
      </p:sp>
      <p:sp>
        <p:nvSpPr>
          <p:cNvPr id="433" name="Shape 433"/>
          <p:cNvSpPr/>
          <p:nvPr>
            <p:ph type="body" sz="quarter" idx="1"/>
          </p:nvPr>
        </p:nvSpPr>
        <p:spPr>
          <a:prstGeom prst="rect">
            <a:avLst/>
          </a:prstGeom>
        </p:spPr>
        <p:txBody>
          <a:bodyPr/>
          <a:lstStyle/>
          <a:p>
            <a:pPr/>
            <a:r>
              <a:t>Checklist: code on GitHub, shared with the judges; README with setup and Docker; the demo video; and this deck.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8" name="Shape 438"/>
          <p:cNvSpPr/>
          <p:nvPr>
            <p:ph type="sldImg"/>
          </p:nvPr>
        </p:nvSpPr>
        <p:spPr>
          <a:prstGeom prst="rect">
            <a:avLst/>
          </a:prstGeom>
        </p:spPr>
        <p:txBody>
          <a:bodyPr/>
          <a:lstStyle/>
          <a:p>
            <a:pPr/>
          </a:p>
        </p:txBody>
      </p:sp>
      <p:sp>
        <p:nvSpPr>
          <p:cNvPr id="439" name="Shape 439"/>
          <p:cNvSpPr/>
          <p:nvPr>
            <p:ph type="body" sz="quarter" idx="1"/>
          </p:nvPr>
        </p:nvSpPr>
        <p:spPr>
          <a:prstGeom prst="rect">
            <a:avLst/>
          </a:prstGeom>
        </p:spPr>
        <p:txBody>
          <a:bodyPr/>
          <a:lstStyle/>
          <a:p>
            <a:pPr/>
            <a:r>
              <a:t>Thank you. Try it at samsung-prism-sentinel.onrender.com.</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1524000" y="1122362"/>
            <a:ext cx="9144000" cy="2387601"/>
          </a:xfrm>
          <a:prstGeom prst="rect">
            <a:avLst/>
          </a:prstGeom>
        </p:spPr>
        <p:txBody>
          <a:bodyPr anchor="b"/>
          <a:lstStyle>
            <a:lvl1pPr algn="ctr">
              <a:defRPr sz="6000"/>
            </a:lvl1pPr>
          </a:lstStyle>
          <a:p>
            <a:pPr/>
            <a:r>
              <a:t>Title Text</a:t>
            </a:r>
          </a:p>
        </p:txBody>
      </p:sp>
      <p:sp>
        <p:nvSpPr>
          <p:cNvPr id="12" name="Body Level One…"/>
          <p:cNvSpPr txBox="1"/>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prstGeom prst="rect">
            <a:avLst/>
          </a:prstGeom>
        </p:spPr>
        <p:txBody>
          <a:bodyPr/>
          <a:lstStyle/>
          <a:p>
            <a:pPr/>
            <a:r>
              <a:t>Title Text</a:t>
            </a:r>
          </a:p>
        </p:txBody>
      </p:sp>
      <p:sp>
        <p:nvSpPr>
          <p:cNvPr id="21"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0">
    <p:spTree>
      <p:nvGrpSpPr>
        <p:cNvPr id="1" name=""/>
        <p:cNvGrpSpPr/>
        <p:nvPr/>
      </p:nvGrpSpPr>
      <p:grpSpPr>
        <a:xfrm>
          <a:off x="0" y="0"/>
          <a:ext cx="0" cy="0"/>
          <a:chOff x="0" y="0"/>
          <a:chExt cx="0" cy="0"/>
        </a:xfrm>
      </p:grpSpPr>
      <p:sp>
        <p:nvSpPr>
          <p:cNvPr id="29" name="Title Text"/>
          <p:cNvSpPr txBox="1"/>
          <p:nvPr>
            <p:ph type="title"/>
          </p:nvPr>
        </p:nvSpPr>
        <p:spPr>
          <a:prstGeom prst="rect">
            <a:avLst/>
          </a:prstGeom>
        </p:spPr>
        <p:txBody>
          <a:bodyPr/>
          <a:lstStyle/>
          <a:p>
            <a:pPr/>
            <a:r>
              <a:t>Title Text</a:t>
            </a:r>
          </a:p>
        </p:txBody>
      </p:sp>
      <p:sp>
        <p:nvSpPr>
          <p:cNvPr id="30"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38" name="Title Text"/>
          <p:cNvSpPr txBox="1"/>
          <p:nvPr>
            <p:ph type="title"/>
          </p:nvPr>
        </p:nvSpPr>
        <p:spPr>
          <a:xfrm>
            <a:off x="831850" y="1709738"/>
            <a:ext cx="10515600" cy="2852737"/>
          </a:xfrm>
          <a:prstGeom prst="rect">
            <a:avLst/>
          </a:prstGeom>
        </p:spPr>
        <p:txBody>
          <a:bodyPr anchor="b"/>
          <a:lstStyle>
            <a:lvl1pPr>
              <a:defRPr sz="6000"/>
            </a:lvl1pPr>
          </a:lstStyle>
          <a:p>
            <a:pPr/>
            <a:r>
              <a:t>Title Text</a:t>
            </a:r>
          </a:p>
        </p:txBody>
      </p:sp>
      <p:sp>
        <p:nvSpPr>
          <p:cNvPr id="39" name="Body Level One…"/>
          <p:cNvSpPr txBox="1"/>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Body Level One…"/>
          <p:cNvSpPr txBox="1"/>
          <p:nvPr>
            <p:ph type="body" sz="half" idx="1"/>
          </p:nvPr>
        </p:nvSpPr>
        <p:spPr>
          <a:xfrm>
            <a:off x="838200" y="1825625"/>
            <a:ext cx="5181600" cy="4351338"/>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4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56" name="Title Text"/>
          <p:cNvSpPr txBox="1"/>
          <p:nvPr>
            <p:ph type="title"/>
          </p:nvPr>
        </p:nvSpPr>
        <p:spPr>
          <a:xfrm>
            <a:off x="839787" y="365125"/>
            <a:ext cx="10515601" cy="1325563"/>
          </a:xfrm>
          <a:prstGeom prst="rect">
            <a:avLst/>
          </a:prstGeom>
        </p:spPr>
        <p:txBody>
          <a:bodyPr/>
          <a:lstStyle/>
          <a:p>
            <a:pPr/>
            <a:r>
              <a:t>Title Text</a:t>
            </a:r>
          </a:p>
        </p:txBody>
      </p:sp>
      <p:sp>
        <p:nvSpPr>
          <p:cNvPr id="57" name="Body Level One…"/>
          <p:cNvSpPr txBox="1"/>
          <p:nvPr>
            <p:ph type="body" sz="quarter" idx="1"/>
          </p:nvPr>
        </p:nvSpPr>
        <p:spPr>
          <a:xfrm>
            <a:off x="839787" y="1681163"/>
            <a:ext cx="5157789" cy="823913"/>
          </a:xfrm>
          <a:prstGeom prst="rect">
            <a:avLst/>
          </a:prstGeom>
        </p:spPr>
        <p:txBody>
          <a:bodyPr anchor="b"/>
          <a:lstStyle>
            <a:lvl1pPr marL="0" indent="0">
              <a:buSzTx/>
              <a:buFontTx/>
              <a:buNone/>
              <a:defRPr b="1" sz="2400"/>
            </a:lvl1pPr>
            <a:lvl2pPr marL="0" indent="457200">
              <a:buSzTx/>
              <a:buFontTx/>
              <a:buNone/>
              <a:defRPr b="1" sz="2400"/>
            </a:lvl2pPr>
            <a:lvl3pPr marL="0" indent="914400">
              <a:buSzTx/>
              <a:buFontTx/>
              <a:buNone/>
              <a:defRPr b="1" sz="2400"/>
            </a:lvl3pPr>
            <a:lvl4pPr marL="0" indent="1371600">
              <a:buSzTx/>
              <a:buFontTx/>
              <a:buNone/>
              <a:defRPr b="1" sz="2400"/>
            </a:lvl4pPr>
            <a:lvl5pPr marL="0" indent="1828800">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58" name="Text Placeholder 4"/>
          <p:cNvSpPr/>
          <p:nvPr>
            <p:ph type="body" sz="quarter" idx="21"/>
          </p:nvPr>
        </p:nvSpPr>
        <p:spPr>
          <a:xfrm>
            <a:off x="6172200" y="1681163"/>
            <a:ext cx="5183188" cy="823913"/>
          </a:xfrm>
          <a:prstGeom prst="rect">
            <a:avLst/>
          </a:prstGeom>
        </p:spPr>
        <p:txBody>
          <a:bodyPr anchor="b"/>
          <a:lstStyle/>
          <a:p>
            <a:pPr marL="0" indent="0">
              <a:buSzTx/>
              <a:buFontTx/>
              <a:buNone/>
              <a:defRPr b="1" sz="2400"/>
            </a:pPr>
          </a:p>
        </p:txBody>
      </p:sp>
      <p:sp>
        <p:nvSpPr>
          <p:cNvPr id="5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66" name="Title Text"/>
          <p:cNvSpPr txBox="1"/>
          <p:nvPr>
            <p:ph type="title"/>
          </p:nvPr>
        </p:nvSpPr>
        <p:spPr>
          <a:prstGeom prst="rect">
            <a:avLst/>
          </a:prstGeom>
        </p:spPr>
        <p:txBody>
          <a:bodyPr/>
          <a:lstStyle/>
          <a:p>
            <a:pPr/>
            <a:r>
              <a:t>Title Text</a:t>
            </a:r>
          </a:p>
        </p:txBody>
      </p:sp>
      <p:sp>
        <p:nvSpPr>
          <p:cNvPr id="6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81" name="Title Text"/>
          <p:cNvSpPr txBox="1"/>
          <p:nvPr>
            <p:ph type="title"/>
          </p:nvPr>
        </p:nvSpPr>
        <p:spPr>
          <a:xfrm>
            <a:off x="839787" y="457200"/>
            <a:ext cx="3932239" cy="1600200"/>
          </a:xfrm>
          <a:prstGeom prst="rect">
            <a:avLst/>
          </a:prstGeom>
        </p:spPr>
        <p:txBody>
          <a:bodyPr anchor="b"/>
          <a:lstStyle>
            <a:lvl1pPr>
              <a:defRPr sz="3200"/>
            </a:lvl1pPr>
          </a:lstStyle>
          <a:p>
            <a:pPr/>
            <a:r>
              <a:t>Title Text</a:t>
            </a:r>
          </a:p>
        </p:txBody>
      </p:sp>
      <p:sp>
        <p:nvSpPr>
          <p:cNvPr id="82" name="Body Level One…"/>
          <p:cNvSpPr txBox="1"/>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pPr/>
            <a:r>
              <a:t>Body Level One</a:t>
            </a:r>
          </a:p>
          <a:p>
            <a:pPr lvl="1"/>
            <a:r>
              <a:t>Body Level Two</a:t>
            </a:r>
          </a:p>
          <a:p>
            <a:pPr lvl="2"/>
            <a:r>
              <a:t>Body Level Three</a:t>
            </a:r>
          </a:p>
          <a:p>
            <a:pPr lvl="3"/>
            <a:r>
              <a:t>Body Level Four</a:t>
            </a:r>
          </a:p>
          <a:p>
            <a:pPr lvl="4"/>
            <a:r>
              <a:t>Body Level Five</a:t>
            </a:r>
          </a:p>
        </p:txBody>
      </p:sp>
      <p:sp>
        <p:nvSpPr>
          <p:cNvPr id="83" name="Text Placeholder 3"/>
          <p:cNvSpPr/>
          <p:nvPr>
            <p:ph type="body" sz="quarter" idx="21"/>
          </p:nvPr>
        </p:nvSpPr>
        <p:spPr>
          <a:xfrm>
            <a:off x="839787" y="2057400"/>
            <a:ext cx="3932238" cy="3811588"/>
          </a:xfrm>
          <a:prstGeom prst="rect">
            <a:avLst/>
          </a:prstGeom>
        </p:spPr>
        <p:txBody>
          <a:bodyPr/>
          <a:lstStyle/>
          <a:p>
            <a:pPr marL="0" indent="0">
              <a:buSzTx/>
              <a:buFontTx/>
              <a:buNone/>
              <a:defRPr sz="1600"/>
            </a:pP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91" name="Title Text"/>
          <p:cNvSpPr txBox="1"/>
          <p:nvPr>
            <p:ph type="title"/>
          </p:nvPr>
        </p:nvSpPr>
        <p:spPr>
          <a:xfrm>
            <a:off x="839787" y="457200"/>
            <a:ext cx="3932239" cy="1600200"/>
          </a:xfrm>
          <a:prstGeom prst="rect">
            <a:avLst/>
          </a:prstGeom>
        </p:spPr>
        <p:txBody>
          <a:bodyPr anchor="b"/>
          <a:lstStyle>
            <a:lvl1pPr>
              <a:defRPr sz="3200"/>
            </a:lvl1pPr>
          </a:lstStyle>
          <a:p>
            <a:pPr/>
            <a:r>
              <a:t>Title Text</a:t>
            </a:r>
          </a:p>
        </p:txBody>
      </p:sp>
      <p:sp>
        <p:nvSpPr>
          <p:cNvPr id="92" name="Picture Placeholder 2"/>
          <p:cNvSpPr/>
          <p:nvPr>
            <p:ph type="pic" sz="half" idx="21"/>
          </p:nvPr>
        </p:nvSpPr>
        <p:spPr>
          <a:xfrm>
            <a:off x="5183187" y="987425"/>
            <a:ext cx="6172201" cy="4873625"/>
          </a:xfrm>
          <a:prstGeom prst="rect">
            <a:avLst/>
          </a:prstGeom>
        </p:spPr>
        <p:txBody>
          <a:bodyPr lIns="91439" rIns="91439">
            <a:noAutofit/>
          </a:bodyPr>
          <a:lstStyle/>
          <a:p>
            <a:pPr/>
          </a:p>
        </p:txBody>
      </p:sp>
      <p:sp>
        <p:nvSpPr>
          <p:cNvPr id="93" name="Body Level One…"/>
          <p:cNvSpPr txBox="1"/>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pPr/>
            <a:r>
              <a:t>Body Level One</a:t>
            </a:r>
          </a:p>
          <a:p>
            <a:pPr lvl="1"/>
            <a:r>
              <a:t>Body Level Two</a:t>
            </a:r>
          </a:p>
          <a:p>
            <a:pPr lvl="2"/>
            <a:r>
              <a:t>Body Level Three</a:t>
            </a:r>
          </a:p>
          <a:p>
            <a:pPr lvl="3"/>
            <a:r>
              <a:t>Body Level Four</a:t>
            </a:r>
          </a:p>
          <a:p>
            <a:pPr lvl="4"/>
            <a:r>
              <a:t>Body Level Five</a:t>
            </a:r>
          </a:p>
        </p:txBody>
      </p:sp>
      <p:sp>
        <p:nvSpPr>
          <p:cNvPr id="9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01"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838200" y="365125"/>
            <a:ext cx="10515600" cy="1325563"/>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838200" y="1825625"/>
            <a:ext cx="10515600" cy="435133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hyperlink" Target="mailto:as2001@srmist.edu.in" TargetMode="External"/><Relationship Id="rId4"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Shape 0"/>
          <p:cNvSpPr/>
          <p:nvPr/>
        </p:nvSpPr>
        <p:spPr>
          <a:xfrm>
            <a:off x="777240" y="676655"/>
            <a:ext cx="2423161" cy="347473"/>
          </a:xfrm>
          <a:prstGeom prst="roundRect">
            <a:avLst>
              <a:gd name="adj" fmla="val 50000"/>
            </a:avLst>
          </a:prstGeom>
          <a:solidFill>
            <a:srgbClr val="FFFFFF"/>
          </a:solidFill>
          <a:ln w="12700">
            <a:solidFill>
              <a:srgbClr val="D9D3F0"/>
            </a:solidFill>
          </a:ln>
        </p:spPr>
        <p:txBody>
          <a:bodyPr lIns="45719" rIns="45719"/>
          <a:lstStyle/>
          <a:p>
            <a:pPr/>
          </a:p>
        </p:txBody>
      </p:sp>
      <p:sp>
        <p:nvSpPr>
          <p:cNvPr id="111" name="Text 1"/>
          <p:cNvSpPr txBox="1"/>
          <p:nvPr/>
        </p:nvSpPr>
        <p:spPr>
          <a:xfrm>
            <a:off x="777240" y="776477"/>
            <a:ext cx="2423161"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pc="110" sz="1100">
                <a:solidFill>
                  <a:srgbClr val="6D28D9"/>
                </a:solidFill>
                <a:latin typeface="Arial"/>
                <a:ea typeface="Arial"/>
                <a:cs typeface="Arial"/>
                <a:sym typeface="Arial"/>
              </a:defRPr>
            </a:lvl1pPr>
          </a:lstStyle>
          <a:p>
            <a:pPr/>
            <a:r>
              <a:t>SAMSUNG PRISM</a:t>
            </a:r>
          </a:p>
        </p:txBody>
      </p:sp>
      <p:sp>
        <p:nvSpPr>
          <p:cNvPr id="112" name="Text 2"/>
          <p:cNvSpPr txBox="1"/>
          <p:nvPr/>
        </p:nvSpPr>
        <p:spPr>
          <a:xfrm>
            <a:off x="777240" y="1223998"/>
            <a:ext cx="6126480" cy="7158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5000">
                <a:solidFill>
                  <a:srgbClr val="14142B"/>
                </a:solidFill>
                <a:latin typeface="Arial"/>
                <a:ea typeface="Arial"/>
                <a:cs typeface="Arial"/>
                <a:sym typeface="Arial"/>
              </a:defRPr>
            </a:lvl1pPr>
          </a:lstStyle>
          <a:p>
            <a:pPr/>
            <a:r>
              <a:t>Generative AI</a:t>
            </a:r>
          </a:p>
        </p:txBody>
      </p:sp>
      <p:sp>
        <p:nvSpPr>
          <p:cNvPr id="113" name="Text 3"/>
          <p:cNvSpPr txBox="1"/>
          <p:nvPr/>
        </p:nvSpPr>
        <p:spPr>
          <a:xfrm>
            <a:off x="777240" y="1918942"/>
            <a:ext cx="6126480" cy="7158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5000">
                <a:solidFill>
                  <a:srgbClr val="6D28D9"/>
                </a:solidFill>
                <a:latin typeface="Arial"/>
                <a:ea typeface="Arial"/>
                <a:cs typeface="Arial"/>
                <a:sym typeface="Arial"/>
              </a:defRPr>
            </a:lvl1pPr>
          </a:lstStyle>
          <a:p>
            <a:pPr/>
            <a:r>
              <a:t>Hackathon</a:t>
            </a:r>
          </a:p>
        </p:txBody>
      </p:sp>
      <p:sp>
        <p:nvSpPr>
          <p:cNvPr id="114" name="Text 4"/>
          <p:cNvSpPr txBox="1"/>
          <p:nvPr/>
        </p:nvSpPr>
        <p:spPr>
          <a:xfrm>
            <a:off x="777240" y="2774555"/>
            <a:ext cx="6126480" cy="3579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2500">
                <a:solidFill>
                  <a:srgbClr val="14142B"/>
                </a:solidFill>
                <a:latin typeface="Arial"/>
                <a:ea typeface="Arial"/>
                <a:cs typeface="Arial"/>
                <a:sym typeface="Arial"/>
              </a:defRPr>
            </a:pPr>
            <a:r>
              <a:t>3rd Edition</a:t>
            </a:r>
            <a:r>
              <a:rPr b="0" sz="2000">
                <a:solidFill>
                  <a:srgbClr val="63637E"/>
                </a:solidFill>
                <a:latin typeface="+mj-lt"/>
                <a:ea typeface="+mj-ea"/>
                <a:cs typeface="+mj-cs"/>
                <a:sym typeface="Calibri"/>
              </a:rPr>
              <a:t>   2026 – 27</a:t>
            </a:r>
          </a:p>
        </p:txBody>
      </p:sp>
      <p:sp>
        <p:nvSpPr>
          <p:cNvPr id="115" name="Text 5"/>
          <p:cNvSpPr txBox="1"/>
          <p:nvPr/>
        </p:nvSpPr>
        <p:spPr>
          <a:xfrm>
            <a:off x="777239" y="3310128"/>
            <a:ext cx="6217922" cy="2368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77800" indent="-177800">
              <a:spcBef>
                <a:spcPts val="500"/>
              </a:spcBef>
              <a:buSzPct val="100000"/>
              <a:buChar char="•"/>
              <a:defRPr sz="1600">
                <a:solidFill>
                  <a:srgbClr val="63637E"/>
                </a:solidFill>
              </a:defRPr>
            </a:pPr>
            <a:r>
              <a:t>Theme ID - Theme 02 · Guided Troubleshooting</a:t>
            </a:r>
          </a:p>
          <a:p>
            <a:pPr marL="177800" indent="-177800">
              <a:spcBef>
                <a:spcPts val="500"/>
              </a:spcBef>
              <a:buSzPct val="100000"/>
              <a:buChar char="•"/>
              <a:defRPr sz="1600">
                <a:solidFill>
                  <a:srgbClr val="63637E"/>
                </a:solidFill>
              </a:defRPr>
            </a:pPr>
            <a:r>
              <a:t>Team Name - Heavenly Restriction</a:t>
            </a:r>
          </a:p>
          <a:p>
            <a:pPr marL="177800" indent="-177800">
              <a:spcBef>
                <a:spcPts val="500"/>
              </a:spcBef>
              <a:buSzPct val="100000"/>
              <a:buChar char="•"/>
              <a:defRPr sz="1600">
                <a:solidFill>
                  <a:srgbClr val="63637E"/>
                </a:solidFill>
              </a:defRPr>
            </a:pPr>
            <a:r>
              <a:t>College Name - SRM Institute Of Science And Technology</a:t>
            </a:r>
          </a:p>
          <a:p>
            <a:pPr marL="177800" indent="-177800">
              <a:spcBef>
                <a:spcPts val="500"/>
              </a:spcBef>
              <a:buSzPct val="100000"/>
              <a:buChar char="•"/>
              <a:defRPr sz="1600">
                <a:solidFill>
                  <a:srgbClr val="63637E"/>
                </a:solidFill>
              </a:defRPr>
            </a:pPr>
            <a:r>
              <a:t>Member Name &amp; Email 1 - Rajat Pandey · rp4963@srmist.edu.in</a:t>
            </a:r>
          </a:p>
          <a:p>
            <a:pPr marL="177800" indent="-177800">
              <a:spcBef>
                <a:spcPts val="500"/>
              </a:spcBef>
              <a:buSzPct val="100000"/>
              <a:buChar char="•"/>
              <a:defRPr sz="1600">
                <a:solidFill>
                  <a:srgbClr val="63637E"/>
                </a:solidFill>
              </a:defRPr>
            </a:pPr>
            <a:r>
              <a:t>Member Name &amp; Email 2 - Aryan Singh · </a:t>
            </a:r>
            <a:r>
              <a:rPr u="sng">
                <a:solidFill>
                  <a:srgbClr val="0563C1"/>
                </a:solidFill>
                <a:uFill>
                  <a:solidFill>
                    <a:srgbClr val="0563C1"/>
                  </a:solidFill>
                </a:uFill>
                <a:hlinkClick r:id="rId3" invalidUrl="" action="" tgtFrame="" tooltip="" history="1" highlightClick="0" endSnd="0"/>
              </a:rPr>
              <a:t>as2001@srmist.edu.in</a:t>
            </a:r>
          </a:p>
          <a:p>
            <a:pPr marL="177800" indent="-177800">
              <a:spcBef>
                <a:spcPts val="500"/>
              </a:spcBef>
              <a:buSzPct val="100000"/>
              <a:buChar char="•"/>
              <a:defRPr sz="1600">
                <a:solidFill>
                  <a:srgbClr val="63637E"/>
                </a:solidFill>
              </a:defRPr>
            </a:pPr>
            <a:r>
              <a:t>Submission Github link - https://github.com/Blazehue/Samsung_PRISM-Sentinel</a:t>
            </a:r>
          </a:p>
          <a:p>
            <a:pPr marL="177800" indent="-177800">
              <a:spcBef>
                <a:spcPts val="500"/>
              </a:spcBef>
              <a:buSzPct val="100000"/>
              <a:buChar char="•"/>
              <a:defRPr sz="1600">
                <a:solidFill>
                  <a:srgbClr val="63637E"/>
                </a:solidFill>
              </a:defRPr>
            </a:pPr>
            <a:r>
              <a:t>Live API &amp; simulator - samsung-prism-sentinel.onrender.com</a:t>
            </a:r>
          </a:p>
        </p:txBody>
      </p:sp>
      <p:pic>
        <p:nvPicPr>
          <p:cNvPr id="116" name="Image 0" descr="Image 0"/>
          <p:cNvPicPr>
            <a:picLocks noChangeAspect="1"/>
          </p:cNvPicPr>
          <p:nvPr/>
        </p:nvPicPr>
        <p:blipFill>
          <a:blip r:embed="rId4">
            <a:extLst/>
          </a:blip>
          <a:stretch>
            <a:fillRect/>
          </a:stretch>
        </p:blipFill>
        <p:spPr>
          <a:xfrm>
            <a:off x="7059168" y="1051560"/>
            <a:ext cx="4572001" cy="457200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Theme 02 · Guided Troubleshooting</a:t>
            </a:r>
          </a:p>
        </p:txBody>
      </p:sp>
      <p:sp>
        <p:nvSpPr>
          <p:cNvPr id="121" name="TextBox 2"/>
          <p:cNvSpPr txBox="1"/>
          <p:nvPr/>
        </p:nvSpPr>
        <p:spPr>
          <a:xfrm>
            <a:off x="841247" y="1572767"/>
            <a:ext cx="5760722" cy="8258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14142B"/>
                </a:solidFill>
              </a:defRPr>
            </a:lvl1pPr>
          </a:lstStyle>
          <a:p>
            <a:pPr/>
            <a:r>
              <a:t>Galaxy users describe problems vaguely. Support has to turn that into the right steps, in the right order, with a one-tap link to the exact Settings screen.</a:t>
            </a:r>
          </a:p>
        </p:txBody>
      </p:sp>
      <p:sp>
        <p:nvSpPr>
          <p:cNvPr id="122" name="Rounded Rectangle 3"/>
          <p:cNvSpPr/>
          <p:nvPr/>
        </p:nvSpPr>
        <p:spPr>
          <a:xfrm>
            <a:off x="841247" y="2788920"/>
            <a:ext cx="5486401" cy="457201"/>
          </a:xfrm>
          <a:prstGeom prst="roundRect">
            <a:avLst>
              <a:gd name="adj" fmla="val 50000"/>
            </a:avLst>
          </a:prstGeom>
          <a:solidFill>
            <a:srgbClr val="F5F2FC"/>
          </a:solidFill>
          <a:ln w="12700">
            <a:miter lim="400000"/>
          </a:ln>
        </p:spPr>
        <p:txBody>
          <a:bodyPr lIns="45719" rIns="45719" anchor="ctr"/>
          <a:lstStyle/>
          <a:p>
            <a:pPr>
              <a:defRPr>
                <a:solidFill>
                  <a:srgbClr val="FFFFFF"/>
                </a:solidFill>
              </a:defRPr>
            </a:pPr>
          </a:p>
        </p:txBody>
      </p:sp>
      <p:sp>
        <p:nvSpPr>
          <p:cNvPr id="123" name="TextBox 4"/>
          <p:cNvSpPr txBox="1"/>
          <p:nvPr/>
        </p:nvSpPr>
        <p:spPr>
          <a:xfrm>
            <a:off x="1051559" y="2922840"/>
            <a:ext cx="51206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3637E"/>
                </a:solidFill>
              </a:defRPr>
            </a:lvl1pPr>
          </a:lstStyle>
          <a:p>
            <a:pPr/>
            <a:r>
              <a:t>“My S22 screen goes blank when I open Gmail”</a:t>
            </a:r>
          </a:p>
        </p:txBody>
      </p:sp>
      <p:sp>
        <p:nvSpPr>
          <p:cNvPr id="124" name="Rounded Rectangle 5"/>
          <p:cNvSpPr/>
          <p:nvPr/>
        </p:nvSpPr>
        <p:spPr>
          <a:xfrm>
            <a:off x="841247" y="3355847"/>
            <a:ext cx="5486401" cy="457201"/>
          </a:xfrm>
          <a:prstGeom prst="roundRect">
            <a:avLst>
              <a:gd name="adj" fmla="val 50000"/>
            </a:avLst>
          </a:prstGeom>
          <a:solidFill>
            <a:srgbClr val="F5F2FC"/>
          </a:solidFill>
          <a:ln w="12700">
            <a:miter lim="400000"/>
          </a:ln>
        </p:spPr>
        <p:txBody>
          <a:bodyPr lIns="45719" rIns="45719" anchor="ctr"/>
          <a:lstStyle/>
          <a:p>
            <a:pPr>
              <a:defRPr>
                <a:solidFill>
                  <a:srgbClr val="FFFFFF"/>
                </a:solidFill>
              </a:defRPr>
            </a:pPr>
          </a:p>
        </p:txBody>
      </p:sp>
      <p:sp>
        <p:nvSpPr>
          <p:cNvPr id="125" name="TextBox 6"/>
          <p:cNvSpPr txBox="1"/>
          <p:nvPr/>
        </p:nvSpPr>
        <p:spPr>
          <a:xfrm>
            <a:off x="1051559" y="3489768"/>
            <a:ext cx="51206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3637E"/>
                </a:solidFill>
              </a:defRPr>
            </a:lvl1pPr>
          </a:lstStyle>
          <a:p>
            <a:pPr/>
            <a:r>
              <a:t>“Swipe gestures go the wrong way after an app install”</a:t>
            </a:r>
          </a:p>
        </p:txBody>
      </p:sp>
      <p:sp>
        <p:nvSpPr>
          <p:cNvPr id="126" name="Rounded Rectangle 7"/>
          <p:cNvSpPr/>
          <p:nvPr/>
        </p:nvSpPr>
        <p:spPr>
          <a:xfrm>
            <a:off x="841247" y="3922776"/>
            <a:ext cx="5486401" cy="457201"/>
          </a:xfrm>
          <a:prstGeom prst="roundRect">
            <a:avLst>
              <a:gd name="adj" fmla="val 50000"/>
            </a:avLst>
          </a:prstGeom>
          <a:solidFill>
            <a:srgbClr val="F5F2FC"/>
          </a:solidFill>
          <a:ln w="12700">
            <a:miter lim="400000"/>
          </a:ln>
        </p:spPr>
        <p:txBody>
          <a:bodyPr lIns="45719" rIns="45719" anchor="ctr"/>
          <a:lstStyle/>
          <a:p>
            <a:pPr>
              <a:defRPr>
                <a:solidFill>
                  <a:srgbClr val="FFFFFF"/>
                </a:solidFill>
              </a:defRPr>
            </a:pPr>
          </a:p>
        </p:txBody>
      </p:sp>
      <p:sp>
        <p:nvSpPr>
          <p:cNvPr id="127" name="TextBox 8"/>
          <p:cNvSpPr txBox="1"/>
          <p:nvPr/>
        </p:nvSpPr>
        <p:spPr>
          <a:xfrm>
            <a:off x="1051559" y="4056696"/>
            <a:ext cx="51206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3637E"/>
                </a:solidFill>
              </a:defRPr>
            </a:lvl1pPr>
          </a:lstStyle>
          <a:p>
            <a:pPr/>
            <a:r>
              <a:t>“My Flip 7 went black and I can’t move my data”</a:t>
            </a:r>
          </a:p>
        </p:txBody>
      </p:sp>
      <p:sp>
        <p:nvSpPr>
          <p:cNvPr id="128" name="TextBox 9"/>
          <p:cNvSpPr txBox="1"/>
          <p:nvPr/>
        </p:nvSpPr>
        <p:spPr>
          <a:xfrm>
            <a:off x="841247" y="4617720"/>
            <a:ext cx="5669281" cy="7608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6D28D9"/>
                </a:solidFill>
                <a:latin typeface="Arial"/>
                <a:ea typeface="Arial"/>
                <a:cs typeface="Arial"/>
                <a:sym typeface="Arial"/>
              </a:defRPr>
            </a:pPr>
            <a:r>
              <a:t>~15 min</a:t>
            </a:r>
          </a:p>
          <a:p>
            <a:pPr>
              <a:defRPr sz="1400">
                <a:solidFill>
                  <a:srgbClr val="63637E"/>
                </a:solidFill>
              </a:defRPr>
            </a:pPr>
            <a:r>
              <a:t>of manual triage per scenario, across millions of interactions (Theme 2 guide)</a:t>
            </a:r>
          </a:p>
        </p:txBody>
      </p:sp>
      <p:sp>
        <p:nvSpPr>
          <p:cNvPr id="129" name="Rounded Rectangle 10"/>
          <p:cNvSpPr/>
          <p:nvPr/>
        </p:nvSpPr>
        <p:spPr>
          <a:xfrm>
            <a:off x="6903719" y="1572767"/>
            <a:ext cx="4480561" cy="4617722"/>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130" name="TextBox 11"/>
          <p:cNvSpPr txBox="1"/>
          <p:nvPr/>
        </p:nvSpPr>
        <p:spPr>
          <a:xfrm>
            <a:off x="7178040" y="1783079"/>
            <a:ext cx="4023360" cy="2592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14142B"/>
                </a:solidFill>
                <a:latin typeface="Arial"/>
                <a:ea typeface="Arial"/>
                <a:cs typeface="Arial"/>
                <a:sym typeface="Arial"/>
              </a:defRPr>
            </a:lvl1pPr>
          </a:lstStyle>
          <a:p>
            <a:pPr/>
            <a:r>
              <a:t>What the API must return</a:t>
            </a:r>
          </a:p>
        </p:txBody>
      </p:sp>
      <p:sp>
        <p:nvSpPr>
          <p:cNvPr id="131" name="Oval 12"/>
          <p:cNvSpPr/>
          <p:nvPr/>
        </p:nvSpPr>
        <p:spPr>
          <a:xfrm>
            <a:off x="7178040" y="2359150"/>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32" name="TextBox 13"/>
          <p:cNvSpPr txBox="1"/>
          <p:nvPr/>
        </p:nvSpPr>
        <p:spPr>
          <a:xfrm>
            <a:off x="7178040" y="2446479"/>
            <a:ext cx="347473" cy="17281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1</a:t>
            </a:r>
          </a:p>
        </p:txBody>
      </p:sp>
      <p:sp>
        <p:nvSpPr>
          <p:cNvPr id="133" name="TextBox 14"/>
          <p:cNvSpPr txBox="1"/>
          <p:nvPr/>
        </p:nvSpPr>
        <p:spPr>
          <a:xfrm>
            <a:off x="7680959" y="2331720"/>
            <a:ext cx="3520441" cy="3953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Schema  </a:t>
            </a:r>
            <a:r>
              <a:rPr b="0" sz="1300">
                <a:solidFill>
                  <a:srgbClr val="63637E"/>
                </a:solidFill>
              </a:rPr>
              <a:t>Goal → Actions → Step groups (kit's pydantic contract)</a:t>
            </a:r>
          </a:p>
        </p:txBody>
      </p:sp>
      <p:sp>
        <p:nvSpPr>
          <p:cNvPr id="134" name="Oval 15"/>
          <p:cNvSpPr/>
          <p:nvPr/>
        </p:nvSpPr>
        <p:spPr>
          <a:xfrm>
            <a:off x="7178040" y="2980944"/>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35" name="TextBox 16"/>
          <p:cNvSpPr txBox="1"/>
          <p:nvPr/>
        </p:nvSpPr>
        <p:spPr>
          <a:xfrm>
            <a:off x="7178040" y="3068272"/>
            <a:ext cx="347473"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2</a:t>
            </a:r>
          </a:p>
        </p:txBody>
      </p:sp>
      <p:sp>
        <p:nvSpPr>
          <p:cNvPr id="136" name="TextBox 17"/>
          <p:cNvSpPr txBox="1"/>
          <p:nvPr/>
        </p:nvSpPr>
        <p:spPr>
          <a:xfrm>
            <a:off x="7680959" y="2953511"/>
            <a:ext cx="3520441" cy="395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Grounded  </a:t>
            </a:r>
            <a:r>
              <a:rPr b="0" sz="1300">
                <a:solidFill>
                  <a:srgbClr val="63637E"/>
                </a:solidFill>
              </a:rPr>
              <a:t>Every step taken from the SIIS article — never invented</a:t>
            </a:r>
          </a:p>
        </p:txBody>
      </p:sp>
      <p:sp>
        <p:nvSpPr>
          <p:cNvPr id="137" name="Oval 18"/>
          <p:cNvSpPr/>
          <p:nvPr/>
        </p:nvSpPr>
        <p:spPr>
          <a:xfrm>
            <a:off x="7178040" y="3602735"/>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38" name="TextBox 19"/>
          <p:cNvSpPr txBox="1"/>
          <p:nvPr/>
        </p:nvSpPr>
        <p:spPr>
          <a:xfrm>
            <a:off x="7178040" y="3690064"/>
            <a:ext cx="347473" cy="17281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3</a:t>
            </a:r>
          </a:p>
        </p:txBody>
      </p:sp>
      <p:sp>
        <p:nvSpPr>
          <p:cNvPr id="139" name="TextBox 20"/>
          <p:cNvSpPr txBox="1"/>
          <p:nvPr/>
        </p:nvSpPr>
        <p:spPr>
          <a:xfrm>
            <a:off x="7680959" y="3575303"/>
            <a:ext cx="3520441" cy="395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One tap  </a:t>
            </a:r>
            <a:r>
              <a:rPr b="0" sz="1300">
                <a:solidFill>
                  <a:srgbClr val="63637E"/>
                </a:solidFill>
              </a:rPr>
              <a:t>Exact deeplinks from the 578-entry masked catalogue</a:t>
            </a:r>
          </a:p>
        </p:txBody>
      </p:sp>
      <p:sp>
        <p:nvSpPr>
          <p:cNvPr id="140" name="Oval 21"/>
          <p:cNvSpPr/>
          <p:nvPr/>
        </p:nvSpPr>
        <p:spPr>
          <a:xfrm>
            <a:off x="7178040" y="4224528"/>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41" name="TextBox 22"/>
          <p:cNvSpPr txBox="1"/>
          <p:nvPr/>
        </p:nvSpPr>
        <p:spPr>
          <a:xfrm>
            <a:off x="7178040" y="4311856"/>
            <a:ext cx="347473"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4</a:t>
            </a:r>
          </a:p>
        </p:txBody>
      </p:sp>
      <p:sp>
        <p:nvSpPr>
          <p:cNvPr id="142" name="TextBox 23"/>
          <p:cNvSpPr txBox="1"/>
          <p:nvPr/>
        </p:nvSpPr>
        <p:spPr>
          <a:xfrm>
            <a:off x="7680959" y="4197096"/>
            <a:ext cx="35204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Safe order  </a:t>
            </a:r>
            <a:r>
              <a:rPr b="0" sz="1300">
                <a:solidFill>
                  <a:srgbClr val="63637E"/>
                </a:solidFill>
              </a:rPr>
              <a:t>Least disruptive first, critical actions last</a:t>
            </a:r>
          </a:p>
        </p:txBody>
      </p:sp>
      <p:sp>
        <p:nvSpPr>
          <p:cNvPr id="143" name="Oval 24"/>
          <p:cNvSpPr/>
          <p:nvPr/>
        </p:nvSpPr>
        <p:spPr>
          <a:xfrm>
            <a:off x="7178040" y="4846320"/>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44" name="TextBox 25"/>
          <p:cNvSpPr txBox="1"/>
          <p:nvPr/>
        </p:nvSpPr>
        <p:spPr>
          <a:xfrm>
            <a:off x="7178040" y="4933648"/>
            <a:ext cx="347473"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5</a:t>
            </a:r>
          </a:p>
        </p:txBody>
      </p:sp>
      <p:sp>
        <p:nvSpPr>
          <p:cNvPr id="145" name="TextBox 26"/>
          <p:cNvSpPr txBox="1"/>
          <p:nvPr/>
        </p:nvSpPr>
        <p:spPr>
          <a:xfrm>
            <a:off x="7680959" y="4818888"/>
            <a:ext cx="352044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Fast  </a:t>
            </a:r>
            <a:r>
              <a:rPr b="0" sz="1300">
                <a:solidFill>
                  <a:srgbClr val="63637E"/>
                </a:solidFill>
              </a:rPr>
              <a:t>Repeats and paraphrases ≤ 300 ms; cold ≤ 8 s</a:t>
            </a:r>
          </a:p>
        </p:txBody>
      </p:sp>
      <p:sp>
        <p:nvSpPr>
          <p:cNvPr id="146" name="Oval 27"/>
          <p:cNvSpPr/>
          <p:nvPr/>
        </p:nvSpPr>
        <p:spPr>
          <a:xfrm>
            <a:off x="7178040" y="5468111"/>
            <a:ext cx="347473" cy="347473"/>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147" name="TextBox 28"/>
          <p:cNvSpPr txBox="1"/>
          <p:nvPr/>
        </p:nvSpPr>
        <p:spPr>
          <a:xfrm>
            <a:off x="7178040" y="5555440"/>
            <a:ext cx="347473"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rial"/>
                <a:ea typeface="Arial"/>
                <a:cs typeface="Arial"/>
                <a:sym typeface="Arial"/>
              </a:defRPr>
            </a:lvl1pPr>
          </a:lstStyle>
          <a:p>
            <a:pPr/>
            <a:r>
              <a:t>6</a:t>
            </a:r>
          </a:p>
        </p:txBody>
      </p:sp>
      <p:sp>
        <p:nvSpPr>
          <p:cNvPr id="148" name="TextBox 29"/>
          <p:cNvSpPr txBox="1"/>
          <p:nvPr/>
        </p:nvSpPr>
        <p:spPr>
          <a:xfrm>
            <a:off x="7680959" y="5440679"/>
            <a:ext cx="3520441" cy="395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defRPr>
            </a:pPr>
            <a:r>
              <a:t>Variations  </a:t>
            </a:r>
            <a:r>
              <a:rPr b="0" sz="1300">
                <a:solidFill>
                  <a:srgbClr val="63637E"/>
                </a:solidFill>
              </a:rPr>
              <a:t>8–10 paraphrases per query, varied registers</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2"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Existing Solutions &amp; Gaps</a:t>
            </a:r>
          </a:p>
        </p:txBody>
      </p:sp>
      <p:sp>
        <p:nvSpPr>
          <p:cNvPr id="153" name="Rounded Rectangle 2"/>
          <p:cNvSpPr/>
          <p:nvPr/>
        </p:nvSpPr>
        <p:spPr>
          <a:xfrm>
            <a:off x="841247" y="1600200"/>
            <a:ext cx="3310130" cy="32461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154" name="TextBox 3"/>
          <p:cNvSpPr txBox="1"/>
          <p:nvPr/>
        </p:nvSpPr>
        <p:spPr>
          <a:xfrm>
            <a:off x="1115567" y="1810511"/>
            <a:ext cx="2788922"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rgbClr val="14142B"/>
                </a:solidFill>
                <a:latin typeface="Arial"/>
                <a:ea typeface="Arial"/>
                <a:cs typeface="Arial"/>
                <a:sym typeface="Arial"/>
              </a:defRPr>
            </a:lvl1pPr>
          </a:lstStyle>
          <a:p>
            <a:pPr/>
            <a:r>
              <a:t>Manual agent triage</a:t>
            </a:r>
          </a:p>
        </p:txBody>
      </p:sp>
      <p:sp>
        <p:nvSpPr>
          <p:cNvPr id="155" name="TextBox 4"/>
          <p:cNvSpPr txBox="1"/>
          <p:nvPr/>
        </p:nvSpPr>
        <p:spPr>
          <a:xfrm>
            <a:off x="1115567" y="2286000"/>
            <a:ext cx="2788922"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63637E"/>
                </a:solidFill>
              </a:defRPr>
            </a:lvl1pPr>
          </a:lstStyle>
          <a:p>
            <a:pPr/>
            <a:r>
              <a:t>An agent reads the article, picks steps and texts them to the user.</a:t>
            </a:r>
          </a:p>
        </p:txBody>
      </p:sp>
      <p:sp>
        <p:nvSpPr>
          <p:cNvPr id="156" name="Oval 5"/>
          <p:cNvSpPr/>
          <p:nvPr/>
        </p:nvSpPr>
        <p:spPr>
          <a:xfrm>
            <a:off x="1115567" y="3081527"/>
            <a:ext cx="292609" cy="292610"/>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57" name="TextBox 6"/>
          <p:cNvSpPr txBox="1"/>
          <p:nvPr/>
        </p:nvSpPr>
        <p:spPr>
          <a:xfrm>
            <a:off x="1115567" y="3164332"/>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58" name="TextBox 7"/>
          <p:cNvSpPr txBox="1"/>
          <p:nvPr/>
        </p:nvSpPr>
        <p:spPr>
          <a:xfrm>
            <a:off x="1527047" y="3063239"/>
            <a:ext cx="2423162"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~15 min per scenario</a:t>
            </a:r>
          </a:p>
        </p:txBody>
      </p:sp>
      <p:sp>
        <p:nvSpPr>
          <p:cNvPr id="159" name="Oval 8"/>
          <p:cNvSpPr/>
          <p:nvPr/>
        </p:nvSpPr>
        <p:spPr>
          <a:xfrm>
            <a:off x="1115567" y="3630167"/>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60" name="TextBox 9"/>
          <p:cNvSpPr txBox="1"/>
          <p:nvPr/>
        </p:nvSpPr>
        <p:spPr>
          <a:xfrm>
            <a:off x="1115567" y="3712971"/>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61" name="TextBox 10"/>
          <p:cNvSpPr txBox="1"/>
          <p:nvPr/>
        </p:nvSpPr>
        <p:spPr>
          <a:xfrm>
            <a:off x="1527047" y="3611879"/>
            <a:ext cx="2423162"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User navigates nested Settings alone</a:t>
            </a:r>
          </a:p>
        </p:txBody>
      </p:sp>
      <p:sp>
        <p:nvSpPr>
          <p:cNvPr id="162" name="Oval 11"/>
          <p:cNvSpPr/>
          <p:nvPr/>
        </p:nvSpPr>
        <p:spPr>
          <a:xfrm>
            <a:off x="1115567" y="4178806"/>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63" name="TextBox 12"/>
          <p:cNvSpPr txBox="1"/>
          <p:nvPr/>
        </p:nvSpPr>
        <p:spPr>
          <a:xfrm>
            <a:off x="1115567" y="4261610"/>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64" name="TextBox 13"/>
          <p:cNvSpPr txBox="1"/>
          <p:nvPr/>
        </p:nvSpPr>
        <p:spPr>
          <a:xfrm>
            <a:off x="1527047" y="4160520"/>
            <a:ext cx="242316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Quality varies by agent</a:t>
            </a:r>
          </a:p>
        </p:txBody>
      </p:sp>
      <p:sp>
        <p:nvSpPr>
          <p:cNvPr id="165" name="Rounded Rectangle 14"/>
          <p:cNvSpPr/>
          <p:nvPr/>
        </p:nvSpPr>
        <p:spPr>
          <a:xfrm>
            <a:off x="4407408" y="1600200"/>
            <a:ext cx="3310129" cy="32461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166" name="TextBox 15"/>
          <p:cNvSpPr txBox="1"/>
          <p:nvPr/>
        </p:nvSpPr>
        <p:spPr>
          <a:xfrm>
            <a:off x="4681728" y="1810511"/>
            <a:ext cx="278892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rgbClr val="14142B"/>
                </a:solidFill>
                <a:latin typeface="Arial"/>
                <a:ea typeface="Arial"/>
                <a:cs typeface="Arial"/>
                <a:sym typeface="Arial"/>
              </a:defRPr>
            </a:lvl1pPr>
          </a:lstStyle>
          <a:p>
            <a:pPr/>
            <a:r>
              <a:t>Search &amp; FAQ bots</a:t>
            </a:r>
          </a:p>
        </p:txBody>
      </p:sp>
      <p:sp>
        <p:nvSpPr>
          <p:cNvPr id="167" name="TextBox 16"/>
          <p:cNvSpPr txBox="1"/>
          <p:nvPr/>
        </p:nvSpPr>
        <p:spPr>
          <a:xfrm>
            <a:off x="4681728" y="2286000"/>
            <a:ext cx="278892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63637E"/>
                </a:solidFill>
              </a:defRPr>
            </a:lvl1pPr>
          </a:lstStyle>
          <a:p>
            <a:pPr/>
            <a:r>
              <a:t>Return a whole article or the top snippets for the query.</a:t>
            </a:r>
          </a:p>
        </p:txBody>
      </p:sp>
      <p:sp>
        <p:nvSpPr>
          <p:cNvPr id="168" name="Oval 17"/>
          <p:cNvSpPr/>
          <p:nvPr/>
        </p:nvSpPr>
        <p:spPr>
          <a:xfrm>
            <a:off x="4681728" y="3081527"/>
            <a:ext cx="292609" cy="292610"/>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69" name="TextBox 18"/>
          <p:cNvSpPr txBox="1"/>
          <p:nvPr/>
        </p:nvSpPr>
        <p:spPr>
          <a:xfrm>
            <a:off x="4681728" y="3164332"/>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70" name="TextBox 19"/>
          <p:cNvSpPr txBox="1"/>
          <p:nvPr/>
        </p:nvSpPr>
        <p:spPr>
          <a:xfrm>
            <a:off x="5093208" y="3063239"/>
            <a:ext cx="242316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Not a plan: no order, no categories</a:t>
            </a:r>
          </a:p>
        </p:txBody>
      </p:sp>
      <p:sp>
        <p:nvSpPr>
          <p:cNvPr id="171" name="Oval 20"/>
          <p:cNvSpPr/>
          <p:nvPr/>
        </p:nvSpPr>
        <p:spPr>
          <a:xfrm>
            <a:off x="4681728" y="3630167"/>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72" name="TextBox 21"/>
          <p:cNvSpPr txBox="1"/>
          <p:nvPr/>
        </p:nvSpPr>
        <p:spPr>
          <a:xfrm>
            <a:off x="4681728" y="3712971"/>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73" name="TextBox 22"/>
          <p:cNvSpPr txBox="1"/>
          <p:nvPr/>
        </p:nvSpPr>
        <p:spPr>
          <a:xfrm>
            <a:off x="5093208" y="3611879"/>
            <a:ext cx="2423161"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Lands on parent menus, not the exact screen</a:t>
            </a:r>
          </a:p>
        </p:txBody>
      </p:sp>
      <p:sp>
        <p:nvSpPr>
          <p:cNvPr id="174" name="Oval 23"/>
          <p:cNvSpPr/>
          <p:nvPr/>
        </p:nvSpPr>
        <p:spPr>
          <a:xfrm>
            <a:off x="4681728" y="4178806"/>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75" name="TextBox 24"/>
          <p:cNvSpPr txBox="1"/>
          <p:nvPr/>
        </p:nvSpPr>
        <p:spPr>
          <a:xfrm>
            <a:off x="4681728" y="4261610"/>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76" name="TextBox 25"/>
          <p:cNvSpPr txBox="1"/>
          <p:nvPr/>
        </p:nvSpPr>
        <p:spPr>
          <a:xfrm>
            <a:off x="5093208" y="4160520"/>
            <a:ext cx="242316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Nothing validates the fix</a:t>
            </a:r>
          </a:p>
        </p:txBody>
      </p:sp>
      <p:sp>
        <p:nvSpPr>
          <p:cNvPr id="177" name="Rounded Rectangle 26"/>
          <p:cNvSpPr/>
          <p:nvPr/>
        </p:nvSpPr>
        <p:spPr>
          <a:xfrm>
            <a:off x="7973568" y="1600200"/>
            <a:ext cx="3310129" cy="32461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178" name="TextBox 27"/>
          <p:cNvSpPr txBox="1"/>
          <p:nvPr/>
        </p:nvSpPr>
        <p:spPr>
          <a:xfrm>
            <a:off x="8247888" y="1810511"/>
            <a:ext cx="2788921" cy="2469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700">
                <a:solidFill>
                  <a:srgbClr val="14142B"/>
                </a:solidFill>
                <a:latin typeface="Arial"/>
                <a:ea typeface="Arial"/>
                <a:cs typeface="Arial"/>
                <a:sym typeface="Arial"/>
              </a:defRPr>
            </a:lvl1pPr>
          </a:lstStyle>
          <a:p>
            <a:pPr/>
            <a:r>
              <a:t>Plain LLM generation</a:t>
            </a:r>
          </a:p>
        </p:txBody>
      </p:sp>
      <p:sp>
        <p:nvSpPr>
          <p:cNvPr id="179" name="TextBox 28"/>
          <p:cNvSpPr txBox="1"/>
          <p:nvPr/>
        </p:nvSpPr>
        <p:spPr>
          <a:xfrm>
            <a:off x="8247888" y="2286000"/>
            <a:ext cx="278892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63637E"/>
                </a:solidFill>
              </a:defRPr>
            </a:lvl1pPr>
          </a:lstStyle>
          <a:p>
            <a:pPr/>
            <a:r>
              <a:t>A chatbot writes troubleshooting steps from scratch.</a:t>
            </a:r>
          </a:p>
        </p:txBody>
      </p:sp>
      <p:sp>
        <p:nvSpPr>
          <p:cNvPr id="180" name="Oval 29"/>
          <p:cNvSpPr/>
          <p:nvPr/>
        </p:nvSpPr>
        <p:spPr>
          <a:xfrm>
            <a:off x="8247888" y="3081527"/>
            <a:ext cx="292609" cy="292610"/>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81" name="TextBox 30"/>
          <p:cNvSpPr txBox="1"/>
          <p:nvPr/>
        </p:nvSpPr>
        <p:spPr>
          <a:xfrm>
            <a:off x="8247888" y="3164332"/>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82" name="TextBox 31"/>
          <p:cNvSpPr txBox="1"/>
          <p:nvPr/>
        </p:nvSpPr>
        <p:spPr>
          <a:xfrm>
            <a:off x="8659368" y="3063239"/>
            <a:ext cx="242316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Invents steps and URIs</a:t>
            </a:r>
          </a:p>
        </p:txBody>
      </p:sp>
      <p:sp>
        <p:nvSpPr>
          <p:cNvPr id="183" name="Oval 32"/>
          <p:cNvSpPr/>
          <p:nvPr/>
        </p:nvSpPr>
        <p:spPr>
          <a:xfrm>
            <a:off x="8247888" y="3630167"/>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84" name="TextBox 33"/>
          <p:cNvSpPr txBox="1"/>
          <p:nvPr/>
        </p:nvSpPr>
        <p:spPr>
          <a:xfrm>
            <a:off x="8247888" y="3712971"/>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85" name="TextBox 34"/>
          <p:cNvSpPr txBox="1"/>
          <p:nvPr/>
        </p:nvSpPr>
        <p:spPr>
          <a:xfrm>
            <a:off x="8659368" y="3611879"/>
            <a:ext cx="2423161"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Seconds of latency and a cost on every query</a:t>
            </a:r>
          </a:p>
        </p:txBody>
      </p:sp>
      <p:sp>
        <p:nvSpPr>
          <p:cNvPr id="186" name="Oval 35"/>
          <p:cNvSpPr/>
          <p:nvPr/>
        </p:nvSpPr>
        <p:spPr>
          <a:xfrm>
            <a:off x="8247888" y="4178806"/>
            <a:ext cx="292609" cy="292609"/>
          </a:xfrm>
          <a:prstGeom prst="ellipse">
            <a:avLst/>
          </a:prstGeom>
          <a:solidFill>
            <a:srgbClr val="B4234A"/>
          </a:solidFill>
          <a:ln w="12700">
            <a:miter lim="400000"/>
          </a:ln>
        </p:spPr>
        <p:txBody>
          <a:bodyPr lIns="45719" rIns="45719" anchor="ctr"/>
          <a:lstStyle/>
          <a:p>
            <a:pPr algn="ctr">
              <a:defRPr>
                <a:solidFill>
                  <a:srgbClr val="FFFFFF"/>
                </a:solidFill>
              </a:defRPr>
            </a:pPr>
          </a:p>
        </p:txBody>
      </p:sp>
      <p:sp>
        <p:nvSpPr>
          <p:cNvPr id="187" name="TextBox 36"/>
          <p:cNvSpPr txBox="1"/>
          <p:nvPr/>
        </p:nvSpPr>
        <p:spPr>
          <a:xfrm>
            <a:off x="8247888" y="4261610"/>
            <a:ext cx="292609"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0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188" name="TextBox 37"/>
          <p:cNvSpPr txBox="1"/>
          <p:nvPr/>
        </p:nvSpPr>
        <p:spPr>
          <a:xfrm>
            <a:off x="8659368" y="4160520"/>
            <a:ext cx="242316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Different answer each time</a:t>
            </a:r>
          </a:p>
        </p:txBody>
      </p:sp>
      <p:sp>
        <p:nvSpPr>
          <p:cNvPr id="189" name="Rounded Rectangle 38"/>
          <p:cNvSpPr/>
          <p:nvPr/>
        </p:nvSpPr>
        <p:spPr>
          <a:xfrm>
            <a:off x="841247" y="5074920"/>
            <a:ext cx="10442449" cy="1097281"/>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190" name="TextBox 39"/>
          <p:cNvSpPr txBox="1"/>
          <p:nvPr/>
        </p:nvSpPr>
        <p:spPr>
          <a:xfrm>
            <a:off x="1143000" y="5365771"/>
            <a:ext cx="9966960" cy="51557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a:solidFill>
                  <a:srgbClr val="6D28D9"/>
                </a:solidFill>
                <a:latin typeface="Arial"/>
                <a:ea typeface="Arial"/>
                <a:cs typeface="Arial"/>
                <a:sym typeface="Arial"/>
              </a:defRPr>
            </a:pPr>
            <a:r>
              <a:t>The gap  </a:t>
            </a:r>
            <a:r>
              <a:rPr b="0" sz="1600">
                <a:solidFill>
                  <a:srgbClr val="14142B"/>
                </a:solidFill>
                <a:latin typeface="+mj-lt"/>
                <a:ea typeface="+mj-ea"/>
                <a:cs typeface="+mj-cs"/>
                <a:sym typeface="Calibri"/>
              </a:rPr>
              <a:t>Nothing delivers all four at once: steps grounded in the article, exact deeplinks, safe ordering, and sub‑300 ms answers for repeat questions.</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Our Solutions &amp; Architecture Diagram</a:t>
            </a:r>
          </a:p>
        </p:txBody>
      </p:sp>
      <p:sp>
        <p:nvSpPr>
          <p:cNvPr id="195" name="TextBox 2"/>
          <p:cNvSpPr txBox="1"/>
          <p:nvPr/>
        </p:nvSpPr>
        <p:spPr>
          <a:xfrm>
            <a:off x="841247" y="1463039"/>
            <a:ext cx="10515601" cy="2091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6D28D9"/>
                </a:solidFill>
              </a:defRPr>
            </a:pPr>
            <a:r>
              <a:t>Rules decide, Gemini refines. </a:t>
            </a:r>
            <a:r>
              <a:rPr b="0">
                <a:solidFill>
                  <a:srgbClr val="14142B"/>
                </a:solidFill>
              </a:rPr>
              <a:t>Every step is copied from the article; every link comes from the catalogue.</a:t>
            </a:r>
          </a:p>
        </p:txBody>
      </p:sp>
      <p:sp>
        <p:nvSpPr>
          <p:cNvPr id="196" name="Rounded Rectangle 3"/>
          <p:cNvSpPr/>
          <p:nvPr/>
        </p:nvSpPr>
        <p:spPr>
          <a:xfrm>
            <a:off x="841247" y="2148839"/>
            <a:ext cx="1847090" cy="1417321"/>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197" name="Oval 4"/>
          <p:cNvSpPr/>
          <p:nvPr/>
        </p:nvSpPr>
        <p:spPr>
          <a:xfrm>
            <a:off x="1005839" y="2313432"/>
            <a:ext cx="384049" cy="384049"/>
          </a:xfrm>
          <a:prstGeom prst="ellipse">
            <a:avLst/>
          </a:prstGeom>
          <a:solidFill>
            <a:srgbClr val="14142B"/>
          </a:solidFill>
          <a:ln w="12700">
            <a:miter lim="400000"/>
          </a:ln>
        </p:spPr>
        <p:txBody>
          <a:bodyPr lIns="45719" rIns="45719" anchor="ctr"/>
          <a:lstStyle/>
          <a:p>
            <a:pPr algn="ctr">
              <a:defRPr>
                <a:solidFill>
                  <a:srgbClr val="FFFFFF"/>
                </a:solidFill>
              </a:defRPr>
            </a:pPr>
          </a:p>
        </p:txBody>
      </p:sp>
      <p:sp>
        <p:nvSpPr>
          <p:cNvPr id="198" name="TextBox 5"/>
          <p:cNvSpPr txBox="1"/>
          <p:nvPr/>
        </p:nvSpPr>
        <p:spPr>
          <a:xfrm>
            <a:off x="1005839" y="2431541"/>
            <a:ext cx="384049"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Arial"/>
                <a:ea typeface="Arial"/>
                <a:cs typeface="Arial"/>
                <a:sym typeface="Arial"/>
              </a:defRPr>
            </a:lvl1pPr>
          </a:lstStyle>
          <a:p>
            <a:pPr/>
            <a:r>
              <a:t>IN</a:t>
            </a:r>
          </a:p>
        </p:txBody>
      </p:sp>
      <p:sp>
        <p:nvSpPr>
          <p:cNvPr id="199" name="TextBox 6"/>
          <p:cNvSpPr txBox="1"/>
          <p:nvPr/>
        </p:nvSpPr>
        <p:spPr>
          <a:xfrm>
            <a:off x="1499616" y="2314308"/>
            <a:ext cx="1069848"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Complaint + SIIS article</a:t>
            </a:r>
          </a:p>
        </p:txBody>
      </p:sp>
      <p:sp>
        <p:nvSpPr>
          <p:cNvPr id="200" name="TextBox 7"/>
          <p:cNvSpPr txBox="1"/>
          <p:nvPr/>
        </p:nvSpPr>
        <p:spPr>
          <a:xfrm>
            <a:off x="1005839" y="2862072"/>
            <a:ext cx="157277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query, siis_response</a:t>
            </a:r>
          </a:p>
        </p:txBody>
      </p:sp>
      <p:sp>
        <p:nvSpPr>
          <p:cNvPr id="201" name="Right Arrow 8"/>
          <p:cNvSpPr/>
          <p:nvPr/>
        </p:nvSpPr>
        <p:spPr>
          <a:xfrm>
            <a:off x="2706623" y="2734055"/>
            <a:ext cx="265177" cy="237745"/>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202" name="Rounded Rectangle 9"/>
          <p:cNvSpPr/>
          <p:nvPr/>
        </p:nvSpPr>
        <p:spPr>
          <a:xfrm>
            <a:off x="2990088" y="2148839"/>
            <a:ext cx="1847089" cy="14173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03" name="Oval 10"/>
          <p:cNvSpPr/>
          <p:nvPr/>
        </p:nvSpPr>
        <p:spPr>
          <a:xfrm>
            <a:off x="3154679" y="2313432"/>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04" name="TextBox 11"/>
          <p:cNvSpPr txBox="1"/>
          <p:nvPr/>
        </p:nvSpPr>
        <p:spPr>
          <a:xfrm>
            <a:off x="3154679" y="2412906"/>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0</a:t>
            </a:r>
          </a:p>
        </p:txBody>
      </p:sp>
      <p:sp>
        <p:nvSpPr>
          <p:cNvPr id="205" name="TextBox 12"/>
          <p:cNvSpPr txBox="1"/>
          <p:nvPr/>
        </p:nvSpPr>
        <p:spPr>
          <a:xfrm>
            <a:off x="3648455" y="2415908"/>
            <a:ext cx="106984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Enrich</a:t>
            </a:r>
          </a:p>
        </p:txBody>
      </p:sp>
      <p:sp>
        <p:nvSpPr>
          <p:cNvPr id="206" name="TextBox 13"/>
          <p:cNvSpPr txBox="1"/>
          <p:nvPr/>
        </p:nvSpPr>
        <p:spPr>
          <a:xfrm>
            <a:off x="3154679" y="2862072"/>
            <a:ext cx="157276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device · symptom · fix vs how-to · cache key</a:t>
            </a:r>
          </a:p>
        </p:txBody>
      </p:sp>
      <p:sp>
        <p:nvSpPr>
          <p:cNvPr id="207" name="Right Arrow 14"/>
          <p:cNvSpPr/>
          <p:nvPr/>
        </p:nvSpPr>
        <p:spPr>
          <a:xfrm>
            <a:off x="4855464" y="2734055"/>
            <a:ext cx="265177" cy="237745"/>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208" name="Rounded Rectangle 15"/>
          <p:cNvSpPr/>
          <p:nvPr/>
        </p:nvSpPr>
        <p:spPr>
          <a:xfrm>
            <a:off x="5138928" y="2148839"/>
            <a:ext cx="1847089" cy="14173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09" name="Oval 16"/>
          <p:cNvSpPr/>
          <p:nvPr/>
        </p:nvSpPr>
        <p:spPr>
          <a:xfrm>
            <a:off x="5303520" y="2313432"/>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10" name="TextBox 17"/>
          <p:cNvSpPr txBox="1"/>
          <p:nvPr/>
        </p:nvSpPr>
        <p:spPr>
          <a:xfrm>
            <a:off x="5303520" y="2412906"/>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1</a:t>
            </a:r>
          </a:p>
        </p:txBody>
      </p:sp>
      <p:sp>
        <p:nvSpPr>
          <p:cNvPr id="211" name="TextBox 18"/>
          <p:cNvSpPr txBox="1"/>
          <p:nvPr/>
        </p:nvSpPr>
        <p:spPr>
          <a:xfrm>
            <a:off x="5797296" y="2415908"/>
            <a:ext cx="106984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Structure</a:t>
            </a:r>
          </a:p>
        </p:txBody>
      </p:sp>
      <p:sp>
        <p:nvSpPr>
          <p:cNvPr id="212" name="TextBox 19"/>
          <p:cNvSpPr txBox="1"/>
          <p:nvPr/>
        </p:nvSpPr>
        <p:spPr>
          <a:xfrm>
            <a:off x="5303520" y="2862072"/>
            <a:ext cx="157276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sections → actions · 1 interaction per step</a:t>
            </a:r>
          </a:p>
        </p:txBody>
      </p:sp>
      <p:sp>
        <p:nvSpPr>
          <p:cNvPr id="213" name="Right Arrow 20"/>
          <p:cNvSpPr/>
          <p:nvPr/>
        </p:nvSpPr>
        <p:spPr>
          <a:xfrm>
            <a:off x="7004304" y="2734055"/>
            <a:ext cx="265177" cy="237745"/>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214" name="Rounded Rectangle 21"/>
          <p:cNvSpPr/>
          <p:nvPr/>
        </p:nvSpPr>
        <p:spPr>
          <a:xfrm>
            <a:off x="7287768" y="2148839"/>
            <a:ext cx="1847089" cy="141732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15" name="Oval 22"/>
          <p:cNvSpPr/>
          <p:nvPr/>
        </p:nvSpPr>
        <p:spPr>
          <a:xfrm>
            <a:off x="7452359" y="2313432"/>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16" name="TextBox 23"/>
          <p:cNvSpPr txBox="1"/>
          <p:nvPr/>
        </p:nvSpPr>
        <p:spPr>
          <a:xfrm>
            <a:off x="7452359" y="2412906"/>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2</a:t>
            </a:r>
          </a:p>
        </p:txBody>
      </p:sp>
      <p:sp>
        <p:nvSpPr>
          <p:cNvPr id="217" name="TextBox 24"/>
          <p:cNvSpPr txBox="1"/>
          <p:nvPr/>
        </p:nvSpPr>
        <p:spPr>
          <a:xfrm>
            <a:off x="7946135" y="2314308"/>
            <a:ext cx="1069849"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Deeplinks &amp; order</a:t>
            </a:r>
          </a:p>
        </p:txBody>
      </p:sp>
      <p:sp>
        <p:nvSpPr>
          <p:cNvPr id="218" name="TextBox 25"/>
          <p:cNvSpPr txBox="1"/>
          <p:nvPr/>
        </p:nvSpPr>
        <p:spPr>
          <a:xfrm>
            <a:off x="7452359" y="2862072"/>
            <a:ext cx="157276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exact label → 578 entries · auto → manual → critical</a:t>
            </a:r>
          </a:p>
        </p:txBody>
      </p:sp>
      <p:sp>
        <p:nvSpPr>
          <p:cNvPr id="219" name="Right Arrow 26"/>
          <p:cNvSpPr/>
          <p:nvPr/>
        </p:nvSpPr>
        <p:spPr>
          <a:xfrm>
            <a:off x="9153143" y="2734055"/>
            <a:ext cx="265177" cy="237745"/>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220" name="Rounded Rectangle 27"/>
          <p:cNvSpPr/>
          <p:nvPr/>
        </p:nvSpPr>
        <p:spPr>
          <a:xfrm>
            <a:off x="9436607" y="2148839"/>
            <a:ext cx="1847089" cy="1417321"/>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221" name="Oval 28"/>
          <p:cNvSpPr/>
          <p:nvPr/>
        </p:nvSpPr>
        <p:spPr>
          <a:xfrm>
            <a:off x="9601200" y="2313432"/>
            <a:ext cx="384048" cy="384049"/>
          </a:xfrm>
          <a:prstGeom prst="ellipse">
            <a:avLst/>
          </a:prstGeom>
          <a:solidFill>
            <a:srgbClr val="14142B"/>
          </a:solidFill>
          <a:ln w="12700">
            <a:miter lim="400000"/>
          </a:ln>
        </p:spPr>
        <p:txBody>
          <a:bodyPr lIns="45719" rIns="45719" anchor="ctr"/>
          <a:lstStyle/>
          <a:p>
            <a:pPr algn="ctr">
              <a:defRPr>
                <a:solidFill>
                  <a:srgbClr val="FFFFFF"/>
                </a:solidFill>
              </a:defRPr>
            </a:pPr>
          </a:p>
        </p:txBody>
      </p:sp>
      <p:sp>
        <p:nvSpPr>
          <p:cNvPr id="222" name="TextBox 29"/>
          <p:cNvSpPr txBox="1"/>
          <p:nvPr/>
        </p:nvSpPr>
        <p:spPr>
          <a:xfrm>
            <a:off x="9601200" y="2412906"/>
            <a:ext cx="384048"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4</a:t>
            </a:r>
          </a:p>
        </p:txBody>
      </p:sp>
      <p:sp>
        <p:nvSpPr>
          <p:cNvPr id="223" name="TextBox 30"/>
          <p:cNvSpPr txBox="1"/>
          <p:nvPr/>
        </p:nvSpPr>
        <p:spPr>
          <a:xfrm>
            <a:off x="10094976" y="2415908"/>
            <a:ext cx="106984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REST API</a:t>
            </a:r>
          </a:p>
        </p:txBody>
      </p:sp>
      <p:sp>
        <p:nvSpPr>
          <p:cNvPr id="224" name="TextBox 31"/>
          <p:cNvSpPr txBox="1"/>
          <p:nvPr/>
        </p:nvSpPr>
        <p:spPr>
          <a:xfrm>
            <a:off x="9601200" y="2862072"/>
            <a:ext cx="157276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ContextDeeplinkResponse + meta</a:t>
            </a:r>
          </a:p>
        </p:txBody>
      </p:sp>
      <p:sp>
        <p:nvSpPr>
          <p:cNvPr id="225" name="Rounded Rectangle 32"/>
          <p:cNvSpPr/>
          <p:nvPr/>
        </p:nvSpPr>
        <p:spPr>
          <a:xfrm>
            <a:off x="5257800" y="3977638"/>
            <a:ext cx="3611880" cy="1234441"/>
          </a:xfrm>
          <a:prstGeom prst="roundRect">
            <a:avLst>
              <a:gd name="adj" fmla="val 8000"/>
            </a:avLst>
          </a:prstGeom>
          <a:solidFill>
            <a:srgbClr val="FFFFFF"/>
          </a:solidFill>
          <a:ln w="15875">
            <a:solidFill>
              <a:srgbClr val="6D28D9"/>
            </a:solidFill>
            <a:prstDash val="dash"/>
            <a:miter/>
          </a:ln>
        </p:spPr>
        <p:txBody>
          <a:bodyPr lIns="45719" rIns="45719" anchor="ctr"/>
          <a:lstStyle/>
          <a:p>
            <a:pPr>
              <a:defRPr>
                <a:solidFill>
                  <a:srgbClr val="FFFFFF"/>
                </a:solidFill>
              </a:defRPr>
            </a:pPr>
          </a:p>
        </p:txBody>
      </p:sp>
      <p:sp>
        <p:nvSpPr>
          <p:cNvPr id="226" name="TextBox 33"/>
          <p:cNvSpPr txBox="1"/>
          <p:nvPr/>
        </p:nvSpPr>
        <p:spPr>
          <a:xfrm>
            <a:off x="5440679" y="4069079"/>
            <a:ext cx="3291842"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300">
                <a:solidFill>
                  <a:srgbClr val="6D28D9"/>
                </a:solidFill>
                <a:latin typeface="Arial"/>
                <a:ea typeface="Arial"/>
                <a:cs typeface="Arial"/>
                <a:sym typeface="Arial"/>
              </a:defRPr>
            </a:pPr>
            <a:r>
              <a:t>2b  </a:t>
            </a:r>
            <a:r>
              <a:rPr sz="1400">
                <a:solidFill>
                  <a:srgbClr val="14142B"/>
                </a:solidFill>
              </a:rPr>
              <a:t>Gemini refinement</a:t>
            </a:r>
          </a:p>
        </p:txBody>
      </p:sp>
      <p:sp>
        <p:nvSpPr>
          <p:cNvPr id="227" name="TextBox 34"/>
          <p:cNvSpPr txBox="1"/>
          <p:nvPr/>
        </p:nvSpPr>
        <p:spPr>
          <a:xfrm>
            <a:off x="5440679" y="4434840"/>
            <a:ext cx="3291842" cy="4644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Cache misses only · topic names · “It will…” descriptions · closed-set link pick · variations · 5 s budget, model fallback</a:t>
            </a:r>
          </a:p>
        </p:txBody>
      </p:sp>
      <p:sp>
        <p:nvSpPr>
          <p:cNvPr id="228" name="Up Arrow 35"/>
          <p:cNvSpPr/>
          <p:nvPr/>
        </p:nvSpPr>
        <p:spPr>
          <a:xfrm>
            <a:off x="8092440" y="3593591"/>
            <a:ext cx="237744" cy="3657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7020"/>
                </a:moveTo>
                <a:lnTo>
                  <a:pt x="10800" y="0"/>
                </a:lnTo>
                <a:lnTo>
                  <a:pt x="21600" y="7020"/>
                </a:lnTo>
                <a:lnTo>
                  <a:pt x="16200" y="7020"/>
                </a:lnTo>
                <a:lnTo>
                  <a:pt x="16200" y="21600"/>
                </a:lnTo>
                <a:lnTo>
                  <a:pt x="5400" y="21600"/>
                </a:lnTo>
                <a:lnTo>
                  <a:pt x="5400" y="7020"/>
                </a:lnTo>
                <a:close/>
              </a:path>
            </a:pathLst>
          </a:custGeom>
          <a:solidFill>
            <a:srgbClr val="6D28D9"/>
          </a:solidFill>
          <a:ln w="12700">
            <a:miter lim="400000"/>
          </a:ln>
        </p:spPr>
        <p:txBody>
          <a:bodyPr lIns="45719" rIns="45719" anchor="ctr"/>
          <a:lstStyle/>
          <a:p>
            <a:pPr algn="ctr">
              <a:defRPr>
                <a:solidFill>
                  <a:srgbClr val="FFFFFF"/>
                </a:solidFill>
              </a:defRPr>
            </a:pPr>
          </a:p>
        </p:txBody>
      </p:sp>
      <p:sp>
        <p:nvSpPr>
          <p:cNvPr id="229" name="Rounded Rectangle 36"/>
          <p:cNvSpPr/>
          <p:nvPr/>
        </p:nvSpPr>
        <p:spPr>
          <a:xfrm>
            <a:off x="841247" y="3977638"/>
            <a:ext cx="4206242" cy="123444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30" name="Oval 37"/>
          <p:cNvSpPr/>
          <p:nvPr/>
        </p:nvSpPr>
        <p:spPr>
          <a:xfrm>
            <a:off x="1005839" y="4133086"/>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31" name="TextBox 38"/>
          <p:cNvSpPr txBox="1"/>
          <p:nvPr/>
        </p:nvSpPr>
        <p:spPr>
          <a:xfrm>
            <a:off x="1005839" y="4232561"/>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3</a:t>
            </a:r>
          </a:p>
        </p:txBody>
      </p:sp>
      <p:sp>
        <p:nvSpPr>
          <p:cNvPr id="232" name="TextBox 39"/>
          <p:cNvSpPr txBox="1"/>
          <p:nvPr/>
        </p:nvSpPr>
        <p:spPr>
          <a:xfrm>
            <a:off x="1508760" y="4221848"/>
            <a:ext cx="3429001"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14142B"/>
                </a:solidFill>
                <a:latin typeface="Arial"/>
                <a:ea typeface="Arial"/>
                <a:cs typeface="Arial"/>
                <a:sym typeface="Arial"/>
              </a:defRPr>
            </a:lvl1pPr>
          </a:lstStyle>
          <a:p>
            <a:pPr/>
            <a:r>
              <a:t>Fast-path semantic cache</a:t>
            </a:r>
          </a:p>
        </p:txBody>
      </p:sp>
      <p:sp>
        <p:nvSpPr>
          <p:cNvPr id="233" name="TextBox 40"/>
          <p:cNvSpPr txBox="1"/>
          <p:nvPr/>
        </p:nvSpPr>
        <p:spPr>
          <a:xfrm>
            <a:off x="1005839" y="4590288"/>
            <a:ext cx="3931922"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Exact repeat ~0.1 ms · paraphrase reuses the article's plan (~1 ms, byte-identical) · no-article semantic lookup</a:t>
            </a:r>
          </a:p>
        </p:txBody>
      </p:sp>
      <p:sp>
        <p:nvSpPr>
          <p:cNvPr id="234" name="Rounded Rectangle 41"/>
          <p:cNvSpPr/>
          <p:nvPr/>
        </p:nvSpPr>
        <p:spPr>
          <a:xfrm>
            <a:off x="9098280" y="3977638"/>
            <a:ext cx="2194561" cy="566929"/>
          </a:xfrm>
          <a:prstGeom prst="roundRect">
            <a:avLst>
              <a:gd name="adj" fmla="val 25000"/>
            </a:avLst>
          </a:prstGeom>
          <a:solidFill>
            <a:srgbClr val="F5F2FC"/>
          </a:solidFill>
          <a:ln w="12700">
            <a:miter lim="400000"/>
          </a:ln>
        </p:spPr>
        <p:txBody>
          <a:bodyPr lIns="45719" rIns="45719" anchor="ctr"/>
          <a:lstStyle/>
          <a:p>
            <a:pPr>
              <a:defRPr>
                <a:solidFill>
                  <a:srgbClr val="FFFFFF"/>
                </a:solidFill>
              </a:defRPr>
            </a:pPr>
          </a:p>
        </p:txBody>
      </p:sp>
      <p:sp>
        <p:nvSpPr>
          <p:cNvPr id="235" name="TextBox 42"/>
          <p:cNvSpPr txBox="1"/>
          <p:nvPr/>
        </p:nvSpPr>
        <p:spPr>
          <a:xfrm>
            <a:off x="9262871" y="4023359"/>
            <a:ext cx="1920241" cy="492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14142B"/>
                </a:solidFill>
              </a:defRPr>
            </a:pPr>
            <a:r>
              <a:t>deeplinks.json</a:t>
            </a:r>
          </a:p>
          <a:p>
            <a:pPr>
              <a:defRPr sz="1000">
                <a:solidFill>
                  <a:srgbClr val="63637E"/>
                </a:solidFill>
              </a:defRPr>
            </a:pPr>
            <a:r>
              <a:t>578 masked entries, exact-label index</a:t>
            </a:r>
          </a:p>
        </p:txBody>
      </p:sp>
      <p:sp>
        <p:nvSpPr>
          <p:cNvPr id="236" name="Rounded Rectangle 43"/>
          <p:cNvSpPr/>
          <p:nvPr/>
        </p:nvSpPr>
        <p:spPr>
          <a:xfrm>
            <a:off x="9098280" y="4636006"/>
            <a:ext cx="2194561" cy="566929"/>
          </a:xfrm>
          <a:prstGeom prst="roundRect">
            <a:avLst>
              <a:gd name="adj" fmla="val 25000"/>
            </a:avLst>
          </a:prstGeom>
          <a:solidFill>
            <a:srgbClr val="F5F2FC"/>
          </a:solidFill>
          <a:ln w="12700">
            <a:miter lim="400000"/>
          </a:ln>
        </p:spPr>
        <p:txBody>
          <a:bodyPr lIns="45719" rIns="45719" anchor="ctr"/>
          <a:lstStyle/>
          <a:p>
            <a:pPr>
              <a:defRPr>
                <a:solidFill>
                  <a:srgbClr val="FFFFFF"/>
                </a:solidFill>
              </a:defRPr>
            </a:pPr>
          </a:p>
        </p:txBody>
      </p:sp>
      <p:sp>
        <p:nvSpPr>
          <p:cNvPr id="237" name="TextBox 44"/>
          <p:cNvSpPr txBox="1"/>
          <p:nvPr/>
        </p:nvSpPr>
        <p:spPr>
          <a:xfrm>
            <a:off x="9262871" y="4681727"/>
            <a:ext cx="1920241" cy="3275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14142B"/>
                </a:solidFill>
              </a:defRPr>
            </a:pPr>
            <a:r>
              <a:t>llm_cache.json</a:t>
            </a:r>
          </a:p>
          <a:p>
            <a:pPr>
              <a:defRPr sz="1000">
                <a:solidFill>
                  <a:srgbClr val="63637E"/>
                </a:solidFill>
              </a:defRPr>
            </a:pPr>
            <a:r>
              <a:t>persistent Gemini results</a:t>
            </a:r>
          </a:p>
        </p:txBody>
      </p:sp>
      <p:sp>
        <p:nvSpPr>
          <p:cNvPr id="238" name="TextBox 45"/>
          <p:cNvSpPr txBox="1"/>
          <p:nvPr/>
        </p:nvSpPr>
        <p:spPr>
          <a:xfrm>
            <a:off x="841247" y="5440679"/>
            <a:ext cx="10515601" cy="3699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300">
                <a:solidFill>
                  <a:srgbClr val="6D28D9"/>
                </a:solidFill>
              </a:defRPr>
            </a:pPr>
            <a:r>
              <a:t>Guardrails  </a:t>
            </a:r>
            <a:r>
              <a:rPr b="0">
                <a:solidFill>
                  <a:srgbClr val="14142B"/>
                </a:solidFill>
              </a:rPr>
              <a:t>validated against the kit's schema.py · zero URL leaks · manual actions never carry links · fallback "no_match" / "no_siis_context" instead of invented steps · meta: latency, cache hit, model, cost</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2"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Demo &amp; Product Walkthrough</a:t>
            </a:r>
          </a:p>
        </p:txBody>
      </p:sp>
      <p:pic>
        <p:nvPicPr>
          <p:cNvPr id="243" name="Picture 2" descr="Picture 2"/>
          <p:cNvPicPr>
            <a:picLocks noChangeAspect="1"/>
          </p:cNvPicPr>
          <p:nvPr/>
        </p:nvPicPr>
        <p:blipFill>
          <a:blip r:embed="rId3">
            <a:extLst/>
          </a:blip>
          <a:stretch>
            <a:fillRect/>
          </a:stretch>
        </p:blipFill>
        <p:spPr>
          <a:xfrm>
            <a:off x="841247" y="1600200"/>
            <a:ext cx="6675121" cy="3584788"/>
          </a:xfrm>
          <a:prstGeom prst="rect">
            <a:avLst/>
          </a:prstGeom>
          <a:ln w="12700">
            <a:solidFill>
              <a:srgbClr val="D9D3F0"/>
            </a:solidFill>
          </a:ln>
        </p:spPr>
      </p:pic>
      <p:sp>
        <p:nvSpPr>
          <p:cNvPr id="244" name="Oval 3"/>
          <p:cNvSpPr/>
          <p:nvPr/>
        </p:nvSpPr>
        <p:spPr>
          <a:xfrm>
            <a:off x="7818119" y="1645920"/>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45" name="TextBox 4"/>
          <p:cNvSpPr txBox="1"/>
          <p:nvPr/>
        </p:nvSpPr>
        <p:spPr>
          <a:xfrm>
            <a:off x="7818119" y="1745394"/>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1</a:t>
            </a:r>
          </a:p>
        </p:txBody>
      </p:sp>
      <p:sp>
        <p:nvSpPr>
          <p:cNvPr id="246" name="TextBox 5"/>
          <p:cNvSpPr txBox="1"/>
          <p:nvPr/>
        </p:nvSpPr>
        <p:spPr>
          <a:xfrm>
            <a:off x="8321040" y="1627632"/>
            <a:ext cx="3017521" cy="5505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latin typeface="Arial"/>
                <a:ea typeface="Arial"/>
                <a:cs typeface="Arial"/>
                <a:sym typeface="Arial"/>
              </a:defRPr>
            </a:pPr>
            <a:r>
              <a:t>Pick a case</a:t>
            </a:r>
          </a:p>
          <a:p>
            <a:pPr>
              <a:defRPr sz="1200">
                <a:solidFill>
                  <a:srgbClr val="63637E"/>
                </a:solidFill>
              </a:defRPr>
            </a:pPr>
            <a:r>
              <a:t>20 kit cases, 14 unseen formats, or paste your own</a:t>
            </a:r>
          </a:p>
        </p:txBody>
      </p:sp>
      <p:sp>
        <p:nvSpPr>
          <p:cNvPr id="247" name="Oval 6"/>
          <p:cNvSpPr/>
          <p:nvPr/>
        </p:nvSpPr>
        <p:spPr>
          <a:xfrm>
            <a:off x="7818119" y="2414016"/>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48" name="TextBox 7"/>
          <p:cNvSpPr txBox="1"/>
          <p:nvPr/>
        </p:nvSpPr>
        <p:spPr>
          <a:xfrm>
            <a:off x="7818119" y="2513490"/>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2</a:t>
            </a:r>
          </a:p>
        </p:txBody>
      </p:sp>
      <p:sp>
        <p:nvSpPr>
          <p:cNvPr id="249" name="TextBox 8"/>
          <p:cNvSpPr txBox="1"/>
          <p:nvPr/>
        </p:nvSpPr>
        <p:spPr>
          <a:xfrm>
            <a:off x="8321040" y="2395727"/>
            <a:ext cx="3017521" cy="5505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latin typeface="Arial"/>
                <a:ea typeface="Arial"/>
                <a:cs typeface="Arial"/>
                <a:sym typeface="Arial"/>
              </a:defRPr>
            </a:pPr>
            <a:r>
              <a:t>Read the plan</a:t>
            </a:r>
          </a:p>
          <a:p>
            <a:pPr>
              <a:defRPr sz="1200">
                <a:solidFill>
                  <a:srgbClr val="63637E"/>
                </a:solidFill>
              </a:defRPr>
            </a:pPr>
            <a:r>
              <a:t>goal, ordered actions, deeplinks + validation, 9 rule checks</a:t>
            </a:r>
          </a:p>
        </p:txBody>
      </p:sp>
      <p:sp>
        <p:nvSpPr>
          <p:cNvPr id="250" name="Oval 9"/>
          <p:cNvSpPr/>
          <p:nvPr/>
        </p:nvSpPr>
        <p:spPr>
          <a:xfrm>
            <a:off x="7818119" y="3182111"/>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51" name="TextBox 10"/>
          <p:cNvSpPr txBox="1"/>
          <p:nvPr/>
        </p:nvSpPr>
        <p:spPr>
          <a:xfrm>
            <a:off x="7818119" y="3281586"/>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3</a:t>
            </a:r>
          </a:p>
        </p:txBody>
      </p:sp>
      <p:sp>
        <p:nvSpPr>
          <p:cNvPr id="252" name="TextBox 11"/>
          <p:cNvSpPr txBox="1"/>
          <p:nvPr/>
        </p:nvSpPr>
        <p:spPr>
          <a:xfrm>
            <a:off x="8321040" y="3163823"/>
            <a:ext cx="3017521" cy="3600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latin typeface="Arial"/>
                <a:ea typeface="Arial"/>
                <a:cs typeface="Arial"/>
                <a:sym typeface="Arial"/>
              </a:defRPr>
            </a:pPr>
            <a:r>
              <a:t>Hit the cache</a:t>
            </a:r>
          </a:p>
          <a:p>
            <a:pPr>
              <a:defRPr sz="1200">
                <a:solidFill>
                  <a:srgbClr val="63637E"/>
                </a:solidFill>
              </a:defRPr>
            </a:pPr>
            <a:r>
              <a:t>Repeat / Paraphrase → answered in ~1 ms</a:t>
            </a:r>
          </a:p>
        </p:txBody>
      </p:sp>
      <p:sp>
        <p:nvSpPr>
          <p:cNvPr id="253" name="Oval 12"/>
          <p:cNvSpPr/>
          <p:nvPr/>
        </p:nvSpPr>
        <p:spPr>
          <a:xfrm>
            <a:off x="7818119" y="3950206"/>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54" name="TextBox 13"/>
          <p:cNvSpPr txBox="1"/>
          <p:nvPr/>
        </p:nvSpPr>
        <p:spPr>
          <a:xfrm>
            <a:off x="7818119" y="4049681"/>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4</a:t>
            </a:r>
          </a:p>
        </p:txBody>
      </p:sp>
      <p:sp>
        <p:nvSpPr>
          <p:cNvPr id="255" name="TextBox 14"/>
          <p:cNvSpPr txBox="1"/>
          <p:nvPr/>
        </p:nvSpPr>
        <p:spPr>
          <a:xfrm>
            <a:off x="8321040" y="3931920"/>
            <a:ext cx="3017521" cy="3600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latin typeface="Arial"/>
                <a:ea typeface="Arial"/>
                <a:cs typeface="Arial"/>
                <a:sym typeface="Arial"/>
              </a:defRPr>
            </a:pPr>
            <a:r>
              <a:t>Walk it on the phone</a:t>
            </a:r>
          </a:p>
          <a:p>
            <a:pPr>
              <a:defRPr sz="1200">
                <a:solidFill>
                  <a:srgbClr val="63637E"/>
                </a:solidFill>
              </a:defRPr>
            </a:pPr>
            <a:r>
              <a:t>open the deeplink, verify, confirm critical steps</a:t>
            </a:r>
          </a:p>
        </p:txBody>
      </p:sp>
      <p:sp>
        <p:nvSpPr>
          <p:cNvPr id="256" name="Oval 15"/>
          <p:cNvSpPr/>
          <p:nvPr/>
        </p:nvSpPr>
        <p:spPr>
          <a:xfrm>
            <a:off x="7818119" y="4718303"/>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57" name="TextBox 16"/>
          <p:cNvSpPr txBox="1"/>
          <p:nvPr/>
        </p:nvSpPr>
        <p:spPr>
          <a:xfrm>
            <a:off x="7818119" y="4817777"/>
            <a:ext cx="38404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5</a:t>
            </a:r>
          </a:p>
        </p:txBody>
      </p:sp>
      <p:sp>
        <p:nvSpPr>
          <p:cNvPr id="258" name="TextBox 17"/>
          <p:cNvSpPr txBox="1"/>
          <p:nvPr/>
        </p:nvSpPr>
        <p:spPr>
          <a:xfrm>
            <a:off x="8321040" y="4700015"/>
            <a:ext cx="3017521" cy="3600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14142B"/>
                </a:solidFill>
                <a:latin typeface="Arial"/>
                <a:ea typeface="Arial"/>
                <a:cs typeface="Arial"/>
                <a:sym typeface="Arial"/>
              </a:defRPr>
            </a:pPr>
            <a:r>
              <a:t>Run the benchmark</a:t>
            </a:r>
          </a:p>
          <a:p>
            <a:pPr>
              <a:defRPr sz="1200">
                <a:solidFill>
                  <a:srgbClr val="63637E"/>
                </a:solidFill>
              </a:defRPr>
            </a:pPr>
            <a:r>
              <a:t>every gate against the live API, from the browser</a:t>
            </a:r>
          </a:p>
        </p:txBody>
      </p:sp>
      <p:sp>
        <p:nvSpPr>
          <p:cNvPr id="259" name="Rounded Rectangle 18"/>
          <p:cNvSpPr/>
          <p:nvPr/>
        </p:nvSpPr>
        <p:spPr>
          <a:xfrm>
            <a:off x="841247" y="5532120"/>
            <a:ext cx="10442449" cy="658369"/>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260" name="TextBox 19"/>
          <p:cNvSpPr txBox="1"/>
          <p:nvPr/>
        </p:nvSpPr>
        <p:spPr>
          <a:xfrm>
            <a:off x="1097280" y="5766624"/>
            <a:ext cx="1005840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400">
                <a:solidFill>
                  <a:srgbClr val="6D28D9"/>
                </a:solidFill>
              </a:defRPr>
            </a:pPr>
            <a:r>
              <a:t>Live  </a:t>
            </a:r>
            <a:r>
              <a:rPr>
                <a:solidFill>
                  <a:srgbClr val="14142B"/>
                </a:solidFill>
              </a:rPr>
              <a:t>samsung-prism-sentinel.onrender.com     </a:t>
            </a:r>
            <a:r>
              <a:t>Video  </a:t>
            </a:r>
            <a:r>
              <a:rPr b="0">
                <a:solidFill>
                  <a:srgbClr val="14142B"/>
                </a:solidFill>
              </a:rPr>
              <a:t>[YouTube / Drive link, ≤ 5 min]</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4"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Tools and tech stack used</a:t>
            </a:r>
          </a:p>
        </p:txBody>
      </p:sp>
      <p:sp>
        <p:nvSpPr>
          <p:cNvPr id="265" name="Rounded Rectangle 2"/>
          <p:cNvSpPr/>
          <p:nvPr/>
        </p:nvSpPr>
        <p:spPr>
          <a:xfrm>
            <a:off x="841247" y="169163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66" name="Oval 3"/>
          <p:cNvSpPr/>
          <p:nvPr/>
        </p:nvSpPr>
        <p:spPr>
          <a:xfrm>
            <a:off x="1097280" y="1947672"/>
            <a:ext cx="566929" cy="566928"/>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67" name="TextBox 4"/>
          <p:cNvSpPr txBox="1"/>
          <p:nvPr/>
        </p:nvSpPr>
        <p:spPr>
          <a:xfrm>
            <a:off x="1097280" y="2138586"/>
            <a:ext cx="56692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Py</a:t>
            </a:r>
          </a:p>
        </p:txBody>
      </p:sp>
      <p:sp>
        <p:nvSpPr>
          <p:cNvPr id="268" name="TextBox 5"/>
          <p:cNvSpPr txBox="1"/>
          <p:nvPr/>
        </p:nvSpPr>
        <p:spPr>
          <a:xfrm>
            <a:off x="1097280" y="2624327"/>
            <a:ext cx="2011679"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Python 3.12</a:t>
            </a:r>
          </a:p>
        </p:txBody>
      </p:sp>
      <p:sp>
        <p:nvSpPr>
          <p:cNvPr id="269" name="TextBox 6"/>
          <p:cNvSpPr txBox="1"/>
          <p:nvPr/>
        </p:nvSpPr>
        <p:spPr>
          <a:xfrm>
            <a:off x="1097280" y="2990088"/>
            <a:ext cx="201167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engine in pure Python — no model downloads</a:t>
            </a:r>
          </a:p>
        </p:txBody>
      </p:sp>
      <p:sp>
        <p:nvSpPr>
          <p:cNvPr id="270" name="Rounded Rectangle 7"/>
          <p:cNvSpPr/>
          <p:nvPr/>
        </p:nvSpPr>
        <p:spPr>
          <a:xfrm>
            <a:off x="3520440" y="169163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71" name="Oval 8"/>
          <p:cNvSpPr/>
          <p:nvPr/>
        </p:nvSpPr>
        <p:spPr>
          <a:xfrm>
            <a:off x="3776471" y="1947672"/>
            <a:ext cx="566929" cy="566928"/>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272" name="TextBox 9"/>
          <p:cNvSpPr txBox="1"/>
          <p:nvPr/>
        </p:nvSpPr>
        <p:spPr>
          <a:xfrm>
            <a:off x="3776471" y="2157221"/>
            <a:ext cx="566929"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Arial"/>
                <a:ea typeface="Arial"/>
                <a:cs typeface="Arial"/>
                <a:sym typeface="Arial"/>
              </a:defRPr>
            </a:lvl1pPr>
          </a:lstStyle>
          <a:p>
            <a:pPr/>
            <a:r>
              <a:t>API</a:t>
            </a:r>
          </a:p>
        </p:txBody>
      </p:sp>
      <p:sp>
        <p:nvSpPr>
          <p:cNvPr id="273" name="TextBox 10"/>
          <p:cNvSpPr txBox="1"/>
          <p:nvPr/>
        </p:nvSpPr>
        <p:spPr>
          <a:xfrm>
            <a:off x="3776471" y="262432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FastAPI + uvicorn</a:t>
            </a:r>
          </a:p>
        </p:txBody>
      </p:sp>
      <p:sp>
        <p:nvSpPr>
          <p:cNvPr id="274" name="TextBox 11"/>
          <p:cNvSpPr txBox="1"/>
          <p:nvPr/>
        </p:nvSpPr>
        <p:spPr>
          <a:xfrm>
            <a:off x="3776471" y="299008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REST API and the simulator site, one app</a:t>
            </a:r>
          </a:p>
        </p:txBody>
      </p:sp>
      <p:sp>
        <p:nvSpPr>
          <p:cNvPr id="275" name="Rounded Rectangle 12"/>
          <p:cNvSpPr/>
          <p:nvPr/>
        </p:nvSpPr>
        <p:spPr>
          <a:xfrm>
            <a:off x="6199632" y="1691639"/>
            <a:ext cx="2468880"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76" name="Oval 13"/>
          <p:cNvSpPr/>
          <p:nvPr/>
        </p:nvSpPr>
        <p:spPr>
          <a:xfrm>
            <a:off x="6455664" y="1947672"/>
            <a:ext cx="566929" cy="566928"/>
          </a:xfrm>
          <a:prstGeom prst="ellipse">
            <a:avLst/>
          </a:prstGeom>
          <a:solidFill>
            <a:srgbClr val="4E9C8F"/>
          </a:solidFill>
          <a:ln w="12700">
            <a:miter lim="400000"/>
          </a:ln>
        </p:spPr>
        <p:txBody>
          <a:bodyPr lIns="45719" rIns="45719" anchor="ctr"/>
          <a:lstStyle/>
          <a:p>
            <a:pPr algn="ctr">
              <a:defRPr>
                <a:solidFill>
                  <a:srgbClr val="FFFFFF"/>
                </a:solidFill>
              </a:defRPr>
            </a:pPr>
          </a:p>
        </p:txBody>
      </p:sp>
      <p:sp>
        <p:nvSpPr>
          <p:cNvPr id="277" name="TextBox 14"/>
          <p:cNvSpPr txBox="1"/>
          <p:nvPr/>
        </p:nvSpPr>
        <p:spPr>
          <a:xfrm>
            <a:off x="6455664" y="2157221"/>
            <a:ext cx="566929"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Arial"/>
                <a:ea typeface="Arial"/>
                <a:cs typeface="Arial"/>
                <a:sym typeface="Arial"/>
              </a:defRPr>
            </a:lvl1pPr>
          </a:lstStyle>
          <a:p>
            <a:pPr/>
            <a:r>
              <a:t>{ }</a:t>
            </a:r>
          </a:p>
        </p:txBody>
      </p:sp>
      <p:sp>
        <p:nvSpPr>
          <p:cNvPr id="278" name="TextBox 15"/>
          <p:cNvSpPr txBox="1"/>
          <p:nvPr/>
        </p:nvSpPr>
        <p:spPr>
          <a:xfrm>
            <a:off x="6455664" y="262432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Pydantic v2</a:t>
            </a:r>
          </a:p>
        </p:txBody>
      </p:sp>
      <p:sp>
        <p:nvSpPr>
          <p:cNvPr id="279" name="TextBox 16"/>
          <p:cNvSpPr txBox="1"/>
          <p:nvPr/>
        </p:nvSpPr>
        <p:spPr>
          <a:xfrm>
            <a:off x="6455664" y="299008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validated against the kit's schema.py</a:t>
            </a:r>
          </a:p>
        </p:txBody>
      </p:sp>
      <p:sp>
        <p:nvSpPr>
          <p:cNvPr id="280" name="Rounded Rectangle 17"/>
          <p:cNvSpPr/>
          <p:nvPr/>
        </p:nvSpPr>
        <p:spPr>
          <a:xfrm>
            <a:off x="8878823" y="169163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81" name="Oval 18"/>
          <p:cNvSpPr/>
          <p:nvPr/>
        </p:nvSpPr>
        <p:spPr>
          <a:xfrm>
            <a:off x="9134856" y="1947672"/>
            <a:ext cx="566929" cy="566928"/>
          </a:xfrm>
          <a:prstGeom prst="ellipse">
            <a:avLst/>
          </a:prstGeom>
          <a:solidFill>
            <a:srgbClr val="14142B"/>
          </a:solidFill>
          <a:ln w="12700">
            <a:miter lim="400000"/>
          </a:ln>
        </p:spPr>
        <p:txBody>
          <a:bodyPr lIns="45719" rIns="45719" anchor="ctr"/>
          <a:lstStyle/>
          <a:p>
            <a:pPr algn="ctr">
              <a:defRPr>
                <a:solidFill>
                  <a:srgbClr val="FFFFFF"/>
                </a:solidFill>
              </a:defRPr>
            </a:pPr>
          </a:p>
        </p:txBody>
      </p:sp>
      <p:sp>
        <p:nvSpPr>
          <p:cNvPr id="282" name="TextBox 19"/>
          <p:cNvSpPr txBox="1"/>
          <p:nvPr/>
        </p:nvSpPr>
        <p:spPr>
          <a:xfrm>
            <a:off x="9134856" y="2138586"/>
            <a:ext cx="56692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BM</a:t>
            </a:r>
          </a:p>
        </p:txBody>
      </p:sp>
      <p:sp>
        <p:nvSpPr>
          <p:cNvPr id="283" name="TextBox 20"/>
          <p:cNvSpPr txBox="1"/>
          <p:nvPr/>
        </p:nvSpPr>
        <p:spPr>
          <a:xfrm>
            <a:off x="9134856" y="262432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BM25 + embeddings</a:t>
            </a:r>
          </a:p>
        </p:txBody>
      </p:sp>
      <p:sp>
        <p:nvSpPr>
          <p:cNvPr id="284" name="TextBox 21"/>
          <p:cNvSpPr txBox="1"/>
          <p:nvPr/>
        </p:nvSpPr>
        <p:spPr>
          <a:xfrm>
            <a:off x="9134856" y="299008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hashed-vector retrieval over the 578-entry catalogue</a:t>
            </a:r>
          </a:p>
        </p:txBody>
      </p:sp>
      <p:sp>
        <p:nvSpPr>
          <p:cNvPr id="285" name="Rounded Rectangle 22"/>
          <p:cNvSpPr/>
          <p:nvPr/>
        </p:nvSpPr>
        <p:spPr>
          <a:xfrm>
            <a:off x="841247" y="384047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86" name="Oval 23"/>
          <p:cNvSpPr/>
          <p:nvPr/>
        </p:nvSpPr>
        <p:spPr>
          <a:xfrm>
            <a:off x="1097280" y="4096511"/>
            <a:ext cx="566929" cy="56692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287" name="TextBox 24"/>
          <p:cNvSpPr txBox="1"/>
          <p:nvPr/>
        </p:nvSpPr>
        <p:spPr>
          <a:xfrm>
            <a:off x="1097280" y="4287426"/>
            <a:ext cx="56692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G</a:t>
            </a:r>
          </a:p>
        </p:txBody>
      </p:sp>
      <p:sp>
        <p:nvSpPr>
          <p:cNvPr id="288" name="TextBox 25"/>
          <p:cNvSpPr txBox="1"/>
          <p:nvPr/>
        </p:nvSpPr>
        <p:spPr>
          <a:xfrm>
            <a:off x="1097280" y="4773167"/>
            <a:ext cx="2011679"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Gemini 3.5 Flash-Lite</a:t>
            </a:r>
          </a:p>
        </p:txBody>
      </p:sp>
      <p:sp>
        <p:nvSpPr>
          <p:cNvPr id="289" name="TextBox 26"/>
          <p:cNvSpPr txBox="1"/>
          <p:nvPr/>
        </p:nvSpPr>
        <p:spPr>
          <a:xfrm>
            <a:off x="1097280" y="5138928"/>
            <a:ext cx="2011679"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refinement stages, 3.1 Flash-Lite fallback</a:t>
            </a:r>
          </a:p>
        </p:txBody>
      </p:sp>
      <p:sp>
        <p:nvSpPr>
          <p:cNvPr id="290" name="Rounded Rectangle 27"/>
          <p:cNvSpPr/>
          <p:nvPr/>
        </p:nvSpPr>
        <p:spPr>
          <a:xfrm>
            <a:off x="3520440" y="384047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91" name="Oval 28"/>
          <p:cNvSpPr/>
          <p:nvPr/>
        </p:nvSpPr>
        <p:spPr>
          <a:xfrm>
            <a:off x="3776471" y="4096511"/>
            <a:ext cx="566929" cy="566929"/>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292" name="TextBox 29"/>
          <p:cNvSpPr txBox="1"/>
          <p:nvPr/>
        </p:nvSpPr>
        <p:spPr>
          <a:xfrm>
            <a:off x="3776471" y="4287426"/>
            <a:ext cx="56692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Dk</a:t>
            </a:r>
          </a:p>
        </p:txBody>
      </p:sp>
      <p:sp>
        <p:nvSpPr>
          <p:cNvPr id="293" name="TextBox 30"/>
          <p:cNvSpPr txBox="1"/>
          <p:nvPr/>
        </p:nvSpPr>
        <p:spPr>
          <a:xfrm>
            <a:off x="3776471" y="477316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Docker on Render</a:t>
            </a:r>
          </a:p>
        </p:txBody>
      </p:sp>
      <p:sp>
        <p:nvSpPr>
          <p:cNvPr id="294" name="TextBox 31"/>
          <p:cNvSpPr txBox="1"/>
          <p:nvPr/>
        </p:nvSpPr>
        <p:spPr>
          <a:xfrm>
            <a:off x="3776471" y="513892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one container, live URL, env-only secrets</a:t>
            </a:r>
          </a:p>
        </p:txBody>
      </p:sp>
      <p:sp>
        <p:nvSpPr>
          <p:cNvPr id="295" name="Rounded Rectangle 32"/>
          <p:cNvSpPr/>
          <p:nvPr/>
        </p:nvSpPr>
        <p:spPr>
          <a:xfrm>
            <a:off x="6199632" y="3840479"/>
            <a:ext cx="2468880"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296" name="Oval 33"/>
          <p:cNvSpPr/>
          <p:nvPr/>
        </p:nvSpPr>
        <p:spPr>
          <a:xfrm>
            <a:off x="6455664" y="4096511"/>
            <a:ext cx="566929" cy="566929"/>
          </a:xfrm>
          <a:prstGeom prst="ellipse">
            <a:avLst/>
          </a:prstGeom>
          <a:solidFill>
            <a:srgbClr val="4E9C8F"/>
          </a:solidFill>
          <a:ln w="12700">
            <a:miter lim="400000"/>
          </a:ln>
        </p:spPr>
        <p:txBody>
          <a:bodyPr lIns="45719" rIns="45719" anchor="ctr"/>
          <a:lstStyle/>
          <a:p>
            <a:pPr algn="ctr">
              <a:defRPr>
                <a:solidFill>
                  <a:srgbClr val="FFFFFF"/>
                </a:solidFill>
              </a:defRPr>
            </a:pPr>
          </a:p>
        </p:txBody>
      </p:sp>
      <p:sp>
        <p:nvSpPr>
          <p:cNvPr id="297" name="TextBox 34"/>
          <p:cNvSpPr txBox="1"/>
          <p:nvPr/>
        </p:nvSpPr>
        <p:spPr>
          <a:xfrm>
            <a:off x="6455664" y="4278376"/>
            <a:ext cx="56692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mn-lt"/>
                <a:ea typeface="+mn-ea"/>
                <a:cs typeface="+mn-cs"/>
                <a:sym typeface="Helvetica"/>
              </a:defRPr>
            </a:lvl1pPr>
          </a:lstStyle>
          <a:p>
            <a:pPr>
              <a:defRPr>
                <a:latin typeface="Arial"/>
                <a:ea typeface="Arial"/>
                <a:cs typeface="Arial"/>
                <a:sym typeface="Arial"/>
              </a:defRPr>
            </a:pPr>
            <a:r>
              <a:rPr>
                <a:latin typeface="+mn-lt"/>
                <a:ea typeface="+mn-ea"/>
                <a:cs typeface="+mn-cs"/>
                <a:sym typeface="Helvetica"/>
              </a:rPr>
              <a:t>✓</a:t>
            </a:r>
          </a:p>
        </p:txBody>
      </p:sp>
      <p:sp>
        <p:nvSpPr>
          <p:cNvPr id="298" name="TextBox 35"/>
          <p:cNvSpPr txBox="1"/>
          <p:nvPr/>
        </p:nvSpPr>
        <p:spPr>
          <a:xfrm>
            <a:off x="6455664" y="477316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pytest · 78 tests</a:t>
            </a:r>
          </a:p>
        </p:txBody>
      </p:sp>
      <p:sp>
        <p:nvSpPr>
          <p:cNvPr id="299" name="TextBox 36"/>
          <p:cNvSpPr txBox="1"/>
          <p:nvPr/>
        </p:nvSpPr>
        <p:spPr>
          <a:xfrm>
            <a:off x="6455664" y="513892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offline; Gemini stubbed; catalogue sweep</a:t>
            </a:r>
          </a:p>
        </p:txBody>
      </p:sp>
      <p:sp>
        <p:nvSpPr>
          <p:cNvPr id="300" name="Rounded Rectangle 37"/>
          <p:cNvSpPr/>
          <p:nvPr/>
        </p:nvSpPr>
        <p:spPr>
          <a:xfrm>
            <a:off x="8878823" y="3840479"/>
            <a:ext cx="2468881" cy="1874520"/>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01" name="Oval 38"/>
          <p:cNvSpPr/>
          <p:nvPr/>
        </p:nvSpPr>
        <p:spPr>
          <a:xfrm>
            <a:off x="9134856" y="4096511"/>
            <a:ext cx="566929" cy="566929"/>
          </a:xfrm>
          <a:prstGeom prst="ellipse">
            <a:avLst/>
          </a:prstGeom>
          <a:solidFill>
            <a:srgbClr val="14142B"/>
          </a:solidFill>
          <a:ln w="12700">
            <a:miter lim="400000"/>
          </a:ln>
        </p:spPr>
        <p:txBody>
          <a:bodyPr lIns="45719" rIns="45719" anchor="ctr"/>
          <a:lstStyle/>
          <a:p>
            <a:pPr algn="ctr">
              <a:defRPr>
                <a:solidFill>
                  <a:srgbClr val="FFFFFF"/>
                </a:solidFill>
              </a:defRPr>
            </a:pPr>
          </a:p>
        </p:txBody>
      </p:sp>
      <p:sp>
        <p:nvSpPr>
          <p:cNvPr id="302" name="TextBox 39"/>
          <p:cNvSpPr txBox="1"/>
          <p:nvPr/>
        </p:nvSpPr>
        <p:spPr>
          <a:xfrm>
            <a:off x="9134856" y="4287426"/>
            <a:ext cx="566929"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UI</a:t>
            </a:r>
          </a:p>
        </p:txBody>
      </p:sp>
      <p:sp>
        <p:nvSpPr>
          <p:cNvPr id="303" name="TextBox 40"/>
          <p:cNvSpPr txBox="1"/>
          <p:nvPr/>
        </p:nvSpPr>
        <p:spPr>
          <a:xfrm>
            <a:off x="9134856" y="4773167"/>
            <a:ext cx="2011680" cy="1973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14142B"/>
                </a:solidFill>
                <a:latin typeface="Arial"/>
                <a:ea typeface="Arial"/>
                <a:cs typeface="Arial"/>
                <a:sym typeface="Arial"/>
              </a:defRPr>
            </a:lvl1pPr>
          </a:lstStyle>
          <a:p>
            <a:pPr/>
            <a:r>
              <a:t>HTML · CSS · JS</a:t>
            </a:r>
          </a:p>
        </p:txBody>
      </p:sp>
      <p:sp>
        <p:nvSpPr>
          <p:cNvPr id="304" name="TextBox 41"/>
          <p:cNvSpPr txBox="1"/>
          <p:nvPr/>
        </p:nvSpPr>
        <p:spPr>
          <a:xfrm>
            <a:off x="9134856" y="5138928"/>
            <a:ext cx="2011680" cy="2993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simulator + in-browser benchmark, no build step</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8"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Impact &amp; Use case</a:t>
            </a:r>
          </a:p>
        </p:txBody>
      </p:sp>
      <p:sp>
        <p:nvSpPr>
          <p:cNvPr id="309" name="Rounded Rectangle 2"/>
          <p:cNvSpPr/>
          <p:nvPr/>
        </p:nvSpPr>
        <p:spPr>
          <a:xfrm>
            <a:off x="841247" y="1645920"/>
            <a:ext cx="5029201" cy="1298449"/>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310" name="TextBox 3"/>
          <p:cNvSpPr txBox="1"/>
          <p:nvPr/>
        </p:nvSpPr>
        <p:spPr>
          <a:xfrm>
            <a:off x="1097280" y="1792223"/>
            <a:ext cx="4572001"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rgbClr val="6D28D9"/>
                </a:solidFill>
                <a:latin typeface="Arial"/>
                <a:ea typeface="Arial"/>
                <a:cs typeface="Arial"/>
                <a:sym typeface="Arial"/>
              </a:defRPr>
            </a:lvl1pPr>
          </a:lstStyle>
          <a:p>
            <a:pPr/>
            <a:r>
              <a:t>~15 min → ~1 ms</a:t>
            </a:r>
          </a:p>
        </p:txBody>
      </p:sp>
      <p:sp>
        <p:nvSpPr>
          <p:cNvPr id="311" name="TextBox 4"/>
          <p:cNvSpPr txBox="1"/>
          <p:nvPr/>
        </p:nvSpPr>
        <p:spPr>
          <a:xfrm>
            <a:off x="1097280" y="2432304"/>
            <a:ext cx="457200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manual triage vs a cached SGTE answer</a:t>
            </a:r>
          </a:p>
        </p:txBody>
      </p:sp>
      <p:sp>
        <p:nvSpPr>
          <p:cNvPr id="312" name="Rounded Rectangle 5"/>
          <p:cNvSpPr/>
          <p:nvPr/>
        </p:nvSpPr>
        <p:spPr>
          <a:xfrm>
            <a:off x="841247" y="3127248"/>
            <a:ext cx="5029201" cy="1298449"/>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313" name="TextBox 6"/>
          <p:cNvSpPr txBox="1"/>
          <p:nvPr/>
        </p:nvSpPr>
        <p:spPr>
          <a:xfrm>
            <a:off x="1097280" y="3273552"/>
            <a:ext cx="4572001" cy="41933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rgbClr val="6D28D9"/>
                </a:solidFill>
                <a:latin typeface="Arial"/>
                <a:ea typeface="Arial"/>
                <a:cs typeface="Arial"/>
                <a:sym typeface="Arial"/>
              </a:defRPr>
            </a:lvl1pPr>
          </a:lstStyle>
          <a:p>
            <a:pPr/>
            <a:r>
              <a:t>1 tap</a:t>
            </a:r>
          </a:p>
        </p:txBody>
      </p:sp>
      <p:sp>
        <p:nvSpPr>
          <p:cNvPr id="314" name="TextBox 7"/>
          <p:cNvSpPr txBox="1"/>
          <p:nvPr/>
        </p:nvSpPr>
        <p:spPr>
          <a:xfrm>
            <a:off x="1097280" y="3913632"/>
            <a:ext cx="4572001"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deeplink to the exact Settings screen, then validated</a:t>
            </a:r>
          </a:p>
        </p:txBody>
      </p:sp>
      <p:sp>
        <p:nvSpPr>
          <p:cNvPr id="315" name="Rounded Rectangle 8"/>
          <p:cNvSpPr/>
          <p:nvPr/>
        </p:nvSpPr>
        <p:spPr>
          <a:xfrm>
            <a:off x="841247" y="4608576"/>
            <a:ext cx="5029201" cy="1298449"/>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316" name="TextBox 9"/>
          <p:cNvSpPr txBox="1"/>
          <p:nvPr/>
        </p:nvSpPr>
        <p:spPr>
          <a:xfrm>
            <a:off x="1097280" y="4754879"/>
            <a:ext cx="4572001" cy="4193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3000">
                <a:solidFill>
                  <a:srgbClr val="6D28D9"/>
                </a:solidFill>
                <a:latin typeface="Arial"/>
                <a:ea typeface="Arial"/>
                <a:cs typeface="Arial"/>
                <a:sym typeface="Arial"/>
              </a:defRPr>
            </a:lvl1pPr>
          </a:lstStyle>
          <a:p>
            <a:pPr/>
            <a:r>
              <a:t>$0.00</a:t>
            </a:r>
          </a:p>
        </p:txBody>
      </p:sp>
      <p:sp>
        <p:nvSpPr>
          <p:cNvPr id="317" name="TextBox 10"/>
          <p:cNvSpPr txBox="1"/>
          <p:nvPr/>
        </p:nvSpPr>
        <p:spPr>
          <a:xfrm>
            <a:off x="1097280" y="5394959"/>
            <a:ext cx="4572001" cy="1667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4142B"/>
                </a:solidFill>
              </a:defRPr>
            </a:lvl1pPr>
          </a:lstStyle>
          <a:p>
            <a:pPr/>
            <a:r>
              <a:t>per query on the free tier; cache hits never call a model</a:t>
            </a:r>
          </a:p>
        </p:txBody>
      </p:sp>
      <p:sp>
        <p:nvSpPr>
          <p:cNvPr id="318" name="TextBox 11"/>
          <p:cNvSpPr txBox="1"/>
          <p:nvPr/>
        </p:nvSpPr>
        <p:spPr>
          <a:xfrm>
            <a:off x="6355079" y="1645920"/>
            <a:ext cx="4937762"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a:solidFill>
                  <a:srgbClr val="14142B"/>
                </a:solidFill>
                <a:latin typeface="Arial"/>
                <a:ea typeface="Arial"/>
                <a:cs typeface="Arial"/>
                <a:sym typeface="Arial"/>
              </a:defRPr>
            </a:lvl1pPr>
          </a:lstStyle>
          <a:p>
            <a:pPr/>
            <a:r>
              <a:t>Where it fits</a:t>
            </a:r>
          </a:p>
        </p:txBody>
      </p:sp>
      <p:sp>
        <p:nvSpPr>
          <p:cNvPr id="319" name="Oval 12"/>
          <p:cNvSpPr/>
          <p:nvPr/>
        </p:nvSpPr>
        <p:spPr>
          <a:xfrm>
            <a:off x="6355079" y="2276855"/>
            <a:ext cx="365761" cy="365761"/>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320" name="TextBox 13"/>
          <p:cNvSpPr txBox="1"/>
          <p:nvPr/>
        </p:nvSpPr>
        <p:spPr>
          <a:xfrm>
            <a:off x="6355079" y="2367186"/>
            <a:ext cx="36576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21" name="TextBox 14"/>
          <p:cNvSpPr txBox="1"/>
          <p:nvPr/>
        </p:nvSpPr>
        <p:spPr>
          <a:xfrm>
            <a:off x="6903719" y="2240279"/>
            <a:ext cx="4389121" cy="3854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defRPr>
            </a:pPr>
            <a:r>
              <a:t>Self-service in the support app</a:t>
            </a:r>
          </a:p>
          <a:p>
            <a:pPr>
              <a:defRPr sz="1200">
                <a:solidFill>
                  <a:srgbClr val="63637E"/>
                </a:solidFill>
              </a:defRPr>
            </a:pPr>
            <a:r>
              <a:t>users get a plan with one-tap fixes instead of an article</a:t>
            </a:r>
          </a:p>
        </p:txBody>
      </p:sp>
      <p:sp>
        <p:nvSpPr>
          <p:cNvPr id="322" name="Oval 15"/>
          <p:cNvSpPr/>
          <p:nvPr/>
        </p:nvSpPr>
        <p:spPr>
          <a:xfrm>
            <a:off x="6355079" y="3264408"/>
            <a:ext cx="365761" cy="365761"/>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323" name="TextBox 16"/>
          <p:cNvSpPr txBox="1"/>
          <p:nvPr/>
        </p:nvSpPr>
        <p:spPr>
          <a:xfrm>
            <a:off x="6355079" y="3354738"/>
            <a:ext cx="36576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24" name="TextBox 17"/>
          <p:cNvSpPr txBox="1"/>
          <p:nvPr/>
        </p:nvSpPr>
        <p:spPr>
          <a:xfrm>
            <a:off x="6903719" y="3227832"/>
            <a:ext cx="4389121" cy="3854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defRPr>
            </a:pPr>
            <a:r>
              <a:t>Contact-centre agent assist</a:t>
            </a:r>
          </a:p>
          <a:p>
            <a:pPr>
              <a:defRPr sz="1200">
                <a:solidFill>
                  <a:srgbClr val="63637E"/>
                </a:solidFill>
              </a:defRPr>
            </a:pPr>
            <a:r>
              <a:t>agents send a validated plan in seconds, not minutes</a:t>
            </a:r>
          </a:p>
        </p:txBody>
      </p:sp>
      <p:sp>
        <p:nvSpPr>
          <p:cNvPr id="325" name="Oval 18"/>
          <p:cNvSpPr/>
          <p:nvPr/>
        </p:nvSpPr>
        <p:spPr>
          <a:xfrm>
            <a:off x="6355079" y="4251959"/>
            <a:ext cx="365761" cy="365761"/>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326" name="TextBox 19"/>
          <p:cNvSpPr txBox="1"/>
          <p:nvPr/>
        </p:nvSpPr>
        <p:spPr>
          <a:xfrm>
            <a:off x="6355079" y="4342290"/>
            <a:ext cx="36576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27" name="TextBox 20"/>
          <p:cNvSpPr txBox="1"/>
          <p:nvPr/>
        </p:nvSpPr>
        <p:spPr>
          <a:xfrm>
            <a:off x="6903719" y="4215384"/>
            <a:ext cx="4389121" cy="3854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defRPr>
            </a:pPr>
            <a:r>
              <a:t>Voice &amp; assistant “fix it” flows</a:t>
            </a:r>
          </a:p>
          <a:p>
            <a:pPr>
              <a:defRPr sz="1200">
                <a:solidFill>
                  <a:srgbClr val="63637E"/>
                </a:solidFill>
              </a:defRPr>
            </a:pPr>
            <a:r>
              <a:t>the deeplinks and validation keys map to device actions</a:t>
            </a:r>
          </a:p>
        </p:txBody>
      </p:sp>
      <p:sp>
        <p:nvSpPr>
          <p:cNvPr id="328" name="Oval 21"/>
          <p:cNvSpPr/>
          <p:nvPr/>
        </p:nvSpPr>
        <p:spPr>
          <a:xfrm>
            <a:off x="6355079" y="5239511"/>
            <a:ext cx="365761" cy="365761"/>
          </a:xfrm>
          <a:prstGeom prst="ellipse">
            <a:avLst/>
          </a:prstGeom>
          <a:solidFill>
            <a:srgbClr val="3F5BD6"/>
          </a:solidFill>
          <a:ln w="12700">
            <a:miter lim="400000"/>
          </a:ln>
        </p:spPr>
        <p:txBody>
          <a:bodyPr lIns="45719" rIns="45719" anchor="ctr"/>
          <a:lstStyle/>
          <a:p>
            <a:pPr algn="ctr">
              <a:defRPr>
                <a:solidFill>
                  <a:srgbClr val="FFFFFF"/>
                </a:solidFill>
              </a:defRPr>
            </a:pPr>
          </a:p>
        </p:txBody>
      </p:sp>
      <p:sp>
        <p:nvSpPr>
          <p:cNvPr id="329" name="TextBox 22"/>
          <p:cNvSpPr txBox="1"/>
          <p:nvPr/>
        </p:nvSpPr>
        <p:spPr>
          <a:xfrm>
            <a:off x="6355079" y="5329842"/>
            <a:ext cx="365761"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30" name="TextBox 23"/>
          <p:cNvSpPr txBox="1"/>
          <p:nvPr/>
        </p:nvSpPr>
        <p:spPr>
          <a:xfrm>
            <a:off x="6903719" y="5202935"/>
            <a:ext cx="4389121" cy="3854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defRPr>
            </a:pPr>
            <a:r>
              <a:t>After an update</a:t>
            </a:r>
          </a:p>
          <a:p>
            <a:pPr>
              <a:defRPr sz="1200">
                <a:solidFill>
                  <a:srgbClr val="63637E"/>
                </a:solidFill>
              </a:defRPr>
            </a:pPr>
            <a:r>
              <a:t>known issues answered from cache, consistently, at scale</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Title 1"/>
          <p:cNvSpPr txBox="1"/>
          <p:nvPr>
            <p:ph type="title"/>
          </p:nvPr>
        </p:nvSpPr>
        <p:spPr>
          <a:prstGeom prst="rect">
            <a:avLst/>
          </a:prstGeom>
        </p:spPr>
        <p:txBody>
          <a:bodyPr/>
          <a:lstStyle>
            <a:lvl1pPr>
              <a:spcBef>
                <a:spcPts val="500"/>
              </a:spcBef>
              <a:defRPr b="1">
                <a:solidFill>
                  <a:srgbClr val="704EA6"/>
                </a:solidFill>
                <a:latin typeface="+mj-lt"/>
                <a:ea typeface="+mj-ea"/>
                <a:cs typeface="+mj-cs"/>
                <a:sym typeface="Calibri"/>
              </a:defRPr>
            </a:lvl1pPr>
          </a:lstStyle>
          <a:p>
            <a:pPr/>
            <a:r>
              <a:t>Innovation highlights, results and limitations</a:t>
            </a:r>
          </a:p>
        </p:txBody>
      </p:sp>
      <p:sp>
        <p:nvSpPr>
          <p:cNvPr id="335" name="Rounded Rectangle 2"/>
          <p:cNvSpPr/>
          <p:nvPr/>
        </p:nvSpPr>
        <p:spPr>
          <a:xfrm>
            <a:off x="841247" y="1554480"/>
            <a:ext cx="3291842" cy="466344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36" name="TextBox 3"/>
          <p:cNvSpPr txBox="1"/>
          <p:nvPr/>
        </p:nvSpPr>
        <p:spPr>
          <a:xfrm>
            <a:off x="1097280" y="1719072"/>
            <a:ext cx="283464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6D28D9"/>
                </a:solidFill>
                <a:latin typeface="Arial"/>
                <a:ea typeface="Arial"/>
                <a:cs typeface="Arial"/>
                <a:sym typeface="Arial"/>
              </a:defRPr>
            </a:lvl1pPr>
          </a:lstStyle>
          <a:p>
            <a:pPr/>
            <a:r>
              <a:t>Innovation</a:t>
            </a:r>
          </a:p>
        </p:txBody>
      </p:sp>
      <p:sp>
        <p:nvSpPr>
          <p:cNvPr id="337" name="Rounded Rectangle 4"/>
          <p:cNvSpPr/>
          <p:nvPr/>
        </p:nvSpPr>
        <p:spPr>
          <a:xfrm>
            <a:off x="4434840" y="1554480"/>
            <a:ext cx="3291841" cy="466344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38" name="TextBox 5"/>
          <p:cNvSpPr txBox="1"/>
          <p:nvPr/>
        </p:nvSpPr>
        <p:spPr>
          <a:xfrm>
            <a:off x="4690871" y="1719072"/>
            <a:ext cx="2834641"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1F8A4C"/>
                </a:solidFill>
                <a:latin typeface="Arial"/>
                <a:ea typeface="Arial"/>
                <a:cs typeface="Arial"/>
                <a:sym typeface="Arial"/>
              </a:defRPr>
            </a:lvl1pPr>
          </a:lstStyle>
          <a:p>
            <a:pPr/>
            <a:r>
              <a:t>Results (live + metrics.md)</a:t>
            </a:r>
          </a:p>
        </p:txBody>
      </p:sp>
      <p:sp>
        <p:nvSpPr>
          <p:cNvPr id="339" name="Rounded Rectangle 6"/>
          <p:cNvSpPr/>
          <p:nvPr/>
        </p:nvSpPr>
        <p:spPr>
          <a:xfrm>
            <a:off x="8028430" y="1554480"/>
            <a:ext cx="3291842" cy="466344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40" name="TextBox 7"/>
          <p:cNvSpPr txBox="1"/>
          <p:nvPr/>
        </p:nvSpPr>
        <p:spPr>
          <a:xfrm>
            <a:off x="8284463" y="1719072"/>
            <a:ext cx="2834641"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B4234A"/>
                </a:solidFill>
                <a:latin typeface="Arial"/>
                <a:ea typeface="Arial"/>
                <a:cs typeface="Arial"/>
                <a:sym typeface="Arial"/>
              </a:defRPr>
            </a:lvl1pPr>
          </a:lstStyle>
          <a:p>
            <a:pPr/>
            <a:r>
              <a:t>Limitations</a:t>
            </a:r>
          </a:p>
        </p:txBody>
      </p:sp>
      <p:sp>
        <p:nvSpPr>
          <p:cNvPr id="341" name="TextBox 8"/>
          <p:cNvSpPr txBox="1"/>
          <p:nvPr/>
        </p:nvSpPr>
        <p:spPr>
          <a:xfrm>
            <a:off x="1097280" y="2212848"/>
            <a:ext cx="2834640"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Paraphrase cache reuses the article's plan — byte-identical to a fresh answer</a:t>
            </a:r>
          </a:p>
        </p:txBody>
      </p:sp>
      <p:sp>
        <p:nvSpPr>
          <p:cNvPr id="342" name="TextBox 9"/>
          <p:cNvSpPr txBox="1"/>
          <p:nvPr/>
        </p:nvSpPr>
        <p:spPr>
          <a:xfrm>
            <a:off x="1097280" y="2999232"/>
            <a:ext cx="2834640" cy="537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Gemini picks only from a shortlist of catalogue ids; a pick off the rules' screen is discarded</a:t>
            </a:r>
          </a:p>
        </p:txBody>
      </p:sp>
      <p:sp>
        <p:nvSpPr>
          <p:cNvPr id="343" name="TextBox 10"/>
          <p:cNvSpPr txBox="1"/>
          <p:nvPr/>
        </p:nvSpPr>
        <p:spPr>
          <a:xfrm>
            <a:off x="1097280" y="3785615"/>
            <a:ext cx="2834640"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Exact-label catalogue index: open vs on/off vs set-a-value</a:t>
            </a:r>
          </a:p>
        </p:txBody>
      </p:sp>
      <p:sp>
        <p:nvSpPr>
          <p:cNvPr id="344" name="TextBox 11"/>
          <p:cNvSpPr txBox="1"/>
          <p:nvPr/>
        </p:nvSpPr>
        <p:spPr>
          <a:xfrm>
            <a:off x="1097280" y="4572000"/>
            <a:ext cx="2834640"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One interaction per step, still word-for-word from the article</a:t>
            </a:r>
          </a:p>
        </p:txBody>
      </p:sp>
      <p:sp>
        <p:nvSpPr>
          <p:cNvPr id="345" name="TextBox 12"/>
          <p:cNvSpPr txBox="1"/>
          <p:nvPr/>
        </p:nvSpPr>
        <p:spPr>
          <a:xfrm>
            <a:off x="1097280" y="5358383"/>
            <a:ext cx="2834640"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Persistent Gemini cache: live, local and results.jsonl agree</a:t>
            </a:r>
          </a:p>
        </p:txBody>
      </p:sp>
      <p:sp>
        <p:nvSpPr>
          <p:cNvPr id="346" name="TextBox 13"/>
          <p:cNvSpPr txBox="1"/>
          <p:nvPr/>
        </p:nvSpPr>
        <p:spPr>
          <a:xfrm>
            <a:off x="4690871" y="2194560"/>
            <a:ext cx="28346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All gates  </a:t>
            </a:r>
            <a:r>
              <a:rPr b="0" sz="1100">
                <a:solidFill>
                  <a:srgbClr val="63637E"/>
                </a:solidFill>
                <a:latin typeface="+mj-lt"/>
                <a:ea typeface="+mj-ea"/>
                <a:cs typeface="+mj-cs"/>
                <a:sym typeface="Calibri"/>
              </a:rPr>
              <a:t>G2–G5 pass on the live URL</a:t>
            </a:r>
          </a:p>
        </p:txBody>
      </p:sp>
      <p:sp>
        <p:nvSpPr>
          <p:cNvPr id="347" name="TextBox 14"/>
          <p:cNvSpPr txBox="1"/>
          <p:nvPr/>
        </p:nvSpPr>
        <p:spPr>
          <a:xfrm>
            <a:off x="4690871" y="2743200"/>
            <a:ext cx="28346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2.91 / 3  </a:t>
            </a:r>
            <a:r>
              <a:rPr b="0" sz="1100">
                <a:solidFill>
                  <a:srgbClr val="63637E"/>
                </a:solidFill>
                <a:latin typeface="+mj-lt"/>
                <a:ea typeface="+mj-ea"/>
                <a:cs typeface="+mj-cs"/>
                <a:sym typeface="Calibri"/>
              </a:rPr>
              <a:t>step accuracy</a:t>
            </a:r>
          </a:p>
        </p:txBody>
      </p:sp>
      <p:sp>
        <p:nvSpPr>
          <p:cNvPr id="348" name="TextBox 15"/>
          <p:cNvSpPr txBox="1"/>
          <p:nvPr/>
        </p:nvSpPr>
        <p:spPr>
          <a:xfrm>
            <a:off x="4690871" y="3291838"/>
            <a:ext cx="2834641"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2.00 / 2  </a:t>
            </a:r>
            <a:r>
              <a:rPr b="0" sz="1100">
                <a:solidFill>
                  <a:srgbClr val="63637E"/>
                </a:solidFill>
                <a:latin typeface="+mj-lt"/>
                <a:ea typeface="+mj-ea"/>
                <a:cs typeface="+mj-cs"/>
                <a:sym typeface="Calibri"/>
              </a:rPr>
              <a:t>deeplink relevance · 572/572</a:t>
            </a:r>
          </a:p>
        </p:txBody>
      </p:sp>
      <p:sp>
        <p:nvSpPr>
          <p:cNvPr id="349" name="TextBox 16"/>
          <p:cNvSpPr txBox="1"/>
          <p:nvPr/>
        </p:nvSpPr>
        <p:spPr>
          <a:xfrm>
            <a:off x="4690871" y="3840479"/>
            <a:ext cx="28346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349 / 349  </a:t>
            </a:r>
            <a:r>
              <a:rPr b="0" sz="1100">
                <a:solidFill>
                  <a:srgbClr val="63637E"/>
                </a:solidFill>
                <a:latin typeface="+mj-lt"/>
                <a:ea typeface="+mj-ea"/>
                <a:cs typeface="+mj-cs"/>
                <a:sym typeface="Calibri"/>
              </a:rPr>
              <a:t>steps grounded</a:t>
            </a:r>
          </a:p>
        </p:txBody>
      </p:sp>
      <p:sp>
        <p:nvSpPr>
          <p:cNvPr id="350" name="TextBox 17"/>
          <p:cNvSpPr txBox="1"/>
          <p:nvPr/>
        </p:nvSpPr>
        <p:spPr>
          <a:xfrm>
            <a:off x="4690871" y="4389120"/>
            <a:ext cx="28346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100%  </a:t>
            </a:r>
            <a:r>
              <a:rPr b="0" sz="1100">
                <a:solidFill>
                  <a:srgbClr val="63637E"/>
                </a:solidFill>
                <a:latin typeface="+mj-lt"/>
                <a:ea typeface="+mj-ea"/>
                <a:cs typeface="+mj-cs"/>
                <a:sym typeface="Calibri"/>
              </a:rPr>
              <a:t>paraphrase hits (16 + 200)</a:t>
            </a:r>
          </a:p>
        </p:txBody>
      </p:sp>
      <p:sp>
        <p:nvSpPr>
          <p:cNvPr id="351" name="TextBox 18"/>
          <p:cNvSpPr txBox="1"/>
          <p:nvPr/>
        </p:nvSpPr>
        <p:spPr>
          <a:xfrm>
            <a:off x="4690871" y="4937759"/>
            <a:ext cx="2834641"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0.23 ms  </a:t>
            </a:r>
            <a:r>
              <a:rPr b="0" sz="1100">
                <a:solidFill>
                  <a:srgbClr val="63637E"/>
                </a:solidFill>
                <a:latin typeface="+mj-lt"/>
                <a:ea typeface="+mj-ea"/>
                <a:cs typeface="+mj-cs"/>
                <a:sym typeface="Calibri"/>
              </a:rPr>
              <a:t>cache-hit p95 (server)</a:t>
            </a:r>
          </a:p>
        </p:txBody>
      </p:sp>
      <p:sp>
        <p:nvSpPr>
          <p:cNvPr id="352" name="TextBox 19"/>
          <p:cNvSpPr txBox="1"/>
          <p:nvPr/>
        </p:nvSpPr>
        <p:spPr>
          <a:xfrm>
            <a:off x="4690871" y="5486400"/>
            <a:ext cx="28346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 5.1 s  </a:t>
            </a:r>
            <a:r>
              <a:rPr b="0" sz="1100">
                <a:solidFill>
                  <a:srgbClr val="63637E"/>
                </a:solidFill>
                <a:latin typeface="+mj-lt"/>
                <a:ea typeface="+mj-ea"/>
                <a:cs typeface="+mj-cs"/>
                <a:sym typeface="Calibri"/>
              </a:rPr>
              <a:t>cold p95 with live Gemini (limit 8 s)</a:t>
            </a:r>
          </a:p>
        </p:txBody>
      </p:sp>
      <p:sp>
        <p:nvSpPr>
          <p:cNvPr id="353" name="TextBox 20"/>
          <p:cNvSpPr txBox="1"/>
          <p:nvPr/>
        </p:nvSpPr>
        <p:spPr>
          <a:xfrm>
            <a:off x="8284463" y="2212848"/>
            <a:ext cx="283464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Goal names use a symptom lexicon; Gemini names unfamiliar topics</a:t>
            </a:r>
          </a:p>
        </p:txBody>
      </p:sp>
      <p:sp>
        <p:nvSpPr>
          <p:cNvPr id="354" name="TextBox 21"/>
          <p:cNvSpPr txBox="1"/>
          <p:nvPr/>
        </p:nvSpPr>
        <p:spPr>
          <a:xfrm>
            <a:off x="8284463" y="2999232"/>
            <a:ext cx="283464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Verbatim rule caps completeness at 0.91 — prose advice isn't rewritten into steps</a:t>
            </a:r>
          </a:p>
        </p:txBody>
      </p:sp>
      <p:sp>
        <p:nvSpPr>
          <p:cNvPr id="355" name="TextBox 22"/>
          <p:cNvSpPr txBox="1"/>
          <p:nvPr/>
        </p:nvSpPr>
        <p:spPr>
          <a:xfrm>
            <a:off x="8284463" y="3785615"/>
            <a:ext cx="283464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20 of 83 kit step groups link: the rest aren't Galaxy Settings screens</a:t>
            </a:r>
          </a:p>
        </p:txBody>
      </p:sp>
      <p:sp>
        <p:nvSpPr>
          <p:cNvPr id="356" name="TextBox 23"/>
          <p:cNvSpPr txBox="1"/>
          <p:nvPr/>
        </p:nvSpPr>
        <p:spPr>
          <a:xfrm>
            <a:off x="8284463" y="4572000"/>
            <a:ext cx="283464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Free-tier Gemini overloads at times — the rules' answer is used</a:t>
            </a:r>
          </a:p>
        </p:txBody>
      </p:sp>
      <p:sp>
        <p:nvSpPr>
          <p:cNvPr id="357" name="TextBox 24"/>
          <p:cNvSpPr txBox="1"/>
          <p:nvPr/>
        </p:nvSpPr>
        <p:spPr>
          <a:xfrm>
            <a:off x="8284463" y="5358383"/>
            <a:ext cx="2834641" cy="3473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14142B"/>
                </a:solidFill>
              </a:defRPr>
            </a:lvl1pPr>
          </a:lstStyle>
          <a:p>
            <a:pPr/>
            <a:r>
              <a:t>No human-labelled ground truth in the kit; accuracy is scored against the articles</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Title 1"/>
          <p:cNvSpPr txBox="1"/>
          <p:nvPr>
            <p:ph type="title"/>
          </p:nvPr>
        </p:nvSpPr>
        <p:spPr>
          <a:prstGeom prst="rect">
            <a:avLst/>
          </a:prstGeom>
        </p:spPr>
        <p:txBody>
          <a:bodyPr/>
          <a:lstStyle>
            <a:lvl1pPr>
              <a:spcBef>
                <a:spcPts val="500"/>
              </a:spcBef>
              <a:defRPr b="1">
                <a:solidFill>
                  <a:srgbClr val="704EA6"/>
                </a:solidFill>
                <a:latin typeface="+mj-lt"/>
                <a:ea typeface="+mj-ea"/>
                <a:cs typeface="+mj-cs"/>
                <a:sym typeface="Calibri"/>
              </a:defRPr>
            </a:lvl1pPr>
          </a:lstStyle>
          <a:p>
            <a:pPr/>
            <a:r>
              <a:t>What’s next</a:t>
            </a:r>
          </a:p>
        </p:txBody>
      </p:sp>
      <p:sp>
        <p:nvSpPr>
          <p:cNvPr id="362" name="Rounded Rectangle 2"/>
          <p:cNvSpPr/>
          <p:nvPr/>
        </p:nvSpPr>
        <p:spPr>
          <a:xfrm>
            <a:off x="841247" y="1691639"/>
            <a:ext cx="822962" cy="274321"/>
          </a:xfrm>
          <a:prstGeom prst="roundRect">
            <a:avLst>
              <a:gd name="adj" fmla="val 50000"/>
            </a:avLst>
          </a:prstGeom>
          <a:solidFill>
            <a:srgbClr val="14142B"/>
          </a:solidFill>
          <a:ln w="12700">
            <a:miter lim="400000"/>
          </a:ln>
        </p:spPr>
        <p:txBody>
          <a:bodyPr lIns="45719" rIns="45719" anchor="ctr"/>
          <a:lstStyle/>
          <a:p>
            <a:pPr>
              <a:defRPr>
                <a:solidFill>
                  <a:srgbClr val="FFFFFF"/>
                </a:solidFill>
              </a:defRPr>
            </a:pPr>
          </a:p>
        </p:txBody>
      </p:sp>
      <p:sp>
        <p:nvSpPr>
          <p:cNvPr id="363" name="TextBox 3"/>
          <p:cNvSpPr txBox="1"/>
          <p:nvPr/>
        </p:nvSpPr>
        <p:spPr>
          <a:xfrm>
            <a:off x="841247" y="1761666"/>
            <a:ext cx="82296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defRPr>
            </a:lvl1pPr>
          </a:lstStyle>
          <a:p>
            <a:pPr/>
            <a:r>
              <a:t>Now</a:t>
            </a:r>
          </a:p>
        </p:txBody>
      </p:sp>
      <p:sp>
        <p:nvSpPr>
          <p:cNvPr id="364" name="Rounded Rectangle 4"/>
          <p:cNvSpPr/>
          <p:nvPr/>
        </p:nvSpPr>
        <p:spPr>
          <a:xfrm>
            <a:off x="841247" y="2148839"/>
            <a:ext cx="2468881" cy="2331722"/>
          </a:xfrm>
          <a:prstGeom prst="roundRect">
            <a:avLst>
              <a:gd name="adj" fmla="val 8000"/>
            </a:avLst>
          </a:prstGeom>
          <a:solidFill>
            <a:srgbClr val="F5F2FC"/>
          </a:solidFill>
          <a:ln w="12700">
            <a:miter lim="400000"/>
          </a:ln>
        </p:spPr>
        <p:txBody>
          <a:bodyPr lIns="45719" rIns="45719" anchor="ctr"/>
          <a:lstStyle/>
          <a:p>
            <a:pPr>
              <a:defRPr>
                <a:solidFill>
                  <a:srgbClr val="FFFFFF"/>
                </a:solidFill>
              </a:defRPr>
            </a:pPr>
          </a:p>
        </p:txBody>
      </p:sp>
      <p:sp>
        <p:nvSpPr>
          <p:cNvPr id="365" name="TextBox 5"/>
          <p:cNvSpPr txBox="1"/>
          <p:nvPr/>
        </p:nvSpPr>
        <p:spPr>
          <a:xfrm>
            <a:off x="1069847" y="2331720"/>
            <a:ext cx="201168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14142B"/>
                </a:solidFill>
                <a:latin typeface="Arial"/>
                <a:ea typeface="Arial"/>
                <a:cs typeface="Arial"/>
                <a:sym typeface="Arial"/>
              </a:defRPr>
            </a:lvl1pPr>
          </a:lstStyle>
          <a:p>
            <a:pPr/>
            <a:r>
              <a:t>Submitted</a:t>
            </a:r>
          </a:p>
        </p:txBody>
      </p:sp>
      <p:sp>
        <p:nvSpPr>
          <p:cNvPr id="366" name="TextBox 6"/>
          <p:cNvSpPr txBox="1"/>
          <p:nvPr/>
        </p:nvSpPr>
        <p:spPr>
          <a:xfrm>
            <a:off x="1069847" y="3063239"/>
            <a:ext cx="201168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Live API, simulator, 78 tests, metrics.md</a:t>
            </a:r>
          </a:p>
        </p:txBody>
      </p:sp>
      <p:sp>
        <p:nvSpPr>
          <p:cNvPr id="367" name="Right Arrow 7"/>
          <p:cNvSpPr/>
          <p:nvPr/>
        </p:nvSpPr>
        <p:spPr>
          <a:xfrm>
            <a:off x="3328415" y="3154679"/>
            <a:ext cx="182881" cy="256033"/>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368" name="Rounded Rectangle 8"/>
          <p:cNvSpPr/>
          <p:nvPr/>
        </p:nvSpPr>
        <p:spPr>
          <a:xfrm>
            <a:off x="3520440" y="1691639"/>
            <a:ext cx="822961" cy="274321"/>
          </a:xfrm>
          <a:prstGeom prst="roundRect">
            <a:avLst>
              <a:gd name="adj" fmla="val 50000"/>
            </a:avLst>
          </a:prstGeom>
          <a:solidFill>
            <a:srgbClr val="6D28D9"/>
          </a:solidFill>
          <a:ln w="12700">
            <a:miter lim="400000"/>
          </a:ln>
        </p:spPr>
        <p:txBody>
          <a:bodyPr lIns="45719" rIns="45719" anchor="ctr"/>
          <a:lstStyle/>
          <a:p>
            <a:pPr>
              <a:defRPr>
                <a:solidFill>
                  <a:srgbClr val="FFFFFF"/>
                </a:solidFill>
              </a:defRPr>
            </a:pPr>
          </a:p>
        </p:txBody>
      </p:sp>
      <p:sp>
        <p:nvSpPr>
          <p:cNvPr id="369" name="TextBox 9"/>
          <p:cNvSpPr txBox="1"/>
          <p:nvPr/>
        </p:nvSpPr>
        <p:spPr>
          <a:xfrm>
            <a:off x="3520440" y="1761666"/>
            <a:ext cx="8229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defRPr>
            </a:lvl1pPr>
          </a:lstStyle>
          <a:p>
            <a:pPr/>
            <a:r>
              <a:t>Next</a:t>
            </a:r>
          </a:p>
        </p:txBody>
      </p:sp>
      <p:sp>
        <p:nvSpPr>
          <p:cNvPr id="370" name="Rounded Rectangle 10"/>
          <p:cNvSpPr/>
          <p:nvPr/>
        </p:nvSpPr>
        <p:spPr>
          <a:xfrm>
            <a:off x="3520440" y="2148839"/>
            <a:ext cx="2468881" cy="2331722"/>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71" name="TextBox 11"/>
          <p:cNvSpPr txBox="1"/>
          <p:nvPr/>
        </p:nvSpPr>
        <p:spPr>
          <a:xfrm>
            <a:off x="3749038" y="2331720"/>
            <a:ext cx="201168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14142B"/>
                </a:solidFill>
                <a:latin typeface="Arial"/>
                <a:ea typeface="Arial"/>
                <a:cs typeface="Arial"/>
                <a:sym typeface="Arial"/>
              </a:defRPr>
            </a:lvl1pPr>
          </a:lstStyle>
          <a:p>
            <a:pPr/>
            <a:r>
              <a:t>Engineer's view</a:t>
            </a:r>
          </a:p>
        </p:txBody>
      </p:sp>
      <p:sp>
        <p:nvSpPr>
          <p:cNvPr id="372" name="TextBox 12"/>
          <p:cNvSpPr txBox="1"/>
          <p:nvPr/>
        </p:nvSpPr>
        <p:spPr>
          <a:xfrm>
            <a:off x="3749038" y="3063239"/>
            <a:ext cx="2011680"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decision trace, grounding map, deeplink reasoning, regression diff</a:t>
            </a:r>
          </a:p>
        </p:txBody>
      </p:sp>
      <p:sp>
        <p:nvSpPr>
          <p:cNvPr id="373" name="Right Arrow 13"/>
          <p:cNvSpPr/>
          <p:nvPr/>
        </p:nvSpPr>
        <p:spPr>
          <a:xfrm>
            <a:off x="6007608" y="3154679"/>
            <a:ext cx="182881" cy="256033"/>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374" name="Rounded Rectangle 14"/>
          <p:cNvSpPr/>
          <p:nvPr/>
        </p:nvSpPr>
        <p:spPr>
          <a:xfrm>
            <a:off x="6199632" y="1691639"/>
            <a:ext cx="822961" cy="274321"/>
          </a:xfrm>
          <a:prstGeom prst="roundRect">
            <a:avLst>
              <a:gd name="adj" fmla="val 50000"/>
            </a:avLst>
          </a:prstGeom>
          <a:solidFill>
            <a:srgbClr val="3F5BD6"/>
          </a:solidFill>
          <a:ln w="12700">
            <a:miter lim="400000"/>
          </a:ln>
        </p:spPr>
        <p:txBody>
          <a:bodyPr lIns="45719" rIns="45719" anchor="ctr"/>
          <a:lstStyle/>
          <a:p>
            <a:pPr>
              <a:defRPr>
                <a:solidFill>
                  <a:srgbClr val="FFFFFF"/>
                </a:solidFill>
              </a:defRPr>
            </a:pPr>
          </a:p>
        </p:txBody>
      </p:sp>
      <p:sp>
        <p:nvSpPr>
          <p:cNvPr id="375" name="TextBox 15"/>
          <p:cNvSpPr txBox="1"/>
          <p:nvPr/>
        </p:nvSpPr>
        <p:spPr>
          <a:xfrm>
            <a:off x="6199632" y="1761666"/>
            <a:ext cx="8229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defRPr>
            </a:lvl1pPr>
          </a:lstStyle>
          <a:p>
            <a:pPr/>
            <a:r>
              <a:t>Then</a:t>
            </a:r>
          </a:p>
        </p:txBody>
      </p:sp>
      <p:sp>
        <p:nvSpPr>
          <p:cNvPr id="376" name="Rounded Rectangle 16"/>
          <p:cNvSpPr/>
          <p:nvPr/>
        </p:nvSpPr>
        <p:spPr>
          <a:xfrm>
            <a:off x="6199632" y="2148839"/>
            <a:ext cx="2468880" cy="2331722"/>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77" name="TextBox 17"/>
          <p:cNvSpPr txBox="1"/>
          <p:nvPr/>
        </p:nvSpPr>
        <p:spPr>
          <a:xfrm>
            <a:off x="6428232" y="2331720"/>
            <a:ext cx="201168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14142B"/>
                </a:solidFill>
                <a:latin typeface="Arial"/>
                <a:ea typeface="Arial"/>
                <a:cs typeface="Arial"/>
                <a:sym typeface="Arial"/>
              </a:defRPr>
            </a:lvl1pPr>
          </a:lstStyle>
          <a:p>
            <a:pPr/>
            <a:r>
              <a:t>Live SIIS + feedback</a:t>
            </a:r>
          </a:p>
        </p:txBody>
      </p:sp>
      <p:sp>
        <p:nvSpPr>
          <p:cNvPr id="378" name="TextBox 18"/>
          <p:cNvSpPr txBox="1"/>
          <p:nvPr/>
        </p:nvSpPr>
        <p:spPr>
          <a:xfrm>
            <a:off x="6428232" y="3063239"/>
            <a:ext cx="2011680"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real articles and outcome telemetry grow the lexicon and eval set</a:t>
            </a:r>
          </a:p>
        </p:txBody>
      </p:sp>
      <p:sp>
        <p:nvSpPr>
          <p:cNvPr id="379" name="Right Arrow 19"/>
          <p:cNvSpPr/>
          <p:nvPr/>
        </p:nvSpPr>
        <p:spPr>
          <a:xfrm>
            <a:off x="8686800" y="3154679"/>
            <a:ext cx="182880" cy="256033"/>
          </a:xfrm>
          <a:prstGeom prst="rightArrow">
            <a:avLst>
              <a:gd name="adj1" fmla="val 50000"/>
              <a:gd name="adj2" fmla="val 50000"/>
            </a:avLst>
          </a:prstGeom>
          <a:solidFill>
            <a:srgbClr val="704EA6"/>
          </a:solidFill>
          <a:ln w="12700">
            <a:miter lim="400000"/>
          </a:ln>
        </p:spPr>
        <p:txBody>
          <a:bodyPr lIns="45719" rIns="45719" anchor="ctr"/>
          <a:lstStyle/>
          <a:p>
            <a:pPr algn="ctr">
              <a:defRPr>
                <a:solidFill>
                  <a:srgbClr val="FFFFFF"/>
                </a:solidFill>
              </a:defRPr>
            </a:pPr>
          </a:p>
        </p:txBody>
      </p:sp>
      <p:sp>
        <p:nvSpPr>
          <p:cNvPr id="380" name="Rounded Rectangle 20"/>
          <p:cNvSpPr/>
          <p:nvPr/>
        </p:nvSpPr>
        <p:spPr>
          <a:xfrm>
            <a:off x="8878823" y="1691639"/>
            <a:ext cx="822961" cy="274321"/>
          </a:xfrm>
          <a:prstGeom prst="roundRect">
            <a:avLst>
              <a:gd name="adj" fmla="val 50000"/>
            </a:avLst>
          </a:prstGeom>
          <a:solidFill>
            <a:srgbClr val="4E9C8F"/>
          </a:solidFill>
          <a:ln w="12700">
            <a:miter lim="400000"/>
          </a:ln>
        </p:spPr>
        <p:txBody>
          <a:bodyPr lIns="45719" rIns="45719" anchor="ctr"/>
          <a:lstStyle/>
          <a:p>
            <a:pPr>
              <a:defRPr>
                <a:solidFill>
                  <a:srgbClr val="FFFFFF"/>
                </a:solidFill>
              </a:defRPr>
            </a:pPr>
          </a:p>
        </p:txBody>
      </p:sp>
      <p:sp>
        <p:nvSpPr>
          <p:cNvPr id="381" name="TextBox 21"/>
          <p:cNvSpPr txBox="1"/>
          <p:nvPr/>
        </p:nvSpPr>
        <p:spPr>
          <a:xfrm>
            <a:off x="8878823" y="1761666"/>
            <a:ext cx="82296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defRPr>
            </a:lvl1pPr>
          </a:lstStyle>
          <a:p>
            <a:pPr/>
            <a:r>
              <a:t>Later</a:t>
            </a:r>
          </a:p>
        </p:txBody>
      </p:sp>
      <p:sp>
        <p:nvSpPr>
          <p:cNvPr id="382" name="Rounded Rectangle 22"/>
          <p:cNvSpPr/>
          <p:nvPr/>
        </p:nvSpPr>
        <p:spPr>
          <a:xfrm>
            <a:off x="8878823" y="2148839"/>
            <a:ext cx="2468881" cy="2331722"/>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83" name="TextBox 23"/>
          <p:cNvSpPr txBox="1"/>
          <p:nvPr/>
        </p:nvSpPr>
        <p:spPr>
          <a:xfrm>
            <a:off x="9107423" y="2331720"/>
            <a:ext cx="2011680" cy="4505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14142B"/>
                </a:solidFill>
                <a:latin typeface="Arial"/>
                <a:ea typeface="Arial"/>
                <a:cs typeface="Arial"/>
                <a:sym typeface="Arial"/>
              </a:defRPr>
            </a:lvl1pPr>
          </a:lstStyle>
          <a:p>
            <a:pPr/>
            <a:r>
              <a:t>Multilingual &amp; on-device</a:t>
            </a:r>
          </a:p>
        </p:txBody>
      </p:sp>
      <p:sp>
        <p:nvSpPr>
          <p:cNvPr id="384" name="TextBox 24"/>
          <p:cNvSpPr txBox="1"/>
          <p:nvPr/>
        </p:nvSpPr>
        <p:spPr>
          <a:xfrm>
            <a:off x="9107423" y="3063239"/>
            <a:ext cx="2011680" cy="537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Hindi and Korean queries; a small on-device model for refinement</a:t>
            </a:r>
          </a:p>
        </p:txBody>
      </p:sp>
      <p:sp>
        <p:nvSpPr>
          <p:cNvPr id="385" name="Rounded Rectangle 25"/>
          <p:cNvSpPr/>
          <p:nvPr/>
        </p:nvSpPr>
        <p:spPr>
          <a:xfrm>
            <a:off x="841247" y="4754879"/>
            <a:ext cx="10442449" cy="137160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386" name="TextBox 26"/>
          <p:cNvSpPr txBox="1"/>
          <p:nvPr/>
        </p:nvSpPr>
        <p:spPr>
          <a:xfrm>
            <a:off x="1097280" y="4892040"/>
            <a:ext cx="9966960" cy="5858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6D28D9"/>
                </a:solidFill>
                <a:latin typeface="Arial"/>
                <a:ea typeface="Arial"/>
                <a:cs typeface="Arial"/>
                <a:sym typeface="Arial"/>
              </a:defRPr>
            </a:pPr>
            <a:r>
              <a:t>As a PRISM worklet</a:t>
            </a:r>
          </a:p>
          <a:p>
            <a:pPr>
              <a:defRPr sz="1300">
                <a:solidFill>
                  <a:srgbClr val="14142B"/>
                </a:solidFill>
              </a:defRPr>
            </a:pPr>
            <a:r>
              <a:t>Deterministic, auditable and cheap to run: the same answer for the same article, every link traceable to a catalogue entry, and a model used only where language understanding helps.</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0" name="Title 1"/>
          <p:cNvSpPr txBox="1"/>
          <p:nvPr>
            <p:ph type="title"/>
          </p:nvPr>
        </p:nvSpPr>
        <p:spPr>
          <a:prstGeom prst="rect">
            <a:avLst/>
          </a:prstGeom>
        </p:spPr>
        <p:txBody>
          <a:bodyPr/>
          <a:lstStyle>
            <a:lvl1pPr>
              <a:spcBef>
                <a:spcPts val="500"/>
              </a:spcBef>
              <a:defRPr b="1">
                <a:solidFill>
                  <a:srgbClr val="704EA6"/>
                </a:solidFill>
                <a:latin typeface="+mj-lt"/>
                <a:ea typeface="+mj-ea"/>
                <a:cs typeface="+mj-cs"/>
                <a:sym typeface="Calibri"/>
              </a:defRPr>
            </a:lvl1pPr>
          </a:lstStyle>
          <a:p>
            <a:pPr/>
            <a:r>
              <a:t>Brownie points (differentiation)</a:t>
            </a:r>
          </a:p>
        </p:txBody>
      </p:sp>
      <p:pic>
        <p:nvPicPr>
          <p:cNvPr id="391" name="Picture 2" descr="Picture 2"/>
          <p:cNvPicPr>
            <a:picLocks noChangeAspect="1"/>
          </p:cNvPicPr>
          <p:nvPr/>
        </p:nvPicPr>
        <p:blipFill>
          <a:blip r:embed="rId3">
            <a:extLst/>
          </a:blip>
          <a:stretch>
            <a:fillRect/>
          </a:stretch>
        </p:blipFill>
        <p:spPr>
          <a:xfrm>
            <a:off x="6053328" y="1627632"/>
            <a:ext cx="5230369" cy="2236434"/>
          </a:xfrm>
          <a:prstGeom prst="rect">
            <a:avLst/>
          </a:prstGeom>
          <a:ln w="12700">
            <a:solidFill>
              <a:srgbClr val="D9D3F0"/>
            </a:solidFill>
          </a:ln>
        </p:spPr>
      </p:pic>
      <p:sp>
        <p:nvSpPr>
          <p:cNvPr id="392" name="TextBox 3"/>
          <p:cNvSpPr txBox="1"/>
          <p:nvPr/>
        </p:nvSpPr>
        <p:spPr>
          <a:xfrm>
            <a:off x="6053328" y="3973793"/>
            <a:ext cx="5230369"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3637E"/>
                </a:solidFill>
              </a:defRPr>
            </a:lvl1pPr>
          </a:lstStyle>
          <a:p>
            <a:pPr/>
            <a:r>
              <a:t>In-browser benchmark against the running API — every gate passes</a:t>
            </a:r>
          </a:p>
        </p:txBody>
      </p:sp>
      <p:sp>
        <p:nvSpPr>
          <p:cNvPr id="393" name="Oval 4"/>
          <p:cNvSpPr/>
          <p:nvPr/>
        </p:nvSpPr>
        <p:spPr>
          <a:xfrm>
            <a:off x="841247" y="1682495"/>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394" name="TextBox 5"/>
          <p:cNvSpPr txBox="1"/>
          <p:nvPr/>
        </p:nvSpPr>
        <p:spPr>
          <a:xfrm>
            <a:off x="841247" y="1788794"/>
            <a:ext cx="384049" cy="17145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95" name="TextBox 6"/>
          <p:cNvSpPr txBox="1"/>
          <p:nvPr/>
        </p:nvSpPr>
        <p:spPr>
          <a:xfrm>
            <a:off x="1371600" y="1645920"/>
            <a:ext cx="4389121" cy="5632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Phone simulator</a:t>
            </a:r>
          </a:p>
          <a:p>
            <a:pPr>
              <a:defRPr sz="1200">
                <a:solidFill>
                  <a:srgbClr val="63637E"/>
                </a:solidFill>
              </a:defRPr>
            </a:pPr>
            <a:r>
              <a:t>deeplinks open a mocked Settings screen; validation and critical confirmation</a:t>
            </a:r>
          </a:p>
        </p:txBody>
      </p:sp>
      <p:sp>
        <p:nvSpPr>
          <p:cNvPr id="396" name="Oval 7"/>
          <p:cNvSpPr/>
          <p:nvPr/>
        </p:nvSpPr>
        <p:spPr>
          <a:xfrm>
            <a:off x="841247" y="2578607"/>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397" name="TextBox 8"/>
          <p:cNvSpPr txBox="1"/>
          <p:nvPr/>
        </p:nvSpPr>
        <p:spPr>
          <a:xfrm>
            <a:off x="841247" y="2684906"/>
            <a:ext cx="384049" cy="17145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398" name="TextBox 9"/>
          <p:cNvSpPr txBox="1"/>
          <p:nvPr/>
        </p:nvSpPr>
        <p:spPr>
          <a:xfrm>
            <a:off x="1371600" y="2542032"/>
            <a:ext cx="4389121" cy="3727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Guide example reproduced</a:t>
            </a:r>
          </a:p>
          <a:p>
            <a:pPr>
              <a:defRPr sz="1200">
                <a:solidFill>
                  <a:srgbClr val="63637E"/>
                </a:solidFill>
              </a:defRPr>
            </a:pPr>
            <a:r>
              <a:t>Appendix B swipe-navigation case links a real catalogue entry</a:t>
            </a:r>
          </a:p>
        </p:txBody>
      </p:sp>
      <p:sp>
        <p:nvSpPr>
          <p:cNvPr id="399" name="Oval 10"/>
          <p:cNvSpPr/>
          <p:nvPr/>
        </p:nvSpPr>
        <p:spPr>
          <a:xfrm>
            <a:off x="841247" y="3474720"/>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400" name="TextBox 11"/>
          <p:cNvSpPr txBox="1"/>
          <p:nvPr/>
        </p:nvSpPr>
        <p:spPr>
          <a:xfrm>
            <a:off x="841247" y="3581019"/>
            <a:ext cx="384049" cy="1714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401" name="TextBox 12"/>
          <p:cNvSpPr txBox="1"/>
          <p:nvPr/>
        </p:nvSpPr>
        <p:spPr>
          <a:xfrm>
            <a:off x="1371600" y="3438144"/>
            <a:ext cx="4389121" cy="3727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Whole-catalogue sweep</a:t>
            </a:r>
          </a:p>
          <a:p>
            <a:pPr>
              <a:defRPr sz="1200">
                <a:solidFill>
                  <a:srgbClr val="63637E"/>
                </a:solidFill>
              </a:defRPr>
            </a:pPr>
            <a:r>
              <a:t>572 / 572 step-reachable entries resolve correctly</a:t>
            </a:r>
          </a:p>
        </p:txBody>
      </p:sp>
      <p:sp>
        <p:nvSpPr>
          <p:cNvPr id="402" name="Oval 13"/>
          <p:cNvSpPr/>
          <p:nvPr/>
        </p:nvSpPr>
        <p:spPr>
          <a:xfrm>
            <a:off x="841247" y="4370832"/>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403" name="TextBox 14"/>
          <p:cNvSpPr txBox="1"/>
          <p:nvPr/>
        </p:nvSpPr>
        <p:spPr>
          <a:xfrm>
            <a:off x="841247" y="4477131"/>
            <a:ext cx="384049" cy="1714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404" name="TextBox 15"/>
          <p:cNvSpPr txBox="1"/>
          <p:nvPr/>
        </p:nvSpPr>
        <p:spPr>
          <a:xfrm>
            <a:off x="1371600" y="4334255"/>
            <a:ext cx="4389121" cy="3727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Gemini with guardrails</a:t>
            </a:r>
          </a:p>
          <a:p>
            <a:pPr>
              <a:defRPr sz="1200">
                <a:solidFill>
                  <a:srgbClr val="63637E"/>
                </a:solidFill>
              </a:defRPr>
            </a:pPr>
            <a:r>
              <a:t>closed set, 5 s budget, model fallback, persistent cache</a:t>
            </a:r>
          </a:p>
        </p:txBody>
      </p:sp>
      <p:sp>
        <p:nvSpPr>
          <p:cNvPr id="405" name="Oval 16"/>
          <p:cNvSpPr/>
          <p:nvPr/>
        </p:nvSpPr>
        <p:spPr>
          <a:xfrm>
            <a:off x="841247" y="5266944"/>
            <a:ext cx="384049" cy="384049"/>
          </a:xfrm>
          <a:prstGeom prst="ellipse">
            <a:avLst/>
          </a:prstGeom>
          <a:solidFill>
            <a:srgbClr val="6D28D9"/>
          </a:solidFill>
          <a:ln w="12700">
            <a:miter lim="400000"/>
          </a:ln>
        </p:spPr>
        <p:txBody>
          <a:bodyPr lIns="45719" rIns="45719" anchor="ctr"/>
          <a:lstStyle/>
          <a:p>
            <a:pPr algn="ctr">
              <a:defRPr>
                <a:solidFill>
                  <a:srgbClr val="FFFFFF"/>
                </a:solidFill>
              </a:defRPr>
            </a:pPr>
          </a:p>
        </p:txBody>
      </p:sp>
      <p:sp>
        <p:nvSpPr>
          <p:cNvPr id="406" name="TextBox 17"/>
          <p:cNvSpPr txBox="1"/>
          <p:nvPr/>
        </p:nvSpPr>
        <p:spPr>
          <a:xfrm>
            <a:off x="841247" y="5373243"/>
            <a:ext cx="384049" cy="17145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FFFFFF"/>
                </a:solidFill>
                <a:latin typeface="Arial"/>
                <a:ea typeface="Arial"/>
                <a:cs typeface="Arial"/>
                <a:sym typeface="Arial"/>
              </a:defRPr>
            </a:lvl1pPr>
          </a:lstStyle>
          <a:p>
            <a:pPr/>
            <a:r>
              <a:t>★</a:t>
            </a:r>
          </a:p>
        </p:txBody>
      </p:sp>
      <p:sp>
        <p:nvSpPr>
          <p:cNvPr id="407" name="TextBox 18"/>
          <p:cNvSpPr txBox="1"/>
          <p:nvPr/>
        </p:nvSpPr>
        <p:spPr>
          <a:xfrm>
            <a:off x="1371600" y="5230367"/>
            <a:ext cx="4389121" cy="3727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14142B"/>
                </a:solidFill>
                <a:latin typeface="Arial"/>
                <a:ea typeface="Arial"/>
                <a:cs typeface="Arial"/>
                <a:sym typeface="Arial"/>
              </a:defRPr>
            </a:pPr>
            <a:r>
              <a:t>Honest metrics</a:t>
            </a:r>
          </a:p>
          <a:p>
            <a:pPr>
              <a:defRPr sz="1200">
                <a:solidFill>
                  <a:srgbClr val="63637E"/>
                </a:solidFill>
              </a:defRPr>
            </a:pPr>
            <a:r>
              <a:t>metrics.md generated from real runs, with an ablation</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Title 1"/>
          <p:cNvSpPr txBox="1"/>
          <p:nvPr>
            <p:ph type="title"/>
          </p:nvPr>
        </p:nvSpPr>
        <p:spPr>
          <a:prstGeom prst="rect">
            <a:avLst/>
          </a:prstGeom>
        </p:spPr>
        <p:txBody>
          <a:bodyPr/>
          <a:lstStyle>
            <a:lvl1pPr>
              <a:defRPr b="1">
                <a:solidFill>
                  <a:srgbClr val="704EA6"/>
                </a:solidFill>
                <a:latin typeface="+mj-lt"/>
                <a:ea typeface="+mj-ea"/>
                <a:cs typeface="+mj-cs"/>
                <a:sym typeface="Calibri"/>
              </a:defRPr>
            </a:lvl1pPr>
          </a:lstStyle>
          <a:p>
            <a:pPr/>
            <a:r>
              <a:t>Checklist- Updated on Public GitHub</a:t>
            </a:r>
          </a:p>
        </p:txBody>
      </p:sp>
      <p:sp>
        <p:nvSpPr>
          <p:cNvPr id="412" name="Rounded Rectangle 2"/>
          <p:cNvSpPr/>
          <p:nvPr/>
        </p:nvSpPr>
        <p:spPr>
          <a:xfrm>
            <a:off x="841247" y="1691639"/>
            <a:ext cx="10442449" cy="91440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413" name="Oval 3"/>
          <p:cNvSpPr/>
          <p:nvPr/>
        </p:nvSpPr>
        <p:spPr>
          <a:xfrm>
            <a:off x="1051560" y="1929383"/>
            <a:ext cx="438913" cy="438913"/>
          </a:xfrm>
          <a:prstGeom prst="ellipse">
            <a:avLst/>
          </a:prstGeom>
          <a:solidFill>
            <a:srgbClr val="1F8A4C"/>
          </a:solidFill>
          <a:ln w="12700">
            <a:miter lim="400000"/>
          </a:ln>
        </p:spPr>
        <p:txBody>
          <a:bodyPr lIns="45719" rIns="45719" anchor="ctr"/>
          <a:lstStyle/>
          <a:p>
            <a:pPr algn="ctr">
              <a:defRPr>
                <a:solidFill>
                  <a:srgbClr val="FFFFFF"/>
                </a:solidFill>
              </a:defRPr>
            </a:pPr>
          </a:p>
        </p:txBody>
      </p:sp>
      <p:sp>
        <p:nvSpPr>
          <p:cNvPr id="414" name="TextBox 4"/>
          <p:cNvSpPr txBox="1"/>
          <p:nvPr/>
        </p:nvSpPr>
        <p:spPr>
          <a:xfrm>
            <a:off x="1051560" y="2050148"/>
            <a:ext cx="438913"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latin typeface="Arial"/>
                <a:ea typeface="Arial"/>
                <a:cs typeface="Arial"/>
                <a:sym typeface="Arial"/>
              </a:defRPr>
            </a:lvl1pPr>
          </a:lstStyle>
          <a:p>
            <a:pPr/>
            <a:r>
              <a:t>Y</a:t>
            </a:r>
          </a:p>
        </p:txBody>
      </p:sp>
      <p:sp>
        <p:nvSpPr>
          <p:cNvPr id="415" name="TextBox 5"/>
          <p:cNvSpPr txBox="1"/>
          <p:nvPr/>
        </p:nvSpPr>
        <p:spPr>
          <a:xfrm>
            <a:off x="1737359" y="1819655"/>
            <a:ext cx="9326882"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4142B"/>
                </a:solidFill>
              </a:defRPr>
            </a:lvl1pPr>
          </a:lstStyle>
          <a:p>
            <a:pPr/>
            <a:r>
              <a:t>Working prototype code — public or shared GitHub repo</a:t>
            </a:r>
          </a:p>
        </p:txBody>
      </p:sp>
      <p:sp>
        <p:nvSpPr>
          <p:cNvPr id="416" name="TextBox 6"/>
          <p:cNvSpPr txBox="1"/>
          <p:nvPr/>
        </p:nvSpPr>
        <p:spPr>
          <a:xfrm>
            <a:off x="1737359" y="2185416"/>
            <a:ext cx="9326882"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github.com/Blazehue/Samsung_PRISM-Sentinel (private, shared) · live at samsung-prism-sentinel.onrender.com</a:t>
            </a:r>
          </a:p>
        </p:txBody>
      </p:sp>
      <p:sp>
        <p:nvSpPr>
          <p:cNvPr id="417" name="Rounded Rectangle 7"/>
          <p:cNvSpPr/>
          <p:nvPr/>
        </p:nvSpPr>
        <p:spPr>
          <a:xfrm>
            <a:off x="841247" y="2770632"/>
            <a:ext cx="10442449" cy="91440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418" name="Oval 8"/>
          <p:cNvSpPr/>
          <p:nvPr/>
        </p:nvSpPr>
        <p:spPr>
          <a:xfrm>
            <a:off x="1051560" y="3008376"/>
            <a:ext cx="438913" cy="438913"/>
          </a:xfrm>
          <a:prstGeom prst="ellipse">
            <a:avLst/>
          </a:prstGeom>
          <a:solidFill>
            <a:srgbClr val="1F8A4C"/>
          </a:solidFill>
          <a:ln w="12700">
            <a:miter lim="400000"/>
          </a:ln>
        </p:spPr>
        <p:txBody>
          <a:bodyPr lIns="45719" rIns="45719" anchor="ctr"/>
          <a:lstStyle/>
          <a:p>
            <a:pPr algn="ctr">
              <a:defRPr>
                <a:solidFill>
                  <a:srgbClr val="FFFFFF"/>
                </a:solidFill>
              </a:defRPr>
            </a:pPr>
          </a:p>
        </p:txBody>
      </p:sp>
      <p:sp>
        <p:nvSpPr>
          <p:cNvPr id="419" name="TextBox 9"/>
          <p:cNvSpPr txBox="1"/>
          <p:nvPr/>
        </p:nvSpPr>
        <p:spPr>
          <a:xfrm>
            <a:off x="1051560" y="3129140"/>
            <a:ext cx="438913"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latin typeface="Arial"/>
                <a:ea typeface="Arial"/>
                <a:cs typeface="Arial"/>
                <a:sym typeface="Arial"/>
              </a:defRPr>
            </a:lvl1pPr>
          </a:lstStyle>
          <a:p>
            <a:pPr/>
            <a:r>
              <a:t>Y</a:t>
            </a:r>
          </a:p>
        </p:txBody>
      </p:sp>
      <p:sp>
        <p:nvSpPr>
          <p:cNvPr id="420" name="TextBox 10"/>
          <p:cNvSpPr txBox="1"/>
          <p:nvPr/>
        </p:nvSpPr>
        <p:spPr>
          <a:xfrm>
            <a:off x="1737359" y="2898648"/>
            <a:ext cx="932688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4142B"/>
                </a:solidFill>
              </a:defRPr>
            </a:lvl1pPr>
          </a:lstStyle>
          <a:p>
            <a:pPr/>
            <a:r>
              <a:t>README with reproducible setup instructions</a:t>
            </a:r>
          </a:p>
        </p:txBody>
      </p:sp>
      <p:sp>
        <p:nvSpPr>
          <p:cNvPr id="421" name="TextBox 11"/>
          <p:cNvSpPr txBox="1"/>
          <p:nvPr/>
        </p:nvSpPr>
        <p:spPr>
          <a:xfrm>
            <a:off x="1737359" y="3264408"/>
            <a:ext cx="9326882"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pip / uvicorn or Docker; architecture, results, configuration</a:t>
            </a:r>
          </a:p>
        </p:txBody>
      </p:sp>
      <p:sp>
        <p:nvSpPr>
          <p:cNvPr id="422" name="Rounded Rectangle 12"/>
          <p:cNvSpPr/>
          <p:nvPr/>
        </p:nvSpPr>
        <p:spPr>
          <a:xfrm>
            <a:off x="841247" y="3849623"/>
            <a:ext cx="10442449" cy="91440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423" name="Oval 13"/>
          <p:cNvSpPr/>
          <p:nvPr/>
        </p:nvSpPr>
        <p:spPr>
          <a:xfrm>
            <a:off x="1051560" y="4087367"/>
            <a:ext cx="438913" cy="438913"/>
          </a:xfrm>
          <a:prstGeom prst="ellipse">
            <a:avLst/>
          </a:prstGeom>
          <a:solidFill>
            <a:srgbClr val="1F8A4C"/>
          </a:solidFill>
          <a:ln w="12700">
            <a:miter lim="400000"/>
          </a:ln>
        </p:spPr>
        <p:txBody>
          <a:bodyPr lIns="45719" rIns="45719" anchor="ctr"/>
          <a:lstStyle/>
          <a:p>
            <a:pPr algn="ctr">
              <a:defRPr>
                <a:solidFill>
                  <a:srgbClr val="FFFFFF"/>
                </a:solidFill>
              </a:defRPr>
            </a:pPr>
          </a:p>
        </p:txBody>
      </p:sp>
      <p:sp>
        <p:nvSpPr>
          <p:cNvPr id="424" name="TextBox 14"/>
          <p:cNvSpPr txBox="1"/>
          <p:nvPr/>
        </p:nvSpPr>
        <p:spPr>
          <a:xfrm>
            <a:off x="1051560" y="4208132"/>
            <a:ext cx="438913"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latin typeface="Arial"/>
                <a:ea typeface="Arial"/>
                <a:cs typeface="Arial"/>
                <a:sym typeface="Arial"/>
              </a:defRPr>
            </a:lvl1pPr>
          </a:lstStyle>
          <a:p>
            <a:pPr/>
            <a:r>
              <a:t>Y</a:t>
            </a:r>
          </a:p>
        </p:txBody>
      </p:sp>
      <p:sp>
        <p:nvSpPr>
          <p:cNvPr id="425" name="TextBox 15"/>
          <p:cNvSpPr txBox="1"/>
          <p:nvPr/>
        </p:nvSpPr>
        <p:spPr>
          <a:xfrm>
            <a:off x="1737359" y="3977638"/>
            <a:ext cx="9326882"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4142B"/>
                </a:solidFill>
              </a:defRPr>
            </a:lvl1pPr>
          </a:lstStyle>
          <a:p>
            <a:pPr/>
            <a:r>
              <a:t>Demo video, max 5 minutes (YouTube or Drive link)</a:t>
            </a:r>
          </a:p>
        </p:txBody>
      </p:sp>
      <p:sp>
        <p:nvSpPr>
          <p:cNvPr id="426" name="TextBox 16"/>
          <p:cNvSpPr txBox="1"/>
          <p:nvPr/>
        </p:nvSpPr>
        <p:spPr>
          <a:xfrm>
            <a:off x="1737359" y="4343400"/>
            <a:ext cx="9326882"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https://youtu.be/S4uCkcCt1sY</a:t>
            </a:r>
          </a:p>
        </p:txBody>
      </p:sp>
      <p:sp>
        <p:nvSpPr>
          <p:cNvPr id="427" name="Rounded Rectangle 17"/>
          <p:cNvSpPr/>
          <p:nvPr/>
        </p:nvSpPr>
        <p:spPr>
          <a:xfrm>
            <a:off x="841247" y="4928615"/>
            <a:ext cx="10442449" cy="914401"/>
          </a:xfrm>
          <a:prstGeom prst="roundRect">
            <a:avLst>
              <a:gd name="adj" fmla="val 8000"/>
            </a:avLst>
          </a:prstGeom>
          <a:solidFill>
            <a:srgbClr val="FFFFFF"/>
          </a:solidFill>
          <a:ln w="15875">
            <a:solidFill>
              <a:srgbClr val="D9D3F0"/>
            </a:solidFill>
            <a:miter/>
          </a:ln>
        </p:spPr>
        <p:txBody>
          <a:bodyPr lIns="45719" rIns="45719" anchor="ctr"/>
          <a:lstStyle/>
          <a:p>
            <a:pPr>
              <a:defRPr>
                <a:solidFill>
                  <a:srgbClr val="FFFFFF"/>
                </a:solidFill>
              </a:defRPr>
            </a:pPr>
          </a:p>
        </p:txBody>
      </p:sp>
      <p:sp>
        <p:nvSpPr>
          <p:cNvPr id="428" name="Oval 18"/>
          <p:cNvSpPr/>
          <p:nvPr/>
        </p:nvSpPr>
        <p:spPr>
          <a:xfrm>
            <a:off x="1051560" y="5166359"/>
            <a:ext cx="438913" cy="438913"/>
          </a:xfrm>
          <a:prstGeom prst="ellipse">
            <a:avLst/>
          </a:prstGeom>
          <a:solidFill>
            <a:srgbClr val="1F8A4C"/>
          </a:solidFill>
          <a:ln w="12700">
            <a:miter lim="400000"/>
          </a:ln>
        </p:spPr>
        <p:txBody>
          <a:bodyPr lIns="45719" rIns="45719" anchor="ctr"/>
          <a:lstStyle/>
          <a:p>
            <a:pPr algn="ctr">
              <a:defRPr>
                <a:solidFill>
                  <a:srgbClr val="FFFFFF"/>
                </a:solidFill>
              </a:defRPr>
            </a:pPr>
          </a:p>
        </p:txBody>
      </p:sp>
      <p:sp>
        <p:nvSpPr>
          <p:cNvPr id="429" name="TextBox 19"/>
          <p:cNvSpPr txBox="1"/>
          <p:nvPr/>
        </p:nvSpPr>
        <p:spPr>
          <a:xfrm>
            <a:off x="1051560" y="5287124"/>
            <a:ext cx="438913"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FFFFFF"/>
                </a:solidFill>
                <a:latin typeface="Arial"/>
                <a:ea typeface="Arial"/>
                <a:cs typeface="Arial"/>
                <a:sym typeface="Arial"/>
              </a:defRPr>
            </a:lvl1pPr>
          </a:lstStyle>
          <a:p>
            <a:pPr/>
            <a:r>
              <a:t>Y</a:t>
            </a:r>
          </a:p>
        </p:txBody>
      </p:sp>
      <p:sp>
        <p:nvSpPr>
          <p:cNvPr id="430" name="TextBox 20"/>
          <p:cNvSpPr txBox="1"/>
          <p:nvPr/>
        </p:nvSpPr>
        <p:spPr>
          <a:xfrm>
            <a:off x="1737359" y="5056632"/>
            <a:ext cx="9326882"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4142B"/>
                </a:solidFill>
              </a:defRPr>
            </a:lvl1pPr>
          </a:lstStyle>
          <a:p>
            <a:pPr/>
            <a:r>
              <a:t>Presentation file (PPT or PDF)</a:t>
            </a:r>
          </a:p>
        </p:txBody>
      </p:sp>
      <p:sp>
        <p:nvSpPr>
          <p:cNvPr id="431" name="TextBox 21"/>
          <p:cNvSpPr txBox="1"/>
          <p:nvPr/>
        </p:nvSpPr>
        <p:spPr>
          <a:xfrm>
            <a:off x="1737359" y="5422391"/>
            <a:ext cx="932688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63637E"/>
                </a:solidFill>
              </a:defRPr>
            </a:lvl1pPr>
          </a:lstStyle>
          <a:p>
            <a:pPr/>
            <a:r>
              <a:t>this deck · SRMIST KTR_HeavenlyRestriction</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Text 0"/>
          <p:cNvSpPr txBox="1"/>
          <p:nvPr/>
        </p:nvSpPr>
        <p:spPr>
          <a:xfrm>
            <a:off x="1046181" y="3831210"/>
            <a:ext cx="6766560" cy="66668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4600">
                <a:solidFill>
                  <a:srgbClr val="14142B"/>
                </a:solidFill>
                <a:latin typeface="Arial"/>
                <a:ea typeface="Arial"/>
                <a:cs typeface="Arial"/>
                <a:sym typeface="Arial"/>
              </a:defRPr>
            </a:lvl1pPr>
          </a:lstStyle>
          <a:p>
            <a:pPr/>
            <a:r>
              <a:t>Thank you</a:t>
            </a:r>
          </a:p>
        </p:txBody>
      </p:sp>
      <p:sp>
        <p:nvSpPr>
          <p:cNvPr id="436" name="Text 25"/>
          <p:cNvSpPr txBox="1"/>
          <p:nvPr/>
        </p:nvSpPr>
        <p:spPr>
          <a:xfrm>
            <a:off x="777239" y="5977049"/>
            <a:ext cx="10607042"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rgbClr val="63637E"/>
                </a:solidFill>
              </a:defRPr>
            </a:lvl1pPr>
          </a:lstStyle>
          <a:p>
            <a:pPr/>
            <a:r>
              <a:t>Organised by the Language AI Team and the PRISM Team, Samsung R&amp;D Institute India</a:t>
            </a:r>
          </a:p>
        </p:txBody>
      </p:sp>
      <p:sp>
        <p:nvSpPr>
          <p:cNvPr id="437" name="TextBox 28"/>
          <p:cNvSpPr txBox="1"/>
          <p:nvPr/>
        </p:nvSpPr>
        <p:spPr>
          <a:xfrm>
            <a:off x="1042414" y="4663440"/>
            <a:ext cx="9601201" cy="4334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a:solidFill>
                  <a:srgbClr val="14142B"/>
                </a:solidFill>
                <a:latin typeface="Arial"/>
                <a:ea typeface="Arial"/>
                <a:cs typeface="Arial"/>
                <a:sym typeface="Arial"/>
              </a:defRPr>
            </a:pPr>
            <a:r>
              <a:t>Heavenly Restriction · Rajat Pandey &amp; Aryan Singh</a:t>
            </a:r>
          </a:p>
          <a:p>
            <a:pPr>
              <a:defRPr sz="1300">
                <a:solidFill>
                  <a:srgbClr val="63637E"/>
                </a:solidFill>
              </a:defRPr>
            </a:pPr>
            <a:r>
              <a:t>samsung-prism-sentinel.onrender.com   ·   https://github.com/Blazehue/Samsung_PRISM-Sentinel</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